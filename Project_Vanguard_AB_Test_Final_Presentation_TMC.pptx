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C1EEC5-24E5-4353-A0A0-B5A01E3CB266}" v="8" dt="2026-08-21T16:00:26.854"/>
    <p1510:client id="{26FD304D-FA35-41CC-97C9-A632247A63AD}" v="10" dt="2026-08-21T15:26:16.5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snapToObjects="1">
      <p:cViewPr varScale="1">
        <p:scale>
          <a:sx n="90" d="100"/>
          <a:sy n="90" d="100"/>
        </p:scale>
        <p:origin x="355"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resa Mendes Coelho" userId="1d08d95ec9e57526" providerId="LiveId" clId="{BAD1F456-105E-44D2-845E-0AAEBDC85907}"/>
    <pc:docChg chg="undo custSel modSld sldOrd">
      <pc:chgData name="Teresa Mendes Coelho" userId="1d08d95ec9e57526" providerId="LiveId" clId="{BAD1F456-105E-44D2-845E-0AAEBDC85907}" dt="2026-08-21T16:01:55.990" v="3232" actId="1076"/>
      <pc:docMkLst>
        <pc:docMk/>
      </pc:docMkLst>
      <pc:sldChg chg="modSp mod">
        <pc:chgData name="Teresa Mendes Coelho" userId="1d08d95ec9e57526" providerId="LiveId" clId="{BAD1F456-105E-44D2-845E-0AAEBDC85907}" dt="2026-08-21T15:13:03.088" v="276" actId="20577"/>
        <pc:sldMkLst>
          <pc:docMk/>
          <pc:sldMk cId="0" sldId="257"/>
        </pc:sldMkLst>
        <pc:spChg chg="mod">
          <ac:chgData name="Teresa Mendes Coelho" userId="1d08d95ec9e57526" providerId="LiveId" clId="{BAD1F456-105E-44D2-845E-0AAEBDC85907}" dt="2026-08-21T15:13:03.088" v="276" actId="20577"/>
          <ac:spMkLst>
            <pc:docMk/>
            <pc:sldMk cId="0" sldId="257"/>
            <ac:spMk id="37" creationId="{00000000-0000-0000-0000-000000000000}"/>
          </ac:spMkLst>
        </pc:spChg>
        <pc:picChg chg="mod">
          <ac:chgData name="Teresa Mendes Coelho" userId="1d08d95ec9e57526" providerId="LiveId" clId="{BAD1F456-105E-44D2-845E-0AAEBDC85907}" dt="2026-08-21T15:12:40.884" v="0" actId="1076"/>
          <ac:picMkLst>
            <pc:docMk/>
            <pc:sldMk cId="0" sldId="257"/>
            <ac:picMk id="38" creationId="{00000000-0000-0000-0000-000000000000}"/>
          </ac:picMkLst>
        </pc:picChg>
      </pc:sldChg>
      <pc:sldChg chg="modSp mod">
        <pc:chgData name="Teresa Mendes Coelho" userId="1d08d95ec9e57526" providerId="LiveId" clId="{BAD1F456-105E-44D2-845E-0AAEBDC85907}" dt="2026-08-21T15:13:38.504" v="559" actId="20577"/>
        <pc:sldMkLst>
          <pc:docMk/>
          <pc:sldMk cId="0" sldId="258"/>
        </pc:sldMkLst>
        <pc:spChg chg="mod">
          <ac:chgData name="Teresa Mendes Coelho" userId="1d08d95ec9e57526" providerId="LiveId" clId="{BAD1F456-105E-44D2-845E-0AAEBDC85907}" dt="2026-08-21T15:13:38.504" v="559" actId="20577"/>
          <ac:spMkLst>
            <pc:docMk/>
            <pc:sldMk cId="0" sldId="258"/>
            <ac:spMk id="29" creationId="{00000000-0000-0000-0000-000000000000}"/>
          </ac:spMkLst>
        </pc:spChg>
        <pc:picChg chg="mod">
          <ac:chgData name="Teresa Mendes Coelho" userId="1d08d95ec9e57526" providerId="LiveId" clId="{BAD1F456-105E-44D2-845E-0AAEBDC85907}" dt="2026-08-21T15:13:19.045" v="277" actId="1076"/>
          <ac:picMkLst>
            <pc:docMk/>
            <pc:sldMk cId="0" sldId="258"/>
            <ac:picMk id="30" creationId="{00000000-0000-0000-0000-000000000000}"/>
          </ac:picMkLst>
        </pc:picChg>
      </pc:sldChg>
      <pc:sldChg chg="modSp mod">
        <pc:chgData name="Teresa Mendes Coelho" userId="1d08d95ec9e57526" providerId="LiveId" clId="{BAD1F456-105E-44D2-845E-0AAEBDC85907}" dt="2026-08-21T15:14:26.463" v="839" actId="20577"/>
        <pc:sldMkLst>
          <pc:docMk/>
          <pc:sldMk cId="0" sldId="259"/>
        </pc:sldMkLst>
        <pc:spChg chg="mod">
          <ac:chgData name="Teresa Mendes Coelho" userId="1d08d95ec9e57526" providerId="LiveId" clId="{BAD1F456-105E-44D2-845E-0AAEBDC85907}" dt="2026-08-21T15:14:26.463" v="839" actId="20577"/>
          <ac:spMkLst>
            <pc:docMk/>
            <pc:sldMk cId="0" sldId="259"/>
            <ac:spMk id="30" creationId="{00000000-0000-0000-0000-000000000000}"/>
          </ac:spMkLst>
        </pc:spChg>
        <pc:picChg chg="mod">
          <ac:chgData name="Teresa Mendes Coelho" userId="1d08d95ec9e57526" providerId="LiveId" clId="{BAD1F456-105E-44D2-845E-0AAEBDC85907}" dt="2026-08-21T15:14:03.078" v="560" actId="1076"/>
          <ac:picMkLst>
            <pc:docMk/>
            <pc:sldMk cId="0" sldId="259"/>
            <ac:picMk id="31" creationId="{00000000-0000-0000-0000-000000000000}"/>
          </ac:picMkLst>
        </pc:picChg>
      </pc:sldChg>
      <pc:sldChg chg="modSp mod">
        <pc:chgData name="Teresa Mendes Coelho" userId="1d08d95ec9e57526" providerId="LiveId" clId="{BAD1F456-105E-44D2-845E-0AAEBDC85907}" dt="2026-08-21T15:15:19.747" v="1119" actId="1076"/>
        <pc:sldMkLst>
          <pc:docMk/>
          <pc:sldMk cId="0" sldId="260"/>
        </pc:sldMkLst>
        <pc:spChg chg="mod">
          <ac:chgData name="Teresa Mendes Coelho" userId="1d08d95ec9e57526" providerId="LiveId" clId="{BAD1F456-105E-44D2-845E-0AAEBDC85907}" dt="2026-08-21T15:15:09.945" v="1118" actId="20577"/>
          <ac:spMkLst>
            <pc:docMk/>
            <pc:sldMk cId="0" sldId="260"/>
            <ac:spMk id="29" creationId="{00000000-0000-0000-0000-000000000000}"/>
          </ac:spMkLst>
        </pc:spChg>
        <pc:picChg chg="mod">
          <ac:chgData name="Teresa Mendes Coelho" userId="1d08d95ec9e57526" providerId="LiveId" clId="{BAD1F456-105E-44D2-845E-0AAEBDC85907}" dt="2026-08-21T15:15:19.747" v="1119" actId="1076"/>
          <ac:picMkLst>
            <pc:docMk/>
            <pc:sldMk cId="0" sldId="260"/>
            <ac:picMk id="30" creationId="{00000000-0000-0000-0000-000000000000}"/>
          </ac:picMkLst>
        </pc:picChg>
      </pc:sldChg>
      <pc:sldChg chg="modSp mod">
        <pc:chgData name="Teresa Mendes Coelho" userId="1d08d95ec9e57526" providerId="LiveId" clId="{BAD1F456-105E-44D2-845E-0AAEBDC85907}" dt="2026-08-21T15:15:54.119" v="1400" actId="20577"/>
        <pc:sldMkLst>
          <pc:docMk/>
          <pc:sldMk cId="0" sldId="261"/>
        </pc:sldMkLst>
        <pc:spChg chg="mod">
          <ac:chgData name="Teresa Mendes Coelho" userId="1d08d95ec9e57526" providerId="LiveId" clId="{BAD1F456-105E-44D2-845E-0AAEBDC85907}" dt="2026-08-21T15:15:54.119" v="1400" actId="20577"/>
          <ac:spMkLst>
            <pc:docMk/>
            <pc:sldMk cId="0" sldId="261"/>
            <ac:spMk id="44" creationId="{00000000-0000-0000-0000-000000000000}"/>
          </ac:spMkLst>
        </pc:spChg>
        <pc:picChg chg="mod">
          <ac:chgData name="Teresa Mendes Coelho" userId="1d08d95ec9e57526" providerId="LiveId" clId="{BAD1F456-105E-44D2-845E-0AAEBDC85907}" dt="2026-08-21T15:15:32.486" v="1120" actId="1076"/>
          <ac:picMkLst>
            <pc:docMk/>
            <pc:sldMk cId="0" sldId="261"/>
            <ac:picMk id="45" creationId="{00000000-0000-0000-0000-000000000000}"/>
          </ac:picMkLst>
        </pc:picChg>
      </pc:sldChg>
      <pc:sldChg chg="addSp modSp mod">
        <pc:chgData name="Teresa Mendes Coelho" userId="1d08d95ec9e57526" providerId="LiveId" clId="{BAD1F456-105E-44D2-845E-0AAEBDC85907}" dt="2026-08-21T15:23:58.819" v="3081" actId="1076"/>
        <pc:sldMkLst>
          <pc:docMk/>
          <pc:sldMk cId="0" sldId="262"/>
        </pc:sldMkLst>
        <pc:spChg chg="mod">
          <ac:chgData name="Teresa Mendes Coelho" userId="1d08d95ec9e57526" providerId="LiveId" clId="{BAD1F456-105E-44D2-845E-0AAEBDC85907}" dt="2026-08-21T15:21:37.333" v="3074" actId="164"/>
          <ac:spMkLst>
            <pc:docMk/>
            <pc:sldMk cId="0" sldId="262"/>
            <ac:spMk id="4" creationId="{00000000-0000-0000-0000-000000000000}"/>
          </ac:spMkLst>
        </pc:spChg>
        <pc:spChg chg="mod">
          <ac:chgData name="Teresa Mendes Coelho" userId="1d08d95ec9e57526" providerId="LiveId" clId="{BAD1F456-105E-44D2-845E-0AAEBDC85907}" dt="2026-08-21T15:21:37.333" v="3074" actId="164"/>
          <ac:spMkLst>
            <pc:docMk/>
            <pc:sldMk cId="0" sldId="262"/>
            <ac:spMk id="11" creationId="{00000000-0000-0000-0000-000000000000}"/>
          </ac:spMkLst>
        </pc:spChg>
        <pc:spChg chg="mod">
          <ac:chgData name="Teresa Mendes Coelho" userId="1d08d95ec9e57526" providerId="LiveId" clId="{BAD1F456-105E-44D2-845E-0AAEBDC85907}" dt="2026-08-21T15:21:37.333" v="3074" actId="164"/>
          <ac:spMkLst>
            <pc:docMk/>
            <pc:sldMk cId="0" sldId="262"/>
            <ac:spMk id="13" creationId="{00000000-0000-0000-0000-000000000000}"/>
          </ac:spMkLst>
        </pc:spChg>
        <pc:spChg chg="mod">
          <ac:chgData name="Teresa Mendes Coelho" userId="1d08d95ec9e57526" providerId="LiveId" clId="{BAD1F456-105E-44D2-845E-0AAEBDC85907}" dt="2026-08-21T15:21:37.333" v="3074" actId="164"/>
          <ac:spMkLst>
            <pc:docMk/>
            <pc:sldMk cId="0" sldId="262"/>
            <ac:spMk id="16" creationId="{00000000-0000-0000-0000-000000000000}"/>
          </ac:spMkLst>
        </pc:spChg>
        <pc:spChg chg="mod">
          <ac:chgData name="Teresa Mendes Coelho" userId="1d08d95ec9e57526" providerId="LiveId" clId="{BAD1F456-105E-44D2-845E-0AAEBDC85907}" dt="2026-08-21T15:21:37.333" v="3074" actId="164"/>
          <ac:spMkLst>
            <pc:docMk/>
            <pc:sldMk cId="0" sldId="262"/>
            <ac:spMk id="18" creationId="{00000000-0000-0000-0000-000000000000}"/>
          </ac:spMkLst>
        </pc:spChg>
        <pc:spChg chg="mod">
          <ac:chgData name="Teresa Mendes Coelho" userId="1d08d95ec9e57526" providerId="LiveId" clId="{BAD1F456-105E-44D2-845E-0AAEBDC85907}" dt="2026-08-21T15:21:37.333" v="3074" actId="164"/>
          <ac:spMkLst>
            <pc:docMk/>
            <pc:sldMk cId="0" sldId="262"/>
            <ac:spMk id="23" creationId="{00000000-0000-0000-0000-000000000000}"/>
          </ac:spMkLst>
        </pc:spChg>
        <pc:spChg chg="mod">
          <ac:chgData name="Teresa Mendes Coelho" userId="1d08d95ec9e57526" providerId="LiveId" clId="{BAD1F456-105E-44D2-845E-0AAEBDC85907}" dt="2026-08-21T15:21:37.333" v="3074" actId="164"/>
          <ac:spMkLst>
            <pc:docMk/>
            <pc:sldMk cId="0" sldId="262"/>
            <ac:spMk id="32" creationId="{00000000-0000-0000-0000-000000000000}"/>
          </ac:spMkLst>
        </pc:spChg>
        <pc:spChg chg="mod">
          <ac:chgData name="Teresa Mendes Coelho" userId="1d08d95ec9e57526" providerId="LiveId" clId="{BAD1F456-105E-44D2-845E-0AAEBDC85907}" dt="2026-08-21T15:21:37.333" v="3074" actId="164"/>
          <ac:spMkLst>
            <pc:docMk/>
            <pc:sldMk cId="0" sldId="262"/>
            <ac:spMk id="35" creationId="{00000000-0000-0000-0000-000000000000}"/>
          </ac:spMkLst>
        </pc:spChg>
        <pc:spChg chg="mod">
          <ac:chgData name="Teresa Mendes Coelho" userId="1d08d95ec9e57526" providerId="LiveId" clId="{BAD1F456-105E-44D2-845E-0AAEBDC85907}" dt="2026-08-21T15:21:37.333" v="3074" actId="164"/>
          <ac:spMkLst>
            <pc:docMk/>
            <pc:sldMk cId="0" sldId="262"/>
            <ac:spMk id="36" creationId="{00000000-0000-0000-0000-000000000000}"/>
          </ac:spMkLst>
        </pc:spChg>
        <pc:spChg chg="mod">
          <ac:chgData name="Teresa Mendes Coelho" userId="1d08d95ec9e57526" providerId="LiveId" clId="{BAD1F456-105E-44D2-845E-0AAEBDC85907}" dt="2026-08-21T15:21:37.333" v="3074" actId="164"/>
          <ac:spMkLst>
            <pc:docMk/>
            <pc:sldMk cId="0" sldId="262"/>
            <ac:spMk id="38" creationId="{00000000-0000-0000-0000-000000000000}"/>
          </ac:spMkLst>
        </pc:spChg>
        <pc:spChg chg="mod">
          <ac:chgData name="Teresa Mendes Coelho" userId="1d08d95ec9e57526" providerId="LiveId" clId="{BAD1F456-105E-44D2-845E-0AAEBDC85907}" dt="2026-08-21T15:23:35.433" v="3079" actId="164"/>
          <ac:spMkLst>
            <pc:docMk/>
            <pc:sldMk cId="0" sldId="262"/>
            <ac:spMk id="43" creationId="{00000000-0000-0000-0000-000000000000}"/>
          </ac:spMkLst>
        </pc:spChg>
        <pc:spChg chg="mod">
          <ac:chgData name="Teresa Mendes Coelho" userId="1d08d95ec9e57526" providerId="LiveId" clId="{BAD1F456-105E-44D2-845E-0AAEBDC85907}" dt="2026-08-21T15:23:35.433" v="3079" actId="164"/>
          <ac:spMkLst>
            <pc:docMk/>
            <pc:sldMk cId="0" sldId="262"/>
            <ac:spMk id="44" creationId="{00000000-0000-0000-0000-000000000000}"/>
          </ac:spMkLst>
        </pc:spChg>
        <pc:spChg chg="mod">
          <ac:chgData name="Teresa Mendes Coelho" userId="1d08d95ec9e57526" providerId="LiveId" clId="{BAD1F456-105E-44D2-845E-0AAEBDC85907}" dt="2026-08-21T15:22:52.697" v="3078" actId="164"/>
          <ac:spMkLst>
            <pc:docMk/>
            <pc:sldMk cId="0" sldId="262"/>
            <ac:spMk id="48" creationId="{00000000-0000-0000-0000-000000000000}"/>
          </ac:spMkLst>
        </pc:spChg>
        <pc:spChg chg="mod">
          <ac:chgData name="Teresa Mendes Coelho" userId="1d08d95ec9e57526" providerId="LiveId" clId="{BAD1F456-105E-44D2-845E-0AAEBDC85907}" dt="2026-08-21T15:22:52.697" v="3078" actId="164"/>
          <ac:spMkLst>
            <pc:docMk/>
            <pc:sldMk cId="0" sldId="262"/>
            <ac:spMk id="49" creationId="{00000000-0000-0000-0000-000000000000}"/>
          </ac:spMkLst>
        </pc:spChg>
        <pc:spChg chg="mod">
          <ac:chgData name="Teresa Mendes Coelho" userId="1d08d95ec9e57526" providerId="LiveId" clId="{BAD1F456-105E-44D2-845E-0AAEBDC85907}" dt="2026-08-21T15:22:45.270" v="3077" actId="164"/>
          <ac:spMkLst>
            <pc:docMk/>
            <pc:sldMk cId="0" sldId="262"/>
            <ac:spMk id="53" creationId="{00000000-0000-0000-0000-000000000000}"/>
          </ac:spMkLst>
        </pc:spChg>
        <pc:spChg chg="mod">
          <ac:chgData name="Teresa Mendes Coelho" userId="1d08d95ec9e57526" providerId="LiveId" clId="{BAD1F456-105E-44D2-845E-0AAEBDC85907}" dt="2026-08-21T15:22:45.270" v="3077" actId="164"/>
          <ac:spMkLst>
            <pc:docMk/>
            <pc:sldMk cId="0" sldId="262"/>
            <ac:spMk id="54" creationId="{00000000-0000-0000-0000-000000000000}"/>
          </ac:spMkLst>
        </pc:spChg>
        <pc:spChg chg="mod">
          <ac:chgData name="Teresa Mendes Coelho" userId="1d08d95ec9e57526" providerId="LiveId" clId="{BAD1F456-105E-44D2-845E-0AAEBDC85907}" dt="2026-08-21T15:16:52.825" v="1679" actId="20577"/>
          <ac:spMkLst>
            <pc:docMk/>
            <pc:sldMk cId="0" sldId="262"/>
            <ac:spMk id="56" creationId="{00000000-0000-0000-0000-000000000000}"/>
          </ac:spMkLst>
        </pc:spChg>
        <pc:grpChg chg="mod">
          <ac:chgData name="Teresa Mendes Coelho" userId="1d08d95ec9e57526" providerId="LiveId" clId="{BAD1F456-105E-44D2-845E-0AAEBDC85907}" dt="2026-08-21T15:23:58.819" v="3081" actId="1076"/>
          <ac:grpSpMkLst>
            <pc:docMk/>
            <pc:sldMk cId="0" sldId="262"/>
            <ac:grpSpMk id="58" creationId="{19C7C983-B8F7-8065-4543-9CCFCBBCA078}"/>
          </ac:grpSpMkLst>
        </pc:grpChg>
        <pc:grpChg chg="add mod">
          <ac:chgData name="Teresa Mendes Coelho" userId="1d08d95ec9e57526" providerId="LiveId" clId="{BAD1F456-105E-44D2-845E-0AAEBDC85907}" dt="2026-08-21T15:23:35.433" v="3079" actId="164"/>
          <ac:grpSpMkLst>
            <pc:docMk/>
            <pc:sldMk cId="0" sldId="262"/>
            <ac:grpSpMk id="59" creationId="{C31F5176-E9E8-917B-E0FA-BC5CA20DD77E}"/>
          </ac:grpSpMkLst>
        </pc:grpChg>
        <pc:grpChg chg="add mod">
          <ac:chgData name="Teresa Mendes Coelho" userId="1d08d95ec9e57526" providerId="LiveId" clId="{BAD1F456-105E-44D2-845E-0AAEBDC85907}" dt="2026-08-21T15:23:35.433" v="3079" actId="164"/>
          <ac:grpSpMkLst>
            <pc:docMk/>
            <pc:sldMk cId="0" sldId="262"/>
            <ac:grpSpMk id="60" creationId="{792D5EFA-7CC7-75D7-0820-74EF7739C6FB}"/>
          </ac:grpSpMkLst>
        </pc:grpChg>
        <pc:grpChg chg="add mod">
          <ac:chgData name="Teresa Mendes Coelho" userId="1d08d95ec9e57526" providerId="LiveId" clId="{BAD1F456-105E-44D2-845E-0AAEBDC85907}" dt="2026-08-21T15:23:45.296" v="3080" actId="1076"/>
          <ac:grpSpMkLst>
            <pc:docMk/>
            <pc:sldMk cId="0" sldId="262"/>
            <ac:grpSpMk id="61" creationId="{4193CFA2-6B7C-DE2A-9A55-7E4ADFCE729B}"/>
          </ac:grpSpMkLst>
        </pc:grpChg>
        <pc:picChg chg="mod">
          <ac:chgData name="Teresa Mendes Coelho" userId="1d08d95ec9e57526" providerId="LiveId" clId="{BAD1F456-105E-44D2-845E-0AAEBDC85907}" dt="2026-08-21T15:16:17.086" v="1401" actId="1076"/>
          <ac:picMkLst>
            <pc:docMk/>
            <pc:sldMk cId="0" sldId="262"/>
            <ac:picMk id="57" creationId="{00000000-0000-0000-0000-000000000000}"/>
          </ac:picMkLst>
        </pc:picChg>
      </pc:sldChg>
      <pc:sldChg chg="addSp modSp mod">
        <pc:chgData name="Teresa Mendes Coelho" userId="1d08d95ec9e57526" providerId="LiveId" clId="{BAD1F456-105E-44D2-845E-0AAEBDC85907}" dt="2026-08-21T15:26:21.322" v="3089" actId="1076"/>
        <pc:sldMkLst>
          <pc:docMk/>
          <pc:sldMk cId="0" sldId="263"/>
        </pc:sldMkLst>
        <pc:spChg chg="mod">
          <ac:chgData name="Teresa Mendes Coelho" userId="1d08d95ec9e57526" providerId="LiveId" clId="{BAD1F456-105E-44D2-845E-0AAEBDC85907}" dt="2026-08-21T15:24:28.442" v="3082" actId="164"/>
          <ac:spMkLst>
            <pc:docMk/>
            <pc:sldMk cId="0" sldId="263"/>
            <ac:spMk id="5" creationId="{00000000-0000-0000-0000-000000000000}"/>
          </ac:spMkLst>
        </pc:spChg>
        <pc:spChg chg="mod">
          <ac:chgData name="Teresa Mendes Coelho" userId="1d08d95ec9e57526" providerId="LiveId" clId="{BAD1F456-105E-44D2-845E-0AAEBDC85907}" dt="2026-08-21T15:24:59.177" v="3083" actId="164"/>
          <ac:spMkLst>
            <pc:docMk/>
            <pc:sldMk cId="0" sldId="263"/>
            <ac:spMk id="6" creationId="{00000000-0000-0000-0000-000000000000}"/>
          </ac:spMkLst>
        </pc:spChg>
        <pc:spChg chg="mod">
          <ac:chgData name="Teresa Mendes Coelho" userId="1d08d95ec9e57526" providerId="LiveId" clId="{BAD1F456-105E-44D2-845E-0AAEBDC85907}" dt="2026-08-21T15:24:59.177" v="3083" actId="164"/>
          <ac:spMkLst>
            <pc:docMk/>
            <pc:sldMk cId="0" sldId="263"/>
            <ac:spMk id="7" creationId="{00000000-0000-0000-0000-000000000000}"/>
          </ac:spMkLst>
        </pc:spChg>
        <pc:spChg chg="mod">
          <ac:chgData name="Teresa Mendes Coelho" userId="1d08d95ec9e57526" providerId="LiveId" clId="{BAD1F456-105E-44D2-845E-0AAEBDC85907}" dt="2026-08-21T15:24:28.442" v="3082" actId="164"/>
          <ac:spMkLst>
            <pc:docMk/>
            <pc:sldMk cId="0" sldId="263"/>
            <ac:spMk id="8" creationId="{00000000-0000-0000-0000-000000000000}"/>
          </ac:spMkLst>
        </pc:spChg>
        <pc:spChg chg="mod">
          <ac:chgData name="Teresa Mendes Coelho" userId="1d08d95ec9e57526" providerId="LiveId" clId="{BAD1F456-105E-44D2-845E-0AAEBDC85907}" dt="2026-08-21T15:24:59.177" v="3083" actId="164"/>
          <ac:spMkLst>
            <pc:docMk/>
            <pc:sldMk cId="0" sldId="263"/>
            <ac:spMk id="10" creationId="{00000000-0000-0000-0000-000000000000}"/>
          </ac:spMkLst>
        </pc:spChg>
        <pc:spChg chg="mod">
          <ac:chgData name="Teresa Mendes Coelho" userId="1d08d95ec9e57526" providerId="LiveId" clId="{BAD1F456-105E-44D2-845E-0AAEBDC85907}" dt="2026-08-21T15:24:28.442" v="3082" actId="164"/>
          <ac:spMkLst>
            <pc:docMk/>
            <pc:sldMk cId="0" sldId="263"/>
            <ac:spMk id="11" creationId="{00000000-0000-0000-0000-000000000000}"/>
          </ac:spMkLst>
        </pc:spChg>
        <pc:spChg chg="mod">
          <ac:chgData name="Teresa Mendes Coelho" userId="1d08d95ec9e57526" providerId="LiveId" clId="{BAD1F456-105E-44D2-845E-0AAEBDC85907}" dt="2026-08-21T15:24:28.442" v="3082" actId="164"/>
          <ac:spMkLst>
            <pc:docMk/>
            <pc:sldMk cId="0" sldId="263"/>
            <ac:spMk id="14" creationId="{00000000-0000-0000-0000-000000000000}"/>
          </ac:spMkLst>
        </pc:spChg>
        <pc:spChg chg="mod">
          <ac:chgData name="Teresa Mendes Coelho" userId="1d08d95ec9e57526" providerId="LiveId" clId="{BAD1F456-105E-44D2-845E-0AAEBDC85907}" dt="2026-08-21T15:24:59.177" v="3083" actId="164"/>
          <ac:spMkLst>
            <pc:docMk/>
            <pc:sldMk cId="0" sldId="263"/>
            <ac:spMk id="15" creationId="{00000000-0000-0000-0000-000000000000}"/>
          </ac:spMkLst>
        </pc:spChg>
        <pc:spChg chg="mod">
          <ac:chgData name="Teresa Mendes Coelho" userId="1d08d95ec9e57526" providerId="LiveId" clId="{BAD1F456-105E-44D2-845E-0AAEBDC85907}" dt="2026-08-21T15:24:28.442" v="3082" actId="164"/>
          <ac:spMkLst>
            <pc:docMk/>
            <pc:sldMk cId="0" sldId="263"/>
            <ac:spMk id="17" creationId="{00000000-0000-0000-0000-000000000000}"/>
          </ac:spMkLst>
        </pc:spChg>
        <pc:spChg chg="mod">
          <ac:chgData name="Teresa Mendes Coelho" userId="1d08d95ec9e57526" providerId="LiveId" clId="{BAD1F456-105E-44D2-845E-0AAEBDC85907}" dt="2026-08-21T15:24:59.177" v="3083" actId="164"/>
          <ac:spMkLst>
            <pc:docMk/>
            <pc:sldMk cId="0" sldId="263"/>
            <ac:spMk id="18" creationId="{00000000-0000-0000-0000-000000000000}"/>
          </ac:spMkLst>
        </pc:spChg>
        <pc:spChg chg="mod">
          <ac:chgData name="Teresa Mendes Coelho" userId="1d08d95ec9e57526" providerId="LiveId" clId="{BAD1F456-105E-44D2-845E-0AAEBDC85907}" dt="2026-08-21T15:24:59.177" v="3083" actId="164"/>
          <ac:spMkLst>
            <pc:docMk/>
            <pc:sldMk cId="0" sldId="263"/>
            <ac:spMk id="19" creationId="{00000000-0000-0000-0000-000000000000}"/>
          </ac:spMkLst>
        </pc:spChg>
        <pc:spChg chg="mod">
          <ac:chgData name="Teresa Mendes Coelho" userId="1d08d95ec9e57526" providerId="LiveId" clId="{BAD1F456-105E-44D2-845E-0AAEBDC85907}" dt="2026-08-21T15:24:28.442" v="3082" actId="164"/>
          <ac:spMkLst>
            <pc:docMk/>
            <pc:sldMk cId="0" sldId="263"/>
            <ac:spMk id="20" creationId="{00000000-0000-0000-0000-000000000000}"/>
          </ac:spMkLst>
        </pc:spChg>
        <pc:spChg chg="mod">
          <ac:chgData name="Teresa Mendes Coelho" userId="1d08d95ec9e57526" providerId="LiveId" clId="{BAD1F456-105E-44D2-845E-0AAEBDC85907}" dt="2026-08-21T15:24:28.442" v="3082" actId="164"/>
          <ac:spMkLst>
            <pc:docMk/>
            <pc:sldMk cId="0" sldId="263"/>
            <ac:spMk id="23" creationId="{00000000-0000-0000-0000-000000000000}"/>
          </ac:spMkLst>
        </pc:spChg>
        <pc:spChg chg="mod">
          <ac:chgData name="Teresa Mendes Coelho" userId="1d08d95ec9e57526" providerId="LiveId" clId="{BAD1F456-105E-44D2-845E-0AAEBDC85907}" dt="2026-08-21T15:24:59.177" v="3083" actId="164"/>
          <ac:spMkLst>
            <pc:docMk/>
            <pc:sldMk cId="0" sldId="263"/>
            <ac:spMk id="24" creationId="{00000000-0000-0000-0000-000000000000}"/>
          </ac:spMkLst>
        </pc:spChg>
        <pc:spChg chg="mod">
          <ac:chgData name="Teresa Mendes Coelho" userId="1d08d95ec9e57526" providerId="LiveId" clId="{BAD1F456-105E-44D2-845E-0AAEBDC85907}" dt="2026-08-21T15:24:59.177" v="3083" actId="164"/>
          <ac:spMkLst>
            <pc:docMk/>
            <pc:sldMk cId="0" sldId="263"/>
            <ac:spMk id="25" creationId="{00000000-0000-0000-0000-000000000000}"/>
          </ac:spMkLst>
        </pc:spChg>
        <pc:spChg chg="mod">
          <ac:chgData name="Teresa Mendes Coelho" userId="1d08d95ec9e57526" providerId="LiveId" clId="{BAD1F456-105E-44D2-845E-0AAEBDC85907}" dt="2026-08-21T15:24:28.442" v="3082" actId="164"/>
          <ac:spMkLst>
            <pc:docMk/>
            <pc:sldMk cId="0" sldId="263"/>
            <ac:spMk id="26" creationId="{00000000-0000-0000-0000-000000000000}"/>
          </ac:spMkLst>
        </pc:spChg>
        <pc:spChg chg="mod">
          <ac:chgData name="Teresa Mendes Coelho" userId="1d08d95ec9e57526" providerId="LiveId" clId="{BAD1F456-105E-44D2-845E-0AAEBDC85907}" dt="2026-08-21T15:24:28.442" v="3082" actId="164"/>
          <ac:spMkLst>
            <pc:docMk/>
            <pc:sldMk cId="0" sldId="263"/>
            <ac:spMk id="32" creationId="{00000000-0000-0000-0000-000000000000}"/>
          </ac:spMkLst>
        </pc:spChg>
        <pc:spChg chg="mod">
          <ac:chgData name="Teresa Mendes Coelho" userId="1d08d95ec9e57526" providerId="LiveId" clId="{BAD1F456-105E-44D2-845E-0AAEBDC85907}" dt="2026-08-21T15:24:59.177" v="3083" actId="164"/>
          <ac:spMkLst>
            <pc:docMk/>
            <pc:sldMk cId="0" sldId="263"/>
            <ac:spMk id="33" creationId="{00000000-0000-0000-0000-000000000000}"/>
          </ac:spMkLst>
        </pc:spChg>
        <pc:spChg chg="mod">
          <ac:chgData name="Teresa Mendes Coelho" userId="1d08d95ec9e57526" providerId="LiveId" clId="{BAD1F456-105E-44D2-845E-0AAEBDC85907}" dt="2026-08-21T15:24:28.442" v="3082" actId="164"/>
          <ac:spMkLst>
            <pc:docMk/>
            <pc:sldMk cId="0" sldId="263"/>
            <ac:spMk id="35" creationId="{00000000-0000-0000-0000-000000000000}"/>
          </ac:spMkLst>
        </pc:spChg>
        <pc:spChg chg="mod">
          <ac:chgData name="Teresa Mendes Coelho" userId="1d08d95ec9e57526" providerId="LiveId" clId="{BAD1F456-105E-44D2-845E-0AAEBDC85907}" dt="2026-08-21T15:24:59.177" v="3083" actId="164"/>
          <ac:spMkLst>
            <pc:docMk/>
            <pc:sldMk cId="0" sldId="263"/>
            <ac:spMk id="37" creationId="{00000000-0000-0000-0000-000000000000}"/>
          </ac:spMkLst>
        </pc:spChg>
        <pc:spChg chg="mod">
          <ac:chgData name="Teresa Mendes Coelho" userId="1d08d95ec9e57526" providerId="LiveId" clId="{BAD1F456-105E-44D2-845E-0AAEBDC85907}" dt="2026-08-21T15:26:07.062" v="3086" actId="164"/>
          <ac:spMkLst>
            <pc:docMk/>
            <pc:sldMk cId="0" sldId="263"/>
            <ac:spMk id="43" creationId="{00000000-0000-0000-0000-000000000000}"/>
          </ac:spMkLst>
        </pc:spChg>
        <pc:spChg chg="mod">
          <ac:chgData name="Teresa Mendes Coelho" userId="1d08d95ec9e57526" providerId="LiveId" clId="{BAD1F456-105E-44D2-845E-0AAEBDC85907}" dt="2026-08-21T15:25:18.884" v="3085" actId="164"/>
          <ac:spMkLst>
            <pc:docMk/>
            <pc:sldMk cId="0" sldId="263"/>
            <ac:spMk id="44" creationId="{00000000-0000-0000-0000-000000000000}"/>
          </ac:spMkLst>
        </pc:spChg>
        <pc:spChg chg="mod">
          <ac:chgData name="Teresa Mendes Coelho" userId="1d08d95ec9e57526" providerId="LiveId" clId="{BAD1F456-105E-44D2-845E-0AAEBDC85907}" dt="2026-08-21T15:26:07.062" v="3086" actId="164"/>
          <ac:spMkLst>
            <pc:docMk/>
            <pc:sldMk cId="0" sldId="263"/>
            <ac:spMk id="48" creationId="{00000000-0000-0000-0000-000000000000}"/>
          </ac:spMkLst>
        </pc:spChg>
        <pc:spChg chg="mod">
          <ac:chgData name="Teresa Mendes Coelho" userId="1d08d95ec9e57526" providerId="LiveId" clId="{BAD1F456-105E-44D2-845E-0AAEBDC85907}" dt="2026-08-21T15:25:18.884" v="3085" actId="164"/>
          <ac:spMkLst>
            <pc:docMk/>
            <pc:sldMk cId="0" sldId="263"/>
            <ac:spMk id="49" creationId="{00000000-0000-0000-0000-000000000000}"/>
          </ac:spMkLst>
        </pc:spChg>
        <pc:spChg chg="mod">
          <ac:chgData name="Teresa Mendes Coelho" userId="1d08d95ec9e57526" providerId="LiveId" clId="{BAD1F456-105E-44D2-845E-0AAEBDC85907}" dt="2026-08-21T15:26:12.050" v="3087" actId="164"/>
          <ac:spMkLst>
            <pc:docMk/>
            <pc:sldMk cId="0" sldId="263"/>
            <ac:spMk id="53" creationId="{00000000-0000-0000-0000-000000000000}"/>
          </ac:spMkLst>
        </pc:spChg>
        <pc:spChg chg="mod">
          <ac:chgData name="Teresa Mendes Coelho" userId="1d08d95ec9e57526" providerId="LiveId" clId="{BAD1F456-105E-44D2-845E-0AAEBDC85907}" dt="2026-08-21T15:25:18.884" v="3085" actId="164"/>
          <ac:spMkLst>
            <pc:docMk/>
            <pc:sldMk cId="0" sldId="263"/>
            <ac:spMk id="54" creationId="{00000000-0000-0000-0000-000000000000}"/>
          </ac:spMkLst>
        </pc:spChg>
        <pc:spChg chg="mod">
          <ac:chgData name="Teresa Mendes Coelho" userId="1d08d95ec9e57526" providerId="LiveId" clId="{BAD1F456-105E-44D2-845E-0AAEBDC85907}" dt="2026-08-21T15:17:08.006" v="1956" actId="20577"/>
          <ac:spMkLst>
            <pc:docMk/>
            <pc:sldMk cId="0" sldId="263"/>
            <ac:spMk id="56" creationId="{00000000-0000-0000-0000-000000000000}"/>
          </ac:spMkLst>
        </pc:spChg>
        <pc:grpChg chg="mod">
          <ac:chgData name="Teresa Mendes Coelho" userId="1d08d95ec9e57526" providerId="LiveId" clId="{BAD1F456-105E-44D2-845E-0AAEBDC85907}" dt="2026-08-21T15:25:08.003" v="3084" actId="1076"/>
          <ac:grpSpMkLst>
            <pc:docMk/>
            <pc:sldMk cId="0" sldId="263"/>
            <ac:grpSpMk id="59" creationId="{C91D646A-6929-C598-A1E5-E1DCF76A66F6}"/>
          </ac:grpSpMkLst>
        </pc:grpChg>
        <pc:grpChg chg="add mod">
          <ac:chgData name="Teresa Mendes Coelho" userId="1d08d95ec9e57526" providerId="LiveId" clId="{BAD1F456-105E-44D2-845E-0AAEBDC85907}" dt="2026-08-21T15:26:16.593" v="3088" actId="164"/>
          <ac:grpSpMkLst>
            <pc:docMk/>
            <pc:sldMk cId="0" sldId="263"/>
            <ac:grpSpMk id="60" creationId="{7595C7F2-1BAC-0F3D-2448-5D39B8A37804}"/>
          </ac:grpSpMkLst>
        </pc:grpChg>
        <pc:grpChg chg="add mod">
          <ac:chgData name="Teresa Mendes Coelho" userId="1d08d95ec9e57526" providerId="LiveId" clId="{BAD1F456-105E-44D2-845E-0AAEBDC85907}" dt="2026-08-21T15:26:12.050" v="3087" actId="164"/>
          <ac:grpSpMkLst>
            <pc:docMk/>
            <pc:sldMk cId="0" sldId="263"/>
            <ac:grpSpMk id="61" creationId="{2619929D-8737-4962-27E4-4E74D57F2BB1}"/>
          </ac:grpSpMkLst>
        </pc:grpChg>
        <pc:grpChg chg="add mod">
          <ac:chgData name="Teresa Mendes Coelho" userId="1d08d95ec9e57526" providerId="LiveId" clId="{BAD1F456-105E-44D2-845E-0AAEBDC85907}" dt="2026-08-21T15:26:16.593" v="3088" actId="164"/>
          <ac:grpSpMkLst>
            <pc:docMk/>
            <pc:sldMk cId="0" sldId="263"/>
            <ac:grpSpMk id="62" creationId="{2C497172-7DC9-3ED2-26A9-3AA00D1320AD}"/>
          </ac:grpSpMkLst>
        </pc:grpChg>
        <pc:grpChg chg="add mod">
          <ac:chgData name="Teresa Mendes Coelho" userId="1d08d95ec9e57526" providerId="LiveId" clId="{BAD1F456-105E-44D2-845E-0AAEBDC85907}" dt="2026-08-21T15:26:21.322" v="3089" actId="1076"/>
          <ac:grpSpMkLst>
            <pc:docMk/>
            <pc:sldMk cId="0" sldId="263"/>
            <ac:grpSpMk id="63" creationId="{1AAA9966-0EFA-6016-1C45-233293C480ED}"/>
          </ac:grpSpMkLst>
        </pc:grpChg>
        <pc:picChg chg="mod">
          <ac:chgData name="Teresa Mendes Coelho" userId="1d08d95ec9e57526" providerId="LiveId" clId="{BAD1F456-105E-44D2-845E-0AAEBDC85907}" dt="2026-08-21T15:16:28.837" v="1402" actId="1076"/>
          <ac:picMkLst>
            <pc:docMk/>
            <pc:sldMk cId="0" sldId="263"/>
            <ac:picMk id="57" creationId="{00000000-0000-0000-0000-000000000000}"/>
          </ac:picMkLst>
        </pc:picChg>
      </pc:sldChg>
      <pc:sldChg chg="modSp mod">
        <pc:chgData name="Teresa Mendes Coelho" userId="1d08d95ec9e57526" providerId="LiveId" clId="{BAD1F456-105E-44D2-845E-0AAEBDC85907}" dt="2026-08-21T15:18:26.168" v="2234" actId="20577"/>
        <pc:sldMkLst>
          <pc:docMk/>
          <pc:sldMk cId="0" sldId="264"/>
        </pc:sldMkLst>
        <pc:spChg chg="mod">
          <ac:chgData name="Teresa Mendes Coelho" userId="1d08d95ec9e57526" providerId="LiveId" clId="{BAD1F456-105E-44D2-845E-0AAEBDC85907}" dt="2026-08-21T15:18:26.168" v="2234" actId="20577"/>
          <ac:spMkLst>
            <pc:docMk/>
            <pc:sldMk cId="0" sldId="264"/>
            <ac:spMk id="22" creationId="{00000000-0000-0000-0000-000000000000}"/>
          </ac:spMkLst>
        </pc:spChg>
        <pc:picChg chg="mod">
          <ac:chgData name="Teresa Mendes Coelho" userId="1d08d95ec9e57526" providerId="LiveId" clId="{BAD1F456-105E-44D2-845E-0AAEBDC85907}" dt="2026-08-21T15:17:15.535" v="1957" actId="1076"/>
          <ac:picMkLst>
            <pc:docMk/>
            <pc:sldMk cId="0" sldId="264"/>
            <ac:picMk id="23" creationId="{00000000-0000-0000-0000-000000000000}"/>
          </ac:picMkLst>
        </pc:picChg>
      </pc:sldChg>
      <pc:sldChg chg="modSp mod">
        <pc:chgData name="Teresa Mendes Coelho" userId="1d08d95ec9e57526" providerId="LiveId" clId="{BAD1F456-105E-44D2-845E-0AAEBDC85907}" dt="2026-08-21T15:18:43.275" v="2510" actId="20577"/>
        <pc:sldMkLst>
          <pc:docMk/>
          <pc:sldMk cId="0" sldId="265"/>
        </pc:sldMkLst>
        <pc:spChg chg="mod">
          <ac:chgData name="Teresa Mendes Coelho" userId="1d08d95ec9e57526" providerId="LiveId" clId="{BAD1F456-105E-44D2-845E-0AAEBDC85907}" dt="2026-08-21T15:18:43.275" v="2510" actId="20577"/>
          <ac:spMkLst>
            <pc:docMk/>
            <pc:sldMk cId="0" sldId="265"/>
            <ac:spMk id="21" creationId="{00000000-0000-0000-0000-000000000000}"/>
          </ac:spMkLst>
        </pc:spChg>
        <pc:picChg chg="mod">
          <ac:chgData name="Teresa Mendes Coelho" userId="1d08d95ec9e57526" providerId="LiveId" clId="{BAD1F456-105E-44D2-845E-0AAEBDC85907}" dt="2026-08-21T15:17:22.638" v="1958" actId="1076"/>
          <ac:picMkLst>
            <pc:docMk/>
            <pc:sldMk cId="0" sldId="265"/>
            <ac:picMk id="22" creationId="{00000000-0000-0000-0000-000000000000}"/>
          </ac:picMkLst>
        </pc:picChg>
      </pc:sldChg>
      <pc:sldChg chg="modSp mod">
        <pc:chgData name="Teresa Mendes Coelho" userId="1d08d95ec9e57526" providerId="LiveId" clId="{BAD1F456-105E-44D2-845E-0AAEBDC85907}" dt="2026-08-21T15:19:00.292" v="2788" actId="20577"/>
        <pc:sldMkLst>
          <pc:docMk/>
          <pc:sldMk cId="0" sldId="266"/>
        </pc:sldMkLst>
        <pc:spChg chg="mod">
          <ac:chgData name="Teresa Mendes Coelho" userId="1d08d95ec9e57526" providerId="LiveId" clId="{BAD1F456-105E-44D2-845E-0AAEBDC85907}" dt="2026-08-21T15:19:00.292" v="2788" actId="20577"/>
          <ac:spMkLst>
            <pc:docMk/>
            <pc:sldMk cId="0" sldId="266"/>
            <ac:spMk id="18" creationId="{00000000-0000-0000-0000-000000000000}"/>
          </ac:spMkLst>
        </pc:spChg>
        <pc:picChg chg="mod">
          <ac:chgData name="Teresa Mendes Coelho" userId="1d08d95ec9e57526" providerId="LiveId" clId="{BAD1F456-105E-44D2-845E-0AAEBDC85907}" dt="2026-08-21T15:17:36.996" v="1960" actId="1076"/>
          <ac:picMkLst>
            <pc:docMk/>
            <pc:sldMk cId="0" sldId="266"/>
            <ac:picMk id="19" creationId="{00000000-0000-0000-0000-000000000000}"/>
          </ac:picMkLst>
        </pc:picChg>
      </pc:sldChg>
      <pc:sldChg chg="modSp mod">
        <pc:chgData name="Teresa Mendes Coelho" userId="1d08d95ec9e57526" providerId="LiveId" clId="{BAD1F456-105E-44D2-845E-0AAEBDC85907}" dt="2026-08-21T15:20:17.451" v="3073" actId="207"/>
        <pc:sldMkLst>
          <pc:docMk/>
          <pc:sldMk cId="0" sldId="267"/>
        </pc:sldMkLst>
        <pc:spChg chg="mod">
          <ac:chgData name="Teresa Mendes Coelho" userId="1d08d95ec9e57526" providerId="LiveId" clId="{BAD1F456-105E-44D2-845E-0AAEBDC85907}" dt="2026-08-21T15:19:35.949" v="3063" actId="207"/>
          <ac:spMkLst>
            <pc:docMk/>
            <pc:sldMk cId="0" sldId="267"/>
            <ac:spMk id="7" creationId="{00000000-0000-0000-0000-000000000000}"/>
          </ac:spMkLst>
        </pc:spChg>
        <pc:spChg chg="mod">
          <ac:chgData name="Teresa Mendes Coelho" userId="1d08d95ec9e57526" providerId="LiveId" clId="{BAD1F456-105E-44D2-845E-0AAEBDC85907}" dt="2026-08-21T15:19:40.800" v="3064" actId="207"/>
          <ac:spMkLst>
            <pc:docMk/>
            <pc:sldMk cId="0" sldId="267"/>
            <ac:spMk id="8" creationId="{00000000-0000-0000-0000-000000000000}"/>
          </ac:spMkLst>
        </pc:spChg>
        <pc:spChg chg="mod">
          <ac:chgData name="Teresa Mendes Coelho" userId="1d08d95ec9e57526" providerId="LiveId" clId="{BAD1F456-105E-44D2-845E-0AAEBDC85907}" dt="2026-08-21T15:19:45.785" v="3065" actId="207"/>
          <ac:spMkLst>
            <pc:docMk/>
            <pc:sldMk cId="0" sldId="267"/>
            <ac:spMk id="9" creationId="{00000000-0000-0000-0000-000000000000}"/>
          </ac:spMkLst>
        </pc:spChg>
        <pc:spChg chg="mod">
          <ac:chgData name="Teresa Mendes Coelho" userId="1d08d95ec9e57526" providerId="LiveId" clId="{BAD1F456-105E-44D2-845E-0AAEBDC85907}" dt="2026-08-21T15:19:55.462" v="3067" actId="207"/>
          <ac:spMkLst>
            <pc:docMk/>
            <pc:sldMk cId="0" sldId="267"/>
            <ac:spMk id="12" creationId="{00000000-0000-0000-0000-000000000000}"/>
          </ac:spMkLst>
        </pc:spChg>
        <pc:spChg chg="mod">
          <ac:chgData name="Teresa Mendes Coelho" userId="1d08d95ec9e57526" providerId="LiveId" clId="{BAD1F456-105E-44D2-845E-0AAEBDC85907}" dt="2026-08-21T15:19:51.237" v="3066" actId="207"/>
          <ac:spMkLst>
            <pc:docMk/>
            <pc:sldMk cId="0" sldId="267"/>
            <ac:spMk id="13" creationId="{00000000-0000-0000-0000-000000000000}"/>
          </ac:spMkLst>
        </pc:spChg>
        <pc:spChg chg="mod">
          <ac:chgData name="Teresa Mendes Coelho" userId="1d08d95ec9e57526" providerId="LiveId" clId="{BAD1F456-105E-44D2-845E-0AAEBDC85907}" dt="2026-08-21T15:20:03.406" v="3070" actId="207"/>
          <ac:spMkLst>
            <pc:docMk/>
            <pc:sldMk cId="0" sldId="267"/>
            <ac:spMk id="14" creationId="{00000000-0000-0000-0000-000000000000}"/>
          </ac:spMkLst>
        </pc:spChg>
        <pc:spChg chg="mod">
          <ac:chgData name="Teresa Mendes Coelho" userId="1d08d95ec9e57526" providerId="LiveId" clId="{BAD1F456-105E-44D2-845E-0AAEBDC85907}" dt="2026-08-21T15:20:08.038" v="3071" actId="207"/>
          <ac:spMkLst>
            <pc:docMk/>
            <pc:sldMk cId="0" sldId="267"/>
            <ac:spMk id="17" creationId="{00000000-0000-0000-0000-000000000000}"/>
          </ac:spMkLst>
        </pc:spChg>
        <pc:spChg chg="mod">
          <ac:chgData name="Teresa Mendes Coelho" userId="1d08d95ec9e57526" providerId="LiveId" clId="{BAD1F456-105E-44D2-845E-0AAEBDC85907}" dt="2026-08-21T15:20:12.921" v="3072" actId="207"/>
          <ac:spMkLst>
            <pc:docMk/>
            <pc:sldMk cId="0" sldId="267"/>
            <ac:spMk id="18" creationId="{00000000-0000-0000-0000-000000000000}"/>
          </ac:spMkLst>
        </pc:spChg>
        <pc:spChg chg="mod">
          <ac:chgData name="Teresa Mendes Coelho" userId="1d08d95ec9e57526" providerId="LiveId" clId="{BAD1F456-105E-44D2-845E-0AAEBDC85907}" dt="2026-08-21T15:20:17.451" v="3073" actId="207"/>
          <ac:spMkLst>
            <pc:docMk/>
            <pc:sldMk cId="0" sldId="267"/>
            <ac:spMk id="19" creationId="{00000000-0000-0000-0000-000000000000}"/>
          </ac:spMkLst>
        </pc:spChg>
        <pc:spChg chg="mod">
          <ac:chgData name="Teresa Mendes Coelho" userId="1d08d95ec9e57526" providerId="LiveId" clId="{BAD1F456-105E-44D2-845E-0AAEBDC85907}" dt="2026-08-21T15:19:23.096" v="3062" actId="20577"/>
          <ac:spMkLst>
            <pc:docMk/>
            <pc:sldMk cId="0" sldId="267"/>
            <ac:spMk id="22" creationId="{00000000-0000-0000-0000-000000000000}"/>
          </ac:spMkLst>
        </pc:spChg>
        <pc:picChg chg="mod">
          <ac:chgData name="Teresa Mendes Coelho" userId="1d08d95ec9e57526" providerId="LiveId" clId="{BAD1F456-105E-44D2-845E-0AAEBDC85907}" dt="2026-08-21T15:17:54.427" v="1962" actId="1076"/>
          <ac:picMkLst>
            <pc:docMk/>
            <pc:sldMk cId="0" sldId="267"/>
            <ac:picMk id="23" creationId="{00000000-0000-0000-0000-000000000000}"/>
          </ac:picMkLst>
        </pc:picChg>
      </pc:sldChg>
      <pc:sldChg chg="addSp delSp modSp mod ord">
        <pc:chgData name="Teresa Mendes Coelho" userId="1d08d95ec9e57526" providerId="LiveId" clId="{BAD1F456-105E-44D2-845E-0AAEBDC85907}" dt="2026-08-21T15:59:45.816" v="3216" actId="255"/>
        <pc:sldMkLst>
          <pc:docMk/>
          <pc:sldMk cId="0" sldId="268"/>
        </pc:sldMkLst>
        <pc:spChg chg="add mod">
          <ac:chgData name="Teresa Mendes Coelho" userId="1d08d95ec9e57526" providerId="LiveId" clId="{BAD1F456-105E-44D2-845E-0AAEBDC85907}" dt="2026-08-21T15:59:38.031" v="3215" actId="255"/>
          <ac:spMkLst>
            <pc:docMk/>
            <pc:sldMk cId="0" sldId="268"/>
            <ac:spMk id="8" creationId="{1A081FCE-E491-94EA-CB37-4DD5F40505A7}"/>
          </ac:spMkLst>
        </pc:spChg>
        <pc:spChg chg="add mod">
          <ac:chgData name="Teresa Mendes Coelho" userId="1d08d95ec9e57526" providerId="LiveId" clId="{BAD1F456-105E-44D2-845E-0AAEBDC85907}" dt="2026-08-21T15:59:45.816" v="3216" actId="255"/>
          <ac:spMkLst>
            <pc:docMk/>
            <pc:sldMk cId="0" sldId="268"/>
            <ac:spMk id="10" creationId="{06F5212C-D5FF-BAA3-4F61-73C87BE7ACAD}"/>
          </ac:spMkLst>
        </pc:spChg>
        <pc:spChg chg="add del mod">
          <ac:chgData name="Teresa Mendes Coelho" userId="1d08d95ec9e57526" providerId="LiveId" clId="{BAD1F456-105E-44D2-845E-0AAEBDC85907}" dt="2026-08-21T15:50:38.467" v="3142" actId="478"/>
          <ac:spMkLst>
            <pc:docMk/>
            <pc:sldMk cId="0" sldId="268"/>
            <ac:spMk id="12" creationId="{0A4F7BF3-95AF-6177-F97D-AA62796B158B}"/>
          </ac:spMkLst>
        </pc:spChg>
        <pc:picChg chg="add del mod modCrop">
          <ac:chgData name="Teresa Mendes Coelho" userId="1d08d95ec9e57526" providerId="LiveId" clId="{BAD1F456-105E-44D2-845E-0AAEBDC85907}" dt="2026-08-21T15:54:32.829" v="3150" actId="478"/>
          <ac:picMkLst>
            <pc:docMk/>
            <pc:sldMk cId="0" sldId="268"/>
            <ac:picMk id="3" creationId="{00000000-0000-0000-0000-000000000000}"/>
          </ac:picMkLst>
        </pc:picChg>
        <pc:picChg chg="add mod">
          <ac:chgData name="Teresa Mendes Coelho" userId="1d08d95ec9e57526" providerId="LiveId" clId="{BAD1F456-105E-44D2-845E-0AAEBDC85907}" dt="2026-08-21T15:55:05.578" v="3158" actId="1076"/>
          <ac:picMkLst>
            <pc:docMk/>
            <pc:sldMk cId="0" sldId="268"/>
            <ac:picMk id="14" creationId="{6CDC8944-9FDC-71D6-2154-15BAEBCA51F1}"/>
          </ac:picMkLst>
        </pc:picChg>
      </pc:sldChg>
      <pc:sldChg chg="addSp modSp mod ord">
        <pc:chgData name="Teresa Mendes Coelho" userId="1d08d95ec9e57526" providerId="LiveId" clId="{BAD1F456-105E-44D2-845E-0AAEBDC85907}" dt="2026-08-21T15:59:27.489" v="3214" actId="1076"/>
        <pc:sldMkLst>
          <pc:docMk/>
          <pc:sldMk cId="0" sldId="269"/>
        </pc:sldMkLst>
        <pc:spChg chg="add mod">
          <ac:chgData name="Teresa Mendes Coelho" userId="1d08d95ec9e57526" providerId="LiveId" clId="{BAD1F456-105E-44D2-845E-0AAEBDC85907}" dt="2026-08-21T15:59:27.489" v="3214" actId="1076"/>
          <ac:spMkLst>
            <pc:docMk/>
            <pc:sldMk cId="0" sldId="269"/>
            <ac:spMk id="8" creationId="{5454EB67-0326-2006-946B-40AE56624C53}"/>
          </ac:spMkLst>
        </pc:spChg>
        <pc:spChg chg="add mod">
          <ac:chgData name="Teresa Mendes Coelho" userId="1d08d95ec9e57526" providerId="LiveId" clId="{BAD1F456-105E-44D2-845E-0AAEBDC85907}" dt="2026-08-21T15:59:13.014" v="3213" actId="122"/>
          <ac:spMkLst>
            <pc:docMk/>
            <pc:sldMk cId="0" sldId="269"/>
            <ac:spMk id="10" creationId="{641D1CE2-C1CD-739F-80DE-0D73E3F1726B}"/>
          </ac:spMkLst>
        </pc:spChg>
        <pc:picChg chg="mod modCrop">
          <ac:chgData name="Teresa Mendes Coelho" userId="1d08d95ec9e57526" providerId="LiveId" clId="{BAD1F456-105E-44D2-845E-0AAEBDC85907}" dt="2026-08-21T15:58:23.381" v="3197" actId="1076"/>
          <ac:picMkLst>
            <pc:docMk/>
            <pc:sldMk cId="0" sldId="269"/>
            <ac:picMk id="3" creationId="{00000000-0000-0000-0000-000000000000}"/>
          </ac:picMkLst>
        </pc:picChg>
      </pc:sldChg>
      <pc:sldChg chg="addSp modSp mod ord">
        <pc:chgData name="Teresa Mendes Coelho" userId="1d08d95ec9e57526" providerId="LiveId" clId="{BAD1F456-105E-44D2-845E-0AAEBDC85907}" dt="2026-08-21T16:01:55.990" v="3232" actId="1076"/>
        <pc:sldMkLst>
          <pc:docMk/>
          <pc:sldMk cId="0" sldId="270"/>
        </pc:sldMkLst>
        <pc:spChg chg="add mod">
          <ac:chgData name="Teresa Mendes Coelho" userId="1d08d95ec9e57526" providerId="LiveId" clId="{BAD1F456-105E-44D2-845E-0AAEBDC85907}" dt="2026-08-21T16:01:50.752" v="3230" actId="1076"/>
          <ac:spMkLst>
            <pc:docMk/>
            <pc:sldMk cId="0" sldId="270"/>
            <ac:spMk id="8" creationId="{45A738B2-4077-D3D4-5BF9-77C660788F19}"/>
          </ac:spMkLst>
        </pc:spChg>
        <pc:spChg chg="add mod">
          <ac:chgData name="Teresa Mendes Coelho" userId="1d08d95ec9e57526" providerId="LiveId" clId="{BAD1F456-105E-44D2-845E-0AAEBDC85907}" dt="2026-08-21T16:01:40.070" v="3228" actId="1076"/>
          <ac:spMkLst>
            <pc:docMk/>
            <pc:sldMk cId="0" sldId="270"/>
            <ac:spMk id="10" creationId="{27C8DCE1-F40B-3073-E844-3C6CDF1630C2}"/>
          </ac:spMkLst>
        </pc:spChg>
        <pc:picChg chg="mod modCrop">
          <ac:chgData name="Teresa Mendes Coelho" userId="1d08d95ec9e57526" providerId="LiveId" clId="{BAD1F456-105E-44D2-845E-0AAEBDC85907}" dt="2026-08-21T16:01:55.990" v="3232" actId="1076"/>
          <ac:picMkLst>
            <pc:docMk/>
            <pc:sldMk cId="0" sldId="270"/>
            <ac:picMk id="3"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F761B7-310E-40F8-89EC-BFE177C36165}" type="datetimeFigureOut">
              <a:rPr lang="pt-PT" smtClean="0"/>
              <a:t>21/08/2026</a:t>
            </a:fld>
            <a:endParaRPr lang="pt-PT"/>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PT"/>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1D197C-57BB-473B-95E1-1586391EA665}" type="slidenum">
              <a:rPr lang="pt-PT" smtClean="0"/>
              <a:t>‹nº›</a:t>
            </a:fld>
            <a:endParaRPr lang="pt-PT"/>
          </a:p>
        </p:txBody>
      </p:sp>
    </p:spTree>
    <p:extLst>
      <p:ext uri="{BB962C8B-B14F-4D97-AF65-F5344CB8AC3E}">
        <p14:creationId xmlns:p14="http://schemas.microsoft.com/office/powerpoint/2010/main" val="282619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endParaRPr lang="pt-PT" dirty="0"/>
          </a:p>
        </p:txBody>
      </p:sp>
      <p:sp>
        <p:nvSpPr>
          <p:cNvPr id="4" name="Marcador de Posição do Número do Diapositivo 3"/>
          <p:cNvSpPr>
            <a:spLocks noGrp="1"/>
          </p:cNvSpPr>
          <p:nvPr>
            <p:ph type="sldNum" sz="quarter" idx="5"/>
          </p:nvPr>
        </p:nvSpPr>
        <p:spPr/>
        <p:txBody>
          <a:bodyPr/>
          <a:lstStyle/>
          <a:p>
            <a:fld id="{761D197C-57BB-473B-95E1-1586391EA665}" type="slidenum">
              <a:rPr lang="pt-PT" smtClean="0"/>
              <a:t>14</a:t>
            </a:fld>
            <a:endParaRPr lang="pt-PT"/>
          </a:p>
        </p:txBody>
      </p:sp>
    </p:spTree>
    <p:extLst>
      <p:ext uri="{BB962C8B-B14F-4D97-AF65-F5344CB8AC3E}">
        <p14:creationId xmlns:p14="http://schemas.microsoft.com/office/powerpoint/2010/main" val="903801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448"/>
        </a:solidFill>
        <a:effectLst/>
      </p:bgPr>
    </p:bg>
    <p:spTree>
      <p:nvGrpSpPr>
        <p:cNvPr id="1" name=""/>
        <p:cNvGrpSpPr/>
        <p:nvPr/>
      </p:nvGrpSpPr>
      <p:grpSpPr>
        <a:xfrm>
          <a:off x="0" y="0"/>
          <a:ext cx="0" cy="0"/>
          <a:chOff x="0" y="0"/>
          <a:chExt cx="0" cy="0"/>
        </a:xfrm>
      </p:grpSpPr>
      <p:sp>
        <p:nvSpPr>
          <p:cNvPr id="2" name="TextBox 1"/>
          <p:cNvSpPr txBox="1"/>
          <p:nvPr/>
        </p:nvSpPr>
        <p:spPr>
          <a:xfrm>
            <a:off x="731520" y="1051560"/>
            <a:ext cx="10698480" cy="1143000"/>
          </a:xfrm>
          <a:prstGeom prst="rect">
            <a:avLst/>
          </a:prstGeom>
          <a:noFill/>
        </p:spPr>
        <p:txBody>
          <a:bodyPr wrap="square">
            <a:spAutoFit/>
          </a:bodyPr>
          <a:lstStyle/>
          <a:p>
            <a:pPr algn="l">
              <a:defRPr sz="3400" b="1">
                <a:solidFill>
                  <a:srgbClr val="FFFFFF"/>
                </a:solidFill>
                <a:latin typeface="Aptos"/>
              </a:defRPr>
            </a:pPr>
            <a:r>
              <a:t>Marketing A/B Test</a:t>
            </a:r>
            <a:br/>
            <a:r>
              <a:t>Performance Analysis</a:t>
            </a:r>
          </a:p>
        </p:txBody>
      </p:sp>
      <p:sp>
        <p:nvSpPr>
          <p:cNvPr id="3" name="TextBox 2"/>
          <p:cNvSpPr txBox="1"/>
          <p:nvPr/>
        </p:nvSpPr>
        <p:spPr>
          <a:xfrm>
            <a:off x="758952" y="2423160"/>
            <a:ext cx="9875520" cy="411480"/>
          </a:xfrm>
          <a:prstGeom prst="rect">
            <a:avLst/>
          </a:prstGeom>
          <a:noFill/>
        </p:spPr>
        <p:txBody>
          <a:bodyPr wrap="square">
            <a:spAutoFit/>
          </a:bodyPr>
          <a:lstStyle/>
          <a:p>
            <a:pPr algn="l">
              <a:defRPr sz="1900" b="0">
                <a:solidFill>
                  <a:srgbClr val="B9D7E8"/>
                </a:solidFill>
                <a:latin typeface="Aptos"/>
              </a:defRPr>
            </a:pPr>
            <a:r>
              <a:t>Project Vanguard — A/B Test</a:t>
            </a:r>
          </a:p>
        </p:txBody>
      </p:sp>
      <p:sp>
        <p:nvSpPr>
          <p:cNvPr id="4" name="TextBox 3"/>
          <p:cNvSpPr txBox="1"/>
          <p:nvPr/>
        </p:nvSpPr>
        <p:spPr>
          <a:xfrm>
            <a:off x="758952" y="2999232"/>
            <a:ext cx="9875520" cy="502920"/>
          </a:xfrm>
          <a:prstGeom prst="rect">
            <a:avLst/>
          </a:prstGeom>
          <a:noFill/>
        </p:spPr>
        <p:txBody>
          <a:bodyPr wrap="square">
            <a:spAutoFit/>
          </a:bodyPr>
          <a:lstStyle/>
          <a:p>
            <a:pPr algn="l">
              <a:defRPr sz="1550" b="0">
                <a:solidFill>
                  <a:srgbClr val="FFFFFF"/>
                </a:solidFill>
                <a:latin typeface="Aptos"/>
              </a:defRPr>
            </a:pPr>
            <a:r>
              <a:t>From experimental groups to actionable advertising insights</a:t>
            </a:r>
          </a:p>
        </p:txBody>
      </p:sp>
      <p:sp>
        <p:nvSpPr>
          <p:cNvPr id="5" name="Rounded Rectangle 4"/>
          <p:cNvSpPr/>
          <p:nvPr/>
        </p:nvSpPr>
        <p:spPr>
          <a:xfrm>
            <a:off x="758952" y="4160520"/>
            <a:ext cx="3063240" cy="1234440"/>
          </a:xfrm>
          <a:prstGeom prst="roundRect">
            <a:avLst/>
          </a:prstGeom>
          <a:solidFill>
            <a:srgbClr val="29455E"/>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Rectangle 5"/>
          <p:cNvSpPr/>
          <p:nvPr/>
        </p:nvSpPr>
        <p:spPr>
          <a:xfrm>
            <a:off x="758952" y="4160520"/>
            <a:ext cx="64008" cy="1234440"/>
          </a:xfrm>
          <a:prstGeom prst="rect">
            <a:avLst/>
          </a:prstGeom>
          <a:solidFill>
            <a:srgbClr val="34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41832" y="4315968"/>
            <a:ext cx="2743200" cy="253916"/>
          </a:xfrm>
          <a:prstGeom prst="rect">
            <a:avLst/>
          </a:prstGeom>
          <a:noFill/>
        </p:spPr>
        <p:txBody>
          <a:bodyPr wrap="square">
            <a:spAutoFit/>
          </a:bodyPr>
          <a:lstStyle/>
          <a:p>
            <a:pPr algn="l">
              <a:defRPr sz="1050" b="1">
                <a:solidFill>
                  <a:srgbClr val="69717A"/>
                </a:solidFill>
                <a:latin typeface="Aptos"/>
              </a:defRPr>
            </a:pPr>
            <a:r>
              <a:rPr dirty="0">
                <a:solidFill>
                  <a:schemeClr val="bg1"/>
                </a:solidFill>
              </a:rPr>
              <a:t>AD GROUP</a:t>
            </a:r>
          </a:p>
        </p:txBody>
      </p:sp>
      <p:sp>
        <p:nvSpPr>
          <p:cNvPr id="8" name="TextBox 7"/>
          <p:cNvSpPr txBox="1"/>
          <p:nvPr/>
        </p:nvSpPr>
        <p:spPr>
          <a:xfrm>
            <a:off x="941832" y="4663440"/>
            <a:ext cx="2743200" cy="430887"/>
          </a:xfrm>
          <a:prstGeom prst="rect">
            <a:avLst/>
          </a:prstGeom>
          <a:noFill/>
        </p:spPr>
        <p:txBody>
          <a:bodyPr wrap="square">
            <a:spAutoFit/>
          </a:bodyPr>
          <a:lstStyle/>
          <a:p>
            <a:pPr algn="l">
              <a:defRPr sz="2200" b="1">
                <a:solidFill>
                  <a:srgbClr val="1F3448"/>
                </a:solidFill>
                <a:latin typeface="Aptos"/>
              </a:defRPr>
            </a:pPr>
            <a:r>
              <a:rPr dirty="0">
                <a:solidFill>
                  <a:schemeClr val="bg1"/>
                </a:solidFill>
              </a:rPr>
              <a:t>2.55%</a:t>
            </a:r>
          </a:p>
        </p:txBody>
      </p:sp>
      <p:sp>
        <p:nvSpPr>
          <p:cNvPr id="9" name="TextBox 8"/>
          <p:cNvSpPr txBox="1"/>
          <p:nvPr/>
        </p:nvSpPr>
        <p:spPr>
          <a:xfrm>
            <a:off x="941832" y="5148072"/>
            <a:ext cx="2743200" cy="253916"/>
          </a:xfrm>
          <a:prstGeom prst="rect">
            <a:avLst/>
          </a:prstGeom>
          <a:noFill/>
        </p:spPr>
        <p:txBody>
          <a:bodyPr wrap="square">
            <a:spAutoFit/>
          </a:bodyPr>
          <a:lstStyle/>
          <a:p>
            <a:pPr algn="l">
              <a:defRPr sz="1050" b="0">
                <a:solidFill>
                  <a:srgbClr val="69717A"/>
                </a:solidFill>
                <a:latin typeface="Aptos"/>
              </a:defRPr>
            </a:pPr>
            <a:r>
              <a:rPr dirty="0">
                <a:solidFill>
                  <a:schemeClr val="bg1"/>
                </a:solidFill>
              </a:rPr>
              <a:t>Observed conversion rate</a:t>
            </a:r>
          </a:p>
        </p:txBody>
      </p:sp>
      <p:sp>
        <p:nvSpPr>
          <p:cNvPr id="10" name="Rounded Rectangle 9"/>
          <p:cNvSpPr/>
          <p:nvPr/>
        </p:nvSpPr>
        <p:spPr>
          <a:xfrm>
            <a:off x="4069080" y="4160520"/>
            <a:ext cx="3063240" cy="1234440"/>
          </a:xfrm>
          <a:prstGeom prst="roundRect">
            <a:avLst/>
          </a:prstGeom>
          <a:solidFill>
            <a:srgbClr val="29455E"/>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069080" y="4160520"/>
            <a:ext cx="64008" cy="1234440"/>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51960" y="4315968"/>
            <a:ext cx="2743200" cy="253916"/>
          </a:xfrm>
          <a:prstGeom prst="rect">
            <a:avLst/>
          </a:prstGeom>
          <a:noFill/>
        </p:spPr>
        <p:txBody>
          <a:bodyPr wrap="square">
            <a:spAutoFit/>
          </a:bodyPr>
          <a:lstStyle/>
          <a:p>
            <a:pPr algn="l">
              <a:defRPr sz="1050" b="1">
                <a:solidFill>
                  <a:srgbClr val="69717A"/>
                </a:solidFill>
                <a:latin typeface="Aptos"/>
              </a:defRPr>
            </a:pPr>
            <a:r>
              <a:rPr dirty="0">
                <a:solidFill>
                  <a:schemeClr val="bg1"/>
                </a:solidFill>
              </a:rPr>
              <a:t>PSA GROUP</a:t>
            </a:r>
          </a:p>
        </p:txBody>
      </p:sp>
      <p:sp>
        <p:nvSpPr>
          <p:cNvPr id="13" name="TextBox 12"/>
          <p:cNvSpPr txBox="1"/>
          <p:nvPr/>
        </p:nvSpPr>
        <p:spPr>
          <a:xfrm>
            <a:off x="4251960" y="4663440"/>
            <a:ext cx="2743200" cy="430887"/>
          </a:xfrm>
          <a:prstGeom prst="rect">
            <a:avLst/>
          </a:prstGeom>
          <a:noFill/>
        </p:spPr>
        <p:txBody>
          <a:bodyPr wrap="square">
            <a:spAutoFit/>
          </a:bodyPr>
          <a:lstStyle/>
          <a:p>
            <a:pPr algn="l">
              <a:defRPr sz="2200" b="1">
                <a:solidFill>
                  <a:srgbClr val="1F3448"/>
                </a:solidFill>
                <a:latin typeface="Aptos"/>
              </a:defRPr>
            </a:pPr>
            <a:r>
              <a:rPr dirty="0">
                <a:solidFill>
                  <a:schemeClr val="bg1"/>
                </a:solidFill>
              </a:rPr>
              <a:t>1.79%</a:t>
            </a:r>
          </a:p>
        </p:txBody>
      </p:sp>
      <p:sp>
        <p:nvSpPr>
          <p:cNvPr id="14" name="TextBox 13"/>
          <p:cNvSpPr txBox="1"/>
          <p:nvPr/>
        </p:nvSpPr>
        <p:spPr>
          <a:xfrm>
            <a:off x="4251960" y="5148072"/>
            <a:ext cx="2743200" cy="253916"/>
          </a:xfrm>
          <a:prstGeom prst="rect">
            <a:avLst/>
          </a:prstGeom>
          <a:noFill/>
        </p:spPr>
        <p:txBody>
          <a:bodyPr wrap="square">
            <a:spAutoFit/>
          </a:bodyPr>
          <a:lstStyle/>
          <a:p>
            <a:pPr algn="l">
              <a:defRPr sz="1050" b="0">
                <a:solidFill>
                  <a:srgbClr val="69717A"/>
                </a:solidFill>
                <a:latin typeface="Aptos"/>
              </a:defRPr>
            </a:pPr>
            <a:r>
              <a:rPr dirty="0">
                <a:solidFill>
                  <a:schemeClr val="bg1"/>
                </a:solidFill>
              </a:rPr>
              <a:t>Observed conversion rate</a:t>
            </a:r>
          </a:p>
        </p:txBody>
      </p:sp>
      <p:sp>
        <p:nvSpPr>
          <p:cNvPr id="15" name="Rounded Rectangle 14"/>
          <p:cNvSpPr/>
          <p:nvPr/>
        </p:nvSpPr>
        <p:spPr>
          <a:xfrm>
            <a:off x="7379208" y="4160520"/>
            <a:ext cx="3063240" cy="1234440"/>
          </a:xfrm>
          <a:prstGeom prst="roundRect">
            <a:avLst/>
          </a:prstGeom>
          <a:solidFill>
            <a:srgbClr val="29455E"/>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79208" y="4160520"/>
            <a:ext cx="64008" cy="1234440"/>
          </a:xfrm>
          <a:prstGeom prst="rect">
            <a:avLst/>
          </a:prstGeom>
          <a:solidFill>
            <a:srgbClr val="3C91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62088" y="4315968"/>
            <a:ext cx="2743200" cy="253916"/>
          </a:xfrm>
          <a:prstGeom prst="rect">
            <a:avLst/>
          </a:prstGeom>
          <a:noFill/>
        </p:spPr>
        <p:txBody>
          <a:bodyPr wrap="square">
            <a:spAutoFit/>
          </a:bodyPr>
          <a:lstStyle/>
          <a:p>
            <a:pPr algn="l">
              <a:defRPr sz="1050" b="1">
                <a:solidFill>
                  <a:srgbClr val="69717A"/>
                </a:solidFill>
                <a:latin typeface="Aptos"/>
              </a:defRPr>
            </a:pPr>
            <a:r>
              <a:rPr dirty="0">
                <a:solidFill>
                  <a:schemeClr val="bg1"/>
                </a:solidFill>
              </a:rPr>
              <a:t>OBSERVED UPLIFT</a:t>
            </a:r>
          </a:p>
        </p:txBody>
      </p:sp>
      <p:sp>
        <p:nvSpPr>
          <p:cNvPr id="18" name="TextBox 17"/>
          <p:cNvSpPr txBox="1"/>
          <p:nvPr/>
        </p:nvSpPr>
        <p:spPr>
          <a:xfrm>
            <a:off x="7562088" y="4663440"/>
            <a:ext cx="2743200" cy="430887"/>
          </a:xfrm>
          <a:prstGeom prst="rect">
            <a:avLst/>
          </a:prstGeom>
          <a:noFill/>
        </p:spPr>
        <p:txBody>
          <a:bodyPr wrap="square">
            <a:spAutoFit/>
          </a:bodyPr>
          <a:lstStyle/>
          <a:p>
            <a:pPr algn="l">
              <a:defRPr sz="2200" b="1">
                <a:solidFill>
                  <a:srgbClr val="1F3448"/>
                </a:solidFill>
                <a:latin typeface="Aptos"/>
              </a:defRPr>
            </a:pPr>
            <a:r>
              <a:rPr dirty="0">
                <a:solidFill>
                  <a:schemeClr val="bg1"/>
                </a:solidFill>
              </a:rPr>
              <a:t>≈43%</a:t>
            </a:r>
          </a:p>
        </p:txBody>
      </p:sp>
      <p:sp>
        <p:nvSpPr>
          <p:cNvPr id="19" name="TextBox 18"/>
          <p:cNvSpPr txBox="1"/>
          <p:nvPr/>
        </p:nvSpPr>
        <p:spPr>
          <a:xfrm>
            <a:off x="7562088" y="5148072"/>
            <a:ext cx="2743200" cy="253916"/>
          </a:xfrm>
          <a:prstGeom prst="rect">
            <a:avLst/>
          </a:prstGeom>
          <a:noFill/>
        </p:spPr>
        <p:txBody>
          <a:bodyPr wrap="square">
            <a:spAutoFit/>
          </a:bodyPr>
          <a:lstStyle/>
          <a:p>
            <a:pPr algn="l">
              <a:defRPr sz="1050" b="0">
                <a:solidFill>
                  <a:srgbClr val="69717A"/>
                </a:solidFill>
                <a:latin typeface="Aptos"/>
              </a:defRPr>
            </a:pPr>
            <a:r>
              <a:rPr dirty="0">
                <a:solidFill>
                  <a:schemeClr val="bg1"/>
                </a:solidFill>
              </a:rPr>
              <a:t>Relative improvement</a:t>
            </a:r>
          </a:p>
        </p:txBody>
      </p:sp>
      <p:sp>
        <p:nvSpPr>
          <p:cNvPr id="20" name="Rectangle 19"/>
          <p:cNvSpPr/>
          <p:nvPr/>
        </p:nvSpPr>
        <p:spPr>
          <a:xfrm>
            <a:off x="411480" y="6428232"/>
            <a:ext cx="11338560" cy="10972"/>
          </a:xfrm>
          <a:prstGeom prst="rect">
            <a:avLst/>
          </a:prstGeom>
          <a:solidFill>
            <a:srgbClr val="34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6484924"/>
            <a:ext cx="10993374" cy="223138"/>
          </a:xfrm>
          <a:prstGeom prst="rect">
            <a:avLst/>
          </a:prstGeom>
          <a:noFill/>
        </p:spPr>
        <p:txBody>
          <a:bodyPr wrap="square">
            <a:spAutoFit/>
          </a:bodyPr>
          <a:lstStyle/>
          <a:p>
            <a:pPr algn="l">
              <a:defRPr sz="850" b="0">
                <a:solidFill>
                  <a:srgbClr val="FFFFFF"/>
                </a:solidFill>
                <a:latin typeface="Aptos"/>
              </a:defRPr>
            </a:pPr>
            <a:r>
              <a:rPr dirty="0"/>
              <a:t>Author: Teresa Mendes Coelho</a:t>
            </a:r>
            <a:r>
              <a:rPr lang="en-US" dirty="0"/>
              <a:t>                                                                                                                                                                                                                                                                                                                                               </a:t>
            </a:r>
            <a:r>
              <a:rPr lang="en-US" dirty="0" err="1"/>
              <a:t>Ironhack</a:t>
            </a:r>
            <a:r>
              <a:rPr lang="en-US" dirty="0"/>
              <a:t> bootcamp Data Analytics 2026</a:t>
            </a:r>
            <a:endParaRPr dirty="0"/>
          </a:p>
        </p:txBody>
      </p:sp>
      <p:pic>
        <p:nvPicPr>
          <p:cNvPr id="22" name="Picture 21" descr="3e6d4280-1049-4738-ab33-95281aa5f1cd.png"/>
          <p:cNvPicPr>
            <a:picLocks noChangeAspect="1"/>
          </p:cNvPicPr>
          <p:nvPr/>
        </p:nvPicPr>
        <p:blipFill>
          <a:blip r:embed="rId2"/>
          <a:stretch>
            <a:fillRect/>
          </a:stretch>
        </p:blipFill>
        <p:spPr>
          <a:xfrm>
            <a:off x="11496294" y="6484924"/>
            <a:ext cx="253746" cy="274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10972800" cy="502920"/>
          </a:xfrm>
          <a:prstGeom prst="rect">
            <a:avLst/>
          </a:prstGeom>
          <a:noFill/>
        </p:spPr>
        <p:txBody>
          <a:bodyPr wrap="square">
            <a:spAutoFit/>
          </a:bodyPr>
          <a:lstStyle/>
          <a:p>
            <a:pPr algn="l">
              <a:defRPr sz="2800" b="1">
                <a:solidFill>
                  <a:srgbClr val="1F3448"/>
                </a:solidFill>
                <a:latin typeface="Aptos"/>
              </a:defRPr>
            </a:pPr>
            <a:r>
              <a:t>1. Business Question</a:t>
            </a:r>
          </a:p>
        </p:txBody>
      </p:sp>
      <p:sp>
        <p:nvSpPr>
          <p:cNvPr id="3" name="TextBox 2"/>
          <p:cNvSpPr txBox="1"/>
          <p:nvPr/>
        </p:nvSpPr>
        <p:spPr>
          <a:xfrm>
            <a:off x="621792" y="896112"/>
            <a:ext cx="10789920" cy="347472"/>
          </a:xfrm>
          <a:prstGeom prst="rect">
            <a:avLst/>
          </a:prstGeom>
          <a:noFill/>
        </p:spPr>
        <p:txBody>
          <a:bodyPr wrap="square">
            <a:spAutoFit/>
          </a:bodyPr>
          <a:lstStyle/>
          <a:p>
            <a:pPr algn="l">
              <a:defRPr sz="1250" b="0">
                <a:solidFill>
                  <a:srgbClr val="69717A"/>
                </a:solidFill>
                <a:latin typeface="Aptos"/>
              </a:defRPr>
            </a:pPr>
            <a:r>
              <a:t>What does the A/B test tell us about advertising performance?</a:t>
            </a:r>
          </a:p>
        </p:txBody>
      </p:sp>
      <p:sp>
        <p:nvSpPr>
          <p:cNvPr id="4" name="TextBox 3"/>
          <p:cNvSpPr txBox="1"/>
          <p:nvPr/>
        </p:nvSpPr>
        <p:spPr>
          <a:xfrm>
            <a:off x="731520" y="1417320"/>
            <a:ext cx="5029200" cy="1005840"/>
          </a:xfrm>
          <a:prstGeom prst="rect">
            <a:avLst/>
          </a:prstGeom>
          <a:noFill/>
        </p:spPr>
        <p:txBody>
          <a:bodyPr wrap="square">
            <a:spAutoFit/>
          </a:bodyPr>
          <a:lstStyle/>
          <a:p>
            <a:pPr algn="l">
              <a:defRPr sz="1800" b="0">
                <a:solidFill>
                  <a:srgbClr val="2D3238"/>
                </a:solidFill>
                <a:latin typeface="Aptos"/>
              </a:defRPr>
            </a:pPr>
            <a:r>
              <a:t>The project compares the AD and PSA experimental groups to understand conversion performance and identify useful patterns by day and hour.</a:t>
            </a:r>
          </a:p>
        </p:txBody>
      </p:sp>
      <p:sp>
        <p:nvSpPr>
          <p:cNvPr id="5" name="Rounded Rectangle 4"/>
          <p:cNvSpPr/>
          <p:nvPr/>
        </p:nvSpPr>
        <p:spPr>
          <a:xfrm>
            <a:off x="6126480" y="1417320"/>
            <a:ext cx="2286000" cy="1325880"/>
          </a:xfrm>
          <a:prstGeom prst="roundRect">
            <a:avLst/>
          </a:prstGeom>
          <a:solidFill>
            <a:srgbClr val="E5F2FA"/>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126480" y="1417320"/>
            <a:ext cx="64008" cy="1325880"/>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09360" y="1572768"/>
            <a:ext cx="1965960" cy="228600"/>
          </a:xfrm>
          <a:prstGeom prst="rect">
            <a:avLst/>
          </a:prstGeom>
          <a:noFill/>
        </p:spPr>
        <p:txBody>
          <a:bodyPr wrap="square">
            <a:spAutoFit/>
          </a:bodyPr>
          <a:lstStyle/>
          <a:p>
            <a:pPr algn="l">
              <a:defRPr sz="1050" b="1">
                <a:solidFill>
                  <a:srgbClr val="69717A"/>
                </a:solidFill>
                <a:latin typeface="Aptos"/>
              </a:defRPr>
            </a:pPr>
            <a:r>
              <a:t>GROUP A</a:t>
            </a:r>
          </a:p>
        </p:txBody>
      </p:sp>
      <p:sp>
        <p:nvSpPr>
          <p:cNvPr id="8" name="TextBox 7"/>
          <p:cNvSpPr txBox="1"/>
          <p:nvPr/>
        </p:nvSpPr>
        <p:spPr>
          <a:xfrm>
            <a:off x="6309360" y="1920240"/>
            <a:ext cx="1965960" cy="384048"/>
          </a:xfrm>
          <a:prstGeom prst="rect">
            <a:avLst/>
          </a:prstGeom>
          <a:noFill/>
        </p:spPr>
        <p:txBody>
          <a:bodyPr wrap="square">
            <a:spAutoFit/>
          </a:bodyPr>
          <a:lstStyle/>
          <a:p>
            <a:pPr algn="l">
              <a:defRPr sz="2200" b="1">
                <a:solidFill>
                  <a:srgbClr val="1F3448"/>
                </a:solidFill>
                <a:latin typeface="Aptos"/>
              </a:defRPr>
            </a:pPr>
            <a:r>
              <a:t>AD</a:t>
            </a:r>
          </a:p>
        </p:txBody>
      </p:sp>
      <p:sp>
        <p:nvSpPr>
          <p:cNvPr id="9" name="TextBox 8"/>
          <p:cNvSpPr txBox="1"/>
          <p:nvPr/>
        </p:nvSpPr>
        <p:spPr>
          <a:xfrm>
            <a:off x="6309360" y="2404872"/>
            <a:ext cx="1965960" cy="274320"/>
          </a:xfrm>
          <a:prstGeom prst="rect">
            <a:avLst/>
          </a:prstGeom>
          <a:noFill/>
        </p:spPr>
        <p:txBody>
          <a:bodyPr wrap="square">
            <a:spAutoFit/>
          </a:bodyPr>
          <a:lstStyle/>
          <a:p>
            <a:pPr algn="l">
              <a:defRPr sz="1050" b="0">
                <a:solidFill>
                  <a:srgbClr val="69717A"/>
                </a:solidFill>
                <a:latin typeface="Aptos"/>
              </a:defRPr>
            </a:pPr>
            <a:r>
              <a:t>Advertising group</a:t>
            </a:r>
          </a:p>
        </p:txBody>
      </p:sp>
      <p:sp>
        <p:nvSpPr>
          <p:cNvPr id="10" name="Rounded Rectangle 9"/>
          <p:cNvSpPr/>
          <p:nvPr/>
        </p:nvSpPr>
        <p:spPr>
          <a:xfrm>
            <a:off x="8641080" y="1417320"/>
            <a:ext cx="2286000" cy="1325880"/>
          </a:xfrm>
          <a:prstGeom prst="roundRect">
            <a:avLst/>
          </a:prstGeom>
          <a:solidFill>
            <a:srgbClr val="F2F5F7"/>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641080" y="1417320"/>
            <a:ext cx="64008" cy="1325880"/>
          </a:xfrm>
          <a:prstGeom prst="rect">
            <a:avLst/>
          </a:prstGeom>
          <a:solidFill>
            <a:srgbClr val="6971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23959" y="1572768"/>
            <a:ext cx="1965960" cy="228600"/>
          </a:xfrm>
          <a:prstGeom prst="rect">
            <a:avLst/>
          </a:prstGeom>
          <a:noFill/>
        </p:spPr>
        <p:txBody>
          <a:bodyPr wrap="square">
            <a:spAutoFit/>
          </a:bodyPr>
          <a:lstStyle/>
          <a:p>
            <a:pPr algn="l">
              <a:defRPr sz="1050" b="1">
                <a:solidFill>
                  <a:srgbClr val="69717A"/>
                </a:solidFill>
                <a:latin typeface="Aptos"/>
              </a:defRPr>
            </a:pPr>
            <a:r>
              <a:t>GROUP B</a:t>
            </a:r>
          </a:p>
        </p:txBody>
      </p:sp>
      <p:sp>
        <p:nvSpPr>
          <p:cNvPr id="13" name="TextBox 12"/>
          <p:cNvSpPr txBox="1"/>
          <p:nvPr/>
        </p:nvSpPr>
        <p:spPr>
          <a:xfrm>
            <a:off x="8823959" y="1920240"/>
            <a:ext cx="1965960" cy="384048"/>
          </a:xfrm>
          <a:prstGeom prst="rect">
            <a:avLst/>
          </a:prstGeom>
          <a:noFill/>
        </p:spPr>
        <p:txBody>
          <a:bodyPr wrap="square">
            <a:spAutoFit/>
          </a:bodyPr>
          <a:lstStyle/>
          <a:p>
            <a:pPr algn="l">
              <a:defRPr sz="2200" b="1">
                <a:solidFill>
                  <a:srgbClr val="1F3448"/>
                </a:solidFill>
                <a:latin typeface="Aptos"/>
              </a:defRPr>
            </a:pPr>
            <a:r>
              <a:t>PSA</a:t>
            </a:r>
          </a:p>
        </p:txBody>
      </p:sp>
      <p:sp>
        <p:nvSpPr>
          <p:cNvPr id="14" name="TextBox 13"/>
          <p:cNvSpPr txBox="1"/>
          <p:nvPr/>
        </p:nvSpPr>
        <p:spPr>
          <a:xfrm>
            <a:off x="8823959" y="2404872"/>
            <a:ext cx="1965960" cy="274320"/>
          </a:xfrm>
          <a:prstGeom prst="rect">
            <a:avLst/>
          </a:prstGeom>
          <a:noFill/>
        </p:spPr>
        <p:txBody>
          <a:bodyPr wrap="square">
            <a:spAutoFit/>
          </a:bodyPr>
          <a:lstStyle/>
          <a:p>
            <a:pPr algn="l">
              <a:defRPr sz="1050" b="0">
                <a:solidFill>
                  <a:srgbClr val="69717A"/>
                </a:solidFill>
                <a:latin typeface="Aptos"/>
              </a:defRPr>
            </a:pPr>
            <a:r>
              <a:t>Public service announcement</a:t>
            </a:r>
          </a:p>
        </p:txBody>
      </p:sp>
      <p:sp>
        <p:nvSpPr>
          <p:cNvPr id="15" name="TextBox 14"/>
          <p:cNvSpPr txBox="1"/>
          <p:nvPr/>
        </p:nvSpPr>
        <p:spPr>
          <a:xfrm>
            <a:off x="731520" y="3063240"/>
            <a:ext cx="10515600" cy="320040"/>
          </a:xfrm>
          <a:prstGeom prst="rect">
            <a:avLst/>
          </a:prstGeom>
          <a:noFill/>
        </p:spPr>
        <p:txBody>
          <a:bodyPr wrap="square">
            <a:spAutoFit/>
          </a:bodyPr>
          <a:lstStyle/>
          <a:p>
            <a:pPr algn="l">
              <a:defRPr sz="1800" b="1">
                <a:solidFill>
                  <a:srgbClr val="1F3448"/>
                </a:solidFill>
                <a:latin typeface="Aptos"/>
              </a:defRPr>
            </a:pPr>
            <a:r>
              <a:t>Analytical goals</a:t>
            </a:r>
          </a:p>
        </p:txBody>
      </p:sp>
      <p:sp>
        <p:nvSpPr>
          <p:cNvPr id="16" name="Rounded Rectangle 15"/>
          <p:cNvSpPr/>
          <p:nvPr/>
        </p:nvSpPr>
        <p:spPr>
          <a:xfrm>
            <a:off x="731520" y="3520440"/>
            <a:ext cx="5029200" cy="777240"/>
          </a:xfrm>
          <a:prstGeom prst="roundRect">
            <a:avLst/>
          </a:prstGeom>
          <a:solidFill>
            <a:srgbClr val="F2F5F7"/>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31520" y="3520440"/>
            <a:ext cx="64008" cy="777240"/>
          </a:xfrm>
          <a:prstGeom prst="rect">
            <a:avLst/>
          </a:prstGeom>
          <a:solidFill>
            <a:srgbClr val="34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3675888"/>
            <a:ext cx="4709160" cy="228600"/>
          </a:xfrm>
          <a:prstGeom prst="rect">
            <a:avLst/>
          </a:prstGeom>
          <a:noFill/>
        </p:spPr>
        <p:txBody>
          <a:bodyPr wrap="square">
            <a:spAutoFit/>
          </a:bodyPr>
          <a:lstStyle/>
          <a:p>
            <a:pPr algn="l">
              <a:defRPr sz="1050" b="1">
                <a:solidFill>
                  <a:srgbClr val="69717A"/>
                </a:solidFill>
                <a:latin typeface="Aptos"/>
              </a:defRPr>
            </a:pPr>
            <a:r>
              <a:t>Compare conversion</a:t>
            </a:r>
          </a:p>
        </p:txBody>
      </p:sp>
      <p:sp>
        <p:nvSpPr>
          <p:cNvPr id="19" name="TextBox 18"/>
          <p:cNvSpPr txBox="1"/>
          <p:nvPr/>
        </p:nvSpPr>
        <p:spPr>
          <a:xfrm>
            <a:off x="914400" y="4023360"/>
            <a:ext cx="4709160" cy="384048"/>
          </a:xfrm>
          <a:prstGeom prst="rect">
            <a:avLst/>
          </a:prstGeom>
          <a:noFill/>
        </p:spPr>
        <p:txBody>
          <a:bodyPr wrap="square">
            <a:spAutoFit/>
          </a:bodyPr>
          <a:lstStyle/>
          <a:p>
            <a:pPr algn="l">
              <a:defRPr sz="2200" b="1">
                <a:solidFill>
                  <a:srgbClr val="1F3448"/>
                </a:solidFill>
                <a:latin typeface="Aptos"/>
              </a:defRPr>
            </a:pPr>
            <a:endParaRPr/>
          </a:p>
        </p:txBody>
      </p:sp>
      <p:sp>
        <p:nvSpPr>
          <p:cNvPr id="20" name="TextBox 19"/>
          <p:cNvSpPr txBox="1"/>
          <p:nvPr/>
        </p:nvSpPr>
        <p:spPr>
          <a:xfrm>
            <a:off x="914400" y="4507992"/>
            <a:ext cx="4709160" cy="0"/>
          </a:xfrm>
          <a:prstGeom prst="rect">
            <a:avLst/>
          </a:prstGeom>
          <a:noFill/>
        </p:spPr>
        <p:txBody>
          <a:bodyPr wrap="square">
            <a:spAutoFit/>
          </a:bodyPr>
          <a:lstStyle/>
          <a:p>
            <a:pPr algn="l">
              <a:defRPr sz="1050" b="0">
                <a:solidFill>
                  <a:srgbClr val="69717A"/>
                </a:solidFill>
                <a:latin typeface="Aptos"/>
              </a:defRPr>
            </a:pPr>
            <a:r>
              <a:t>Measure the conversion-rate gap between groups.</a:t>
            </a:r>
          </a:p>
        </p:txBody>
      </p:sp>
      <p:sp>
        <p:nvSpPr>
          <p:cNvPr id="21" name="Rounded Rectangle 20"/>
          <p:cNvSpPr/>
          <p:nvPr/>
        </p:nvSpPr>
        <p:spPr>
          <a:xfrm>
            <a:off x="6217920" y="3520440"/>
            <a:ext cx="5029200" cy="777240"/>
          </a:xfrm>
          <a:prstGeom prst="roundRect">
            <a:avLst/>
          </a:prstGeom>
          <a:solidFill>
            <a:srgbClr val="F2F5F7"/>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17920" y="3520440"/>
            <a:ext cx="64008" cy="777240"/>
          </a:xfrm>
          <a:prstGeom prst="rect">
            <a:avLst/>
          </a:prstGeom>
          <a:solidFill>
            <a:srgbClr val="34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3675888"/>
            <a:ext cx="4709160" cy="228600"/>
          </a:xfrm>
          <a:prstGeom prst="rect">
            <a:avLst/>
          </a:prstGeom>
          <a:noFill/>
        </p:spPr>
        <p:txBody>
          <a:bodyPr wrap="square">
            <a:spAutoFit/>
          </a:bodyPr>
          <a:lstStyle/>
          <a:p>
            <a:pPr algn="l">
              <a:defRPr sz="1050" b="1">
                <a:solidFill>
                  <a:srgbClr val="69717A"/>
                </a:solidFill>
                <a:latin typeface="Aptos"/>
              </a:defRPr>
            </a:pPr>
            <a:r>
              <a:t>Quantify improvement</a:t>
            </a:r>
          </a:p>
        </p:txBody>
      </p:sp>
      <p:sp>
        <p:nvSpPr>
          <p:cNvPr id="24" name="TextBox 23"/>
          <p:cNvSpPr txBox="1"/>
          <p:nvPr/>
        </p:nvSpPr>
        <p:spPr>
          <a:xfrm>
            <a:off x="6400800" y="4023360"/>
            <a:ext cx="4709160" cy="384048"/>
          </a:xfrm>
          <a:prstGeom prst="rect">
            <a:avLst/>
          </a:prstGeom>
          <a:noFill/>
        </p:spPr>
        <p:txBody>
          <a:bodyPr wrap="square">
            <a:spAutoFit/>
          </a:bodyPr>
          <a:lstStyle/>
          <a:p>
            <a:pPr algn="l">
              <a:defRPr sz="2200" b="1">
                <a:solidFill>
                  <a:srgbClr val="1F3448"/>
                </a:solidFill>
                <a:latin typeface="Aptos"/>
              </a:defRPr>
            </a:pPr>
            <a:endParaRPr/>
          </a:p>
        </p:txBody>
      </p:sp>
      <p:sp>
        <p:nvSpPr>
          <p:cNvPr id="25" name="TextBox 24"/>
          <p:cNvSpPr txBox="1"/>
          <p:nvPr/>
        </p:nvSpPr>
        <p:spPr>
          <a:xfrm>
            <a:off x="6400800" y="4507992"/>
            <a:ext cx="4709160" cy="0"/>
          </a:xfrm>
          <a:prstGeom prst="rect">
            <a:avLst/>
          </a:prstGeom>
          <a:noFill/>
        </p:spPr>
        <p:txBody>
          <a:bodyPr wrap="square">
            <a:spAutoFit/>
          </a:bodyPr>
          <a:lstStyle/>
          <a:p>
            <a:pPr algn="l">
              <a:defRPr sz="1050" b="0">
                <a:solidFill>
                  <a:srgbClr val="69717A"/>
                </a:solidFill>
                <a:latin typeface="Aptos"/>
              </a:defRPr>
            </a:pPr>
            <a:r>
              <a:t>Translate the gap into relative uplift.</a:t>
            </a:r>
          </a:p>
        </p:txBody>
      </p:sp>
      <p:sp>
        <p:nvSpPr>
          <p:cNvPr id="26" name="Rounded Rectangle 25"/>
          <p:cNvSpPr/>
          <p:nvPr/>
        </p:nvSpPr>
        <p:spPr>
          <a:xfrm>
            <a:off x="731520" y="4480560"/>
            <a:ext cx="5029200" cy="777240"/>
          </a:xfrm>
          <a:prstGeom prst="roundRect">
            <a:avLst/>
          </a:prstGeom>
          <a:solidFill>
            <a:srgbClr val="F2F5F7"/>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31520" y="4480560"/>
            <a:ext cx="64008" cy="777240"/>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4400" y="4636008"/>
            <a:ext cx="4709160" cy="228600"/>
          </a:xfrm>
          <a:prstGeom prst="rect">
            <a:avLst/>
          </a:prstGeom>
          <a:noFill/>
        </p:spPr>
        <p:txBody>
          <a:bodyPr wrap="square">
            <a:spAutoFit/>
          </a:bodyPr>
          <a:lstStyle/>
          <a:p>
            <a:pPr algn="l">
              <a:defRPr sz="1050" b="1">
                <a:solidFill>
                  <a:srgbClr val="69717A"/>
                </a:solidFill>
                <a:latin typeface="Aptos"/>
              </a:defRPr>
            </a:pPr>
            <a:r>
              <a:t>Understand timing</a:t>
            </a:r>
          </a:p>
        </p:txBody>
      </p:sp>
      <p:sp>
        <p:nvSpPr>
          <p:cNvPr id="29" name="TextBox 28"/>
          <p:cNvSpPr txBox="1"/>
          <p:nvPr/>
        </p:nvSpPr>
        <p:spPr>
          <a:xfrm>
            <a:off x="914400" y="4983480"/>
            <a:ext cx="4709160" cy="384048"/>
          </a:xfrm>
          <a:prstGeom prst="rect">
            <a:avLst/>
          </a:prstGeom>
          <a:noFill/>
        </p:spPr>
        <p:txBody>
          <a:bodyPr wrap="square">
            <a:spAutoFit/>
          </a:bodyPr>
          <a:lstStyle/>
          <a:p>
            <a:pPr algn="l">
              <a:defRPr sz="2200" b="1">
                <a:solidFill>
                  <a:srgbClr val="1F3448"/>
                </a:solidFill>
                <a:latin typeface="Aptos"/>
              </a:defRPr>
            </a:pPr>
            <a:endParaRPr/>
          </a:p>
        </p:txBody>
      </p:sp>
      <p:sp>
        <p:nvSpPr>
          <p:cNvPr id="30" name="TextBox 29"/>
          <p:cNvSpPr txBox="1"/>
          <p:nvPr/>
        </p:nvSpPr>
        <p:spPr>
          <a:xfrm>
            <a:off x="914400" y="5468112"/>
            <a:ext cx="4709160" cy="0"/>
          </a:xfrm>
          <a:prstGeom prst="rect">
            <a:avLst/>
          </a:prstGeom>
          <a:noFill/>
        </p:spPr>
        <p:txBody>
          <a:bodyPr wrap="square">
            <a:spAutoFit/>
          </a:bodyPr>
          <a:lstStyle/>
          <a:p>
            <a:pPr algn="l">
              <a:defRPr sz="1050" b="0">
                <a:solidFill>
                  <a:srgbClr val="69717A"/>
                </a:solidFill>
                <a:latin typeface="Aptos"/>
              </a:defRPr>
            </a:pPr>
            <a:r>
              <a:t>Explore performance by hour and day.</a:t>
            </a:r>
          </a:p>
        </p:txBody>
      </p:sp>
      <p:sp>
        <p:nvSpPr>
          <p:cNvPr id="31" name="Rounded Rectangle 30"/>
          <p:cNvSpPr/>
          <p:nvPr/>
        </p:nvSpPr>
        <p:spPr>
          <a:xfrm>
            <a:off x="6217920" y="4480560"/>
            <a:ext cx="5029200" cy="777240"/>
          </a:xfrm>
          <a:prstGeom prst="roundRect">
            <a:avLst/>
          </a:prstGeom>
          <a:solidFill>
            <a:srgbClr val="F2F5F7"/>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17920" y="4480560"/>
            <a:ext cx="64008" cy="777240"/>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0" y="4636008"/>
            <a:ext cx="4709160" cy="228600"/>
          </a:xfrm>
          <a:prstGeom prst="rect">
            <a:avLst/>
          </a:prstGeom>
          <a:noFill/>
        </p:spPr>
        <p:txBody>
          <a:bodyPr wrap="square">
            <a:spAutoFit/>
          </a:bodyPr>
          <a:lstStyle/>
          <a:p>
            <a:pPr algn="l">
              <a:defRPr sz="1050" b="1">
                <a:solidFill>
                  <a:srgbClr val="69717A"/>
                </a:solidFill>
                <a:latin typeface="Aptos"/>
              </a:defRPr>
            </a:pPr>
            <a:r>
              <a:t>Support decisions</a:t>
            </a:r>
          </a:p>
        </p:txBody>
      </p:sp>
      <p:sp>
        <p:nvSpPr>
          <p:cNvPr id="34" name="TextBox 33"/>
          <p:cNvSpPr txBox="1"/>
          <p:nvPr/>
        </p:nvSpPr>
        <p:spPr>
          <a:xfrm>
            <a:off x="6400800" y="4983480"/>
            <a:ext cx="4709160" cy="384048"/>
          </a:xfrm>
          <a:prstGeom prst="rect">
            <a:avLst/>
          </a:prstGeom>
          <a:noFill/>
        </p:spPr>
        <p:txBody>
          <a:bodyPr wrap="square">
            <a:spAutoFit/>
          </a:bodyPr>
          <a:lstStyle/>
          <a:p>
            <a:pPr algn="l">
              <a:defRPr sz="2200" b="1">
                <a:solidFill>
                  <a:srgbClr val="1F3448"/>
                </a:solidFill>
                <a:latin typeface="Aptos"/>
              </a:defRPr>
            </a:pPr>
            <a:endParaRPr/>
          </a:p>
        </p:txBody>
      </p:sp>
      <p:sp>
        <p:nvSpPr>
          <p:cNvPr id="35" name="TextBox 34"/>
          <p:cNvSpPr txBox="1"/>
          <p:nvPr/>
        </p:nvSpPr>
        <p:spPr>
          <a:xfrm>
            <a:off x="6400800" y="5468112"/>
            <a:ext cx="4709160" cy="0"/>
          </a:xfrm>
          <a:prstGeom prst="rect">
            <a:avLst/>
          </a:prstGeom>
          <a:noFill/>
        </p:spPr>
        <p:txBody>
          <a:bodyPr wrap="square">
            <a:spAutoFit/>
          </a:bodyPr>
          <a:lstStyle/>
          <a:p>
            <a:pPr algn="l">
              <a:defRPr sz="1050" b="0">
                <a:solidFill>
                  <a:srgbClr val="69717A"/>
                </a:solidFill>
                <a:latin typeface="Aptos"/>
              </a:defRPr>
            </a:pPr>
            <a:r>
              <a:t>Turn patterns into hypotheses for the next test.</a:t>
            </a:r>
          </a:p>
        </p:txBody>
      </p:sp>
      <p:sp>
        <p:nvSpPr>
          <p:cNvPr id="36" name="Rectangle 35"/>
          <p:cNvSpPr/>
          <p:nvPr/>
        </p:nvSpPr>
        <p:spPr>
          <a:xfrm>
            <a:off x="411480" y="6428232"/>
            <a:ext cx="11338560" cy="10972"/>
          </a:xfrm>
          <a:prstGeom prst="rect">
            <a:avLst/>
          </a:prstGeom>
          <a:solidFill>
            <a:srgbClr val="34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473952"/>
            <a:ext cx="10810494" cy="223138"/>
          </a:xfrm>
          <a:prstGeom prst="rect">
            <a:avLst/>
          </a:prstGeom>
          <a:noFill/>
        </p:spPr>
        <p:txBody>
          <a:bodyPr wrap="square">
            <a:spAutoFit/>
          </a:bodyPr>
          <a:lstStyle/>
          <a:p>
            <a:pPr algn="l">
              <a:defRPr sz="850" b="0">
                <a:solidFill>
                  <a:srgbClr val="69717A"/>
                </a:solidFill>
                <a:latin typeface="Aptos"/>
              </a:defRPr>
            </a:pPr>
            <a:r>
              <a:rPr dirty="0"/>
              <a:t>Author: Teresa Mendes Coelho                                                </a:t>
            </a:r>
            <a:r>
              <a:rPr lang="pt-PT" dirty="0"/>
              <a:t>                                                                                                                                                                                                                                                                                   </a:t>
            </a:r>
            <a:r>
              <a:rPr dirty="0"/>
              <a:t>    </a:t>
            </a:r>
            <a:r>
              <a:rPr dirty="0" err="1"/>
              <a:t>Ironhack</a:t>
            </a:r>
            <a:r>
              <a:rPr dirty="0"/>
              <a:t> bootcamp Data Analytics 2026</a:t>
            </a:r>
          </a:p>
        </p:txBody>
      </p:sp>
      <p:pic>
        <p:nvPicPr>
          <p:cNvPr id="38" name="Picture 37" descr="3e6d4280-1049-4738-ab33-95281aa5f1cd.png"/>
          <p:cNvPicPr>
            <a:picLocks noChangeAspect="1"/>
          </p:cNvPicPr>
          <p:nvPr/>
        </p:nvPicPr>
        <p:blipFill>
          <a:blip r:embed="rId2"/>
          <a:stretch>
            <a:fillRect/>
          </a:stretch>
        </p:blipFill>
        <p:spPr>
          <a:xfrm>
            <a:off x="11313414" y="6510528"/>
            <a:ext cx="253746" cy="2743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10972800" cy="502920"/>
          </a:xfrm>
          <a:prstGeom prst="rect">
            <a:avLst/>
          </a:prstGeom>
          <a:noFill/>
        </p:spPr>
        <p:txBody>
          <a:bodyPr wrap="square">
            <a:spAutoFit/>
          </a:bodyPr>
          <a:lstStyle/>
          <a:p>
            <a:pPr algn="l">
              <a:defRPr sz="2800" b="1">
                <a:solidFill>
                  <a:srgbClr val="1F3448"/>
                </a:solidFill>
                <a:latin typeface="Aptos"/>
              </a:defRPr>
            </a:pPr>
            <a:r>
              <a:t>2. Data &amp; Analytical Approach</a:t>
            </a:r>
          </a:p>
        </p:txBody>
      </p:sp>
      <p:sp>
        <p:nvSpPr>
          <p:cNvPr id="3" name="TextBox 2"/>
          <p:cNvSpPr txBox="1"/>
          <p:nvPr/>
        </p:nvSpPr>
        <p:spPr>
          <a:xfrm>
            <a:off x="621792" y="896112"/>
            <a:ext cx="10789920" cy="347472"/>
          </a:xfrm>
          <a:prstGeom prst="rect">
            <a:avLst/>
          </a:prstGeom>
          <a:noFill/>
        </p:spPr>
        <p:txBody>
          <a:bodyPr wrap="square">
            <a:spAutoFit/>
          </a:bodyPr>
          <a:lstStyle/>
          <a:p>
            <a:pPr algn="l">
              <a:defRPr sz="1250" b="0">
                <a:solidFill>
                  <a:srgbClr val="69717A"/>
                </a:solidFill>
                <a:latin typeface="Aptos"/>
              </a:defRPr>
            </a:pPr>
            <a:r>
              <a:t>Cleaned marketing A/B test dataset explored with Python and Tableau</a:t>
            </a:r>
          </a:p>
        </p:txBody>
      </p:sp>
      <p:sp>
        <p:nvSpPr>
          <p:cNvPr id="4" name="Rounded Rectangle 3"/>
          <p:cNvSpPr/>
          <p:nvPr/>
        </p:nvSpPr>
        <p:spPr>
          <a:xfrm>
            <a:off x="731520" y="1417320"/>
            <a:ext cx="3383280" cy="1325880"/>
          </a:xfrm>
          <a:prstGeom prst="roundRect">
            <a:avLst/>
          </a:prstGeom>
          <a:solidFill>
            <a:srgbClr val="E5F2FA"/>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417320"/>
            <a:ext cx="64008" cy="1325880"/>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572768"/>
            <a:ext cx="3063240" cy="228600"/>
          </a:xfrm>
          <a:prstGeom prst="rect">
            <a:avLst/>
          </a:prstGeom>
          <a:noFill/>
        </p:spPr>
        <p:txBody>
          <a:bodyPr wrap="square">
            <a:spAutoFit/>
          </a:bodyPr>
          <a:lstStyle/>
          <a:p>
            <a:pPr algn="l">
              <a:defRPr sz="1050" b="1">
                <a:solidFill>
                  <a:srgbClr val="69717A"/>
                </a:solidFill>
                <a:latin typeface="Aptos"/>
              </a:defRPr>
            </a:pPr>
            <a:r>
              <a:t>DATA</a:t>
            </a:r>
          </a:p>
        </p:txBody>
      </p:sp>
      <p:sp>
        <p:nvSpPr>
          <p:cNvPr id="7" name="TextBox 6"/>
          <p:cNvSpPr txBox="1"/>
          <p:nvPr/>
        </p:nvSpPr>
        <p:spPr>
          <a:xfrm>
            <a:off x="914400" y="1920240"/>
            <a:ext cx="3063240" cy="384048"/>
          </a:xfrm>
          <a:prstGeom prst="rect">
            <a:avLst/>
          </a:prstGeom>
          <a:noFill/>
        </p:spPr>
        <p:txBody>
          <a:bodyPr wrap="square">
            <a:spAutoFit/>
          </a:bodyPr>
          <a:lstStyle/>
          <a:p>
            <a:pPr algn="l">
              <a:defRPr sz="2200" b="1">
                <a:solidFill>
                  <a:srgbClr val="1F3448"/>
                </a:solidFill>
                <a:latin typeface="Aptos"/>
              </a:defRPr>
            </a:pPr>
            <a:r>
              <a:t>marketing_AB_clean.csv</a:t>
            </a:r>
          </a:p>
        </p:txBody>
      </p:sp>
      <p:sp>
        <p:nvSpPr>
          <p:cNvPr id="8" name="TextBox 7"/>
          <p:cNvSpPr txBox="1"/>
          <p:nvPr/>
        </p:nvSpPr>
        <p:spPr>
          <a:xfrm>
            <a:off x="914400" y="2404872"/>
            <a:ext cx="3063240" cy="274320"/>
          </a:xfrm>
          <a:prstGeom prst="rect">
            <a:avLst/>
          </a:prstGeom>
          <a:noFill/>
        </p:spPr>
        <p:txBody>
          <a:bodyPr wrap="square">
            <a:spAutoFit/>
          </a:bodyPr>
          <a:lstStyle/>
          <a:p>
            <a:pPr algn="l">
              <a:defRPr sz="1050" b="0">
                <a:solidFill>
                  <a:srgbClr val="69717A"/>
                </a:solidFill>
                <a:latin typeface="Aptos"/>
              </a:defRPr>
            </a:pPr>
            <a:r>
              <a:t>Cleaned dataset used for the project.</a:t>
            </a:r>
          </a:p>
        </p:txBody>
      </p:sp>
      <p:sp>
        <p:nvSpPr>
          <p:cNvPr id="9" name="Rounded Rectangle 8"/>
          <p:cNvSpPr/>
          <p:nvPr/>
        </p:nvSpPr>
        <p:spPr>
          <a:xfrm>
            <a:off x="4389120" y="1417320"/>
            <a:ext cx="3383280" cy="1325880"/>
          </a:xfrm>
          <a:prstGeom prst="roundRect">
            <a:avLst/>
          </a:prstGeom>
          <a:solidFill>
            <a:srgbClr val="F2F5F7"/>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89120" y="1417320"/>
            <a:ext cx="64008" cy="1325880"/>
          </a:xfrm>
          <a:prstGeom prst="rect">
            <a:avLst/>
          </a:prstGeom>
          <a:solidFill>
            <a:srgbClr val="34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1572768"/>
            <a:ext cx="3063240" cy="228600"/>
          </a:xfrm>
          <a:prstGeom prst="rect">
            <a:avLst/>
          </a:prstGeom>
          <a:noFill/>
        </p:spPr>
        <p:txBody>
          <a:bodyPr wrap="square">
            <a:spAutoFit/>
          </a:bodyPr>
          <a:lstStyle/>
          <a:p>
            <a:pPr algn="l">
              <a:defRPr sz="1050" b="1">
                <a:solidFill>
                  <a:srgbClr val="69717A"/>
                </a:solidFill>
                <a:latin typeface="Aptos"/>
              </a:defRPr>
            </a:pPr>
            <a:r>
              <a:t>EXPERIMENT</a:t>
            </a:r>
          </a:p>
        </p:txBody>
      </p:sp>
      <p:sp>
        <p:nvSpPr>
          <p:cNvPr id="12" name="TextBox 11"/>
          <p:cNvSpPr txBox="1"/>
          <p:nvPr/>
        </p:nvSpPr>
        <p:spPr>
          <a:xfrm>
            <a:off x="4572000" y="1920240"/>
            <a:ext cx="3063240" cy="384048"/>
          </a:xfrm>
          <a:prstGeom prst="rect">
            <a:avLst/>
          </a:prstGeom>
          <a:noFill/>
        </p:spPr>
        <p:txBody>
          <a:bodyPr wrap="square">
            <a:spAutoFit/>
          </a:bodyPr>
          <a:lstStyle/>
          <a:p>
            <a:pPr algn="l">
              <a:defRPr sz="2200" b="1">
                <a:solidFill>
                  <a:srgbClr val="1F3448"/>
                </a:solidFill>
                <a:latin typeface="Aptos"/>
              </a:defRPr>
            </a:pPr>
            <a:r>
              <a:t>AD vs PSA</a:t>
            </a:r>
          </a:p>
        </p:txBody>
      </p:sp>
      <p:sp>
        <p:nvSpPr>
          <p:cNvPr id="13" name="TextBox 12"/>
          <p:cNvSpPr txBox="1"/>
          <p:nvPr/>
        </p:nvSpPr>
        <p:spPr>
          <a:xfrm>
            <a:off x="4572000" y="2404872"/>
            <a:ext cx="3063240" cy="274320"/>
          </a:xfrm>
          <a:prstGeom prst="rect">
            <a:avLst/>
          </a:prstGeom>
          <a:noFill/>
        </p:spPr>
        <p:txBody>
          <a:bodyPr wrap="square">
            <a:spAutoFit/>
          </a:bodyPr>
          <a:lstStyle/>
          <a:p>
            <a:pPr algn="l">
              <a:defRPr sz="1050" b="0">
                <a:solidFill>
                  <a:srgbClr val="69717A"/>
                </a:solidFill>
                <a:latin typeface="Aptos"/>
              </a:defRPr>
            </a:pPr>
            <a:r>
              <a:t>Experimental groups compared throughout the analysis.</a:t>
            </a:r>
          </a:p>
        </p:txBody>
      </p:sp>
      <p:sp>
        <p:nvSpPr>
          <p:cNvPr id="14" name="Rounded Rectangle 13"/>
          <p:cNvSpPr/>
          <p:nvPr/>
        </p:nvSpPr>
        <p:spPr>
          <a:xfrm>
            <a:off x="8046720" y="1417320"/>
            <a:ext cx="3383280" cy="1325880"/>
          </a:xfrm>
          <a:prstGeom prst="roundRect">
            <a:avLst/>
          </a:prstGeom>
          <a:solidFill>
            <a:srgbClr val="F2F5F7"/>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1417320"/>
            <a:ext cx="64008" cy="1325880"/>
          </a:xfrm>
          <a:prstGeom prst="rect">
            <a:avLst/>
          </a:prstGeom>
          <a:solidFill>
            <a:srgbClr val="3C91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0" y="1572768"/>
            <a:ext cx="3063240" cy="228600"/>
          </a:xfrm>
          <a:prstGeom prst="rect">
            <a:avLst/>
          </a:prstGeom>
          <a:noFill/>
        </p:spPr>
        <p:txBody>
          <a:bodyPr wrap="square">
            <a:spAutoFit/>
          </a:bodyPr>
          <a:lstStyle/>
          <a:p>
            <a:pPr algn="l">
              <a:defRPr sz="1050" b="1">
                <a:solidFill>
                  <a:srgbClr val="69717A"/>
                </a:solidFill>
                <a:latin typeface="Aptos"/>
              </a:defRPr>
            </a:pPr>
            <a:r>
              <a:t>TOOLS</a:t>
            </a:r>
          </a:p>
        </p:txBody>
      </p:sp>
      <p:sp>
        <p:nvSpPr>
          <p:cNvPr id="17" name="TextBox 16"/>
          <p:cNvSpPr txBox="1"/>
          <p:nvPr/>
        </p:nvSpPr>
        <p:spPr>
          <a:xfrm>
            <a:off x="8229600" y="1920240"/>
            <a:ext cx="3063240" cy="384048"/>
          </a:xfrm>
          <a:prstGeom prst="rect">
            <a:avLst/>
          </a:prstGeom>
          <a:noFill/>
        </p:spPr>
        <p:txBody>
          <a:bodyPr wrap="square">
            <a:spAutoFit/>
          </a:bodyPr>
          <a:lstStyle/>
          <a:p>
            <a:pPr algn="l">
              <a:defRPr sz="2200" b="1">
                <a:solidFill>
                  <a:srgbClr val="1F3448"/>
                </a:solidFill>
                <a:latin typeface="Aptos"/>
              </a:defRPr>
            </a:pPr>
            <a:r>
              <a:t>Python + Tableau</a:t>
            </a:r>
          </a:p>
        </p:txBody>
      </p:sp>
      <p:sp>
        <p:nvSpPr>
          <p:cNvPr id="18" name="TextBox 17"/>
          <p:cNvSpPr txBox="1"/>
          <p:nvPr/>
        </p:nvSpPr>
        <p:spPr>
          <a:xfrm>
            <a:off x="8229600" y="2404872"/>
            <a:ext cx="3063240" cy="274320"/>
          </a:xfrm>
          <a:prstGeom prst="rect">
            <a:avLst/>
          </a:prstGeom>
          <a:noFill/>
        </p:spPr>
        <p:txBody>
          <a:bodyPr wrap="square">
            <a:spAutoFit/>
          </a:bodyPr>
          <a:lstStyle/>
          <a:p>
            <a:pPr algn="l">
              <a:defRPr sz="1050" b="0">
                <a:solidFill>
                  <a:srgbClr val="69717A"/>
                </a:solidFill>
                <a:latin typeface="Aptos"/>
              </a:defRPr>
            </a:pPr>
            <a:r>
              <a:t>Notebook analysis, calculated fields and dashboards.</a:t>
            </a:r>
          </a:p>
        </p:txBody>
      </p:sp>
      <p:sp>
        <p:nvSpPr>
          <p:cNvPr id="19" name="TextBox 18"/>
          <p:cNvSpPr txBox="1"/>
          <p:nvPr/>
        </p:nvSpPr>
        <p:spPr>
          <a:xfrm>
            <a:off x="731520" y="3246120"/>
            <a:ext cx="10515600" cy="320040"/>
          </a:xfrm>
          <a:prstGeom prst="rect">
            <a:avLst/>
          </a:prstGeom>
          <a:noFill/>
        </p:spPr>
        <p:txBody>
          <a:bodyPr wrap="square">
            <a:spAutoFit/>
          </a:bodyPr>
          <a:lstStyle/>
          <a:p>
            <a:pPr algn="l">
              <a:defRPr sz="1800" b="1">
                <a:solidFill>
                  <a:srgbClr val="1F3448"/>
                </a:solidFill>
                <a:latin typeface="Aptos"/>
              </a:defRPr>
            </a:pPr>
            <a:r>
              <a:t>Core metrics</a:t>
            </a:r>
          </a:p>
        </p:txBody>
      </p:sp>
      <p:sp>
        <p:nvSpPr>
          <p:cNvPr id="20" name="TextBox 19"/>
          <p:cNvSpPr txBox="1"/>
          <p:nvPr/>
        </p:nvSpPr>
        <p:spPr>
          <a:xfrm>
            <a:off x="914400" y="3703320"/>
            <a:ext cx="2560320" cy="274320"/>
          </a:xfrm>
          <a:prstGeom prst="rect">
            <a:avLst/>
          </a:prstGeom>
          <a:noFill/>
        </p:spPr>
        <p:txBody>
          <a:bodyPr wrap="square">
            <a:spAutoFit/>
          </a:bodyPr>
          <a:lstStyle/>
          <a:p>
            <a:pPr algn="l">
              <a:defRPr sz="1250" b="1">
                <a:solidFill>
                  <a:srgbClr val="3C78AA"/>
                </a:solidFill>
                <a:latin typeface="Aptos"/>
              </a:defRPr>
            </a:pPr>
            <a:r>
              <a:t>Conversion Rate</a:t>
            </a:r>
          </a:p>
        </p:txBody>
      </p:sp>
      <p:sp>
        <p:nvSpPr>
          <p:cNvPr id="21" name="TextBox 20"/>
          <p:cNvSpPr txBox="1"/>
          <p:nvPr/>
        </p:nvSpPr>
        <p:spPr>
          <a:xfrm>
            <a:off x="3474720" y="3703320"/>
            <a:ext cx="7315200" cy="274320"/>
          </a:xfrm>
          <a:prstGeom prst="rect">
            <a:avLst/>
          </a:prstGeom>
          <a:noFill/>
        </p:spPr>
        <p:txBody>
          <a:bodyPr wrap="square">
            <a:spAutoFit/>
          </a:bodyPr>
          <a:lstStyle/>
          <a:p>
            <a:pPr algn="l">
              <a:defRPr sz="1250" b="0">
                <a:solidFill>
                  <a:srgbClr val="2D3238"/>
                </a:solidFill>
                <a:latin typeface="Aptos"/>
              </a:defRPr>
            </a:pPr>
            <a:r>
              <a:t>Observed conversion performance.</a:t>
            </a:r>
          </a:p>
        </p:txBody>
      </p:sp>
      <p:sp>
        <p:nvSpPr>
          <p:cNvPr id="22" name="TextBox 21"/>
          <p:cNvSpPr txBox="1"/>
          <p:nvPr/>
        </p:nvSpPr>
        <p:spPr>
          <a:xfrm>
            <a:off x="914400" y="4233672"/>
            <a:ext cx="2560320" cy="274320"/>
          </a:xfrm>
          <a:prstGeom prst="rect">
            <a:avLst/>
          </a:prstGeom>
          <a:noFill/>
        </p:spPr>
        <p:txBody>
          <a:bodyPr wrap="square">
            <a:spAutoFit/>
          </a:bodyPr>
          <a:lstStyle/>
          <a:p>
            <a:pPr algn="l">
              <a:defRPr sz="1250" b="1">
                <a:solidFill>
                  <a:srgbClr val="3C78AA"/>
                </a:solidFill>
                <a:latin typeface="Aptos"/>
              </a:defRPr>
            </a:pPr>
            <a:r>
              <a:t>Conversion Rate Difference</a:t>
            </a:r>
          </a:p>
        </p:txBody>
      </p:sp>
      <p:sp>
        <p:nvSpPr>
          <p:cNvPr id="23" name="TextBox 22"/>
          <p:cNvSpPr txBox="1"/>
          <p:nvPr/>
        </p:nvSpPr>
        <p:spPr>
          <a:xfrm>
            <a:off x="3474720" y="4233672"/>
            <a:ext cx="7315200" cy="274320"/>
          </a:xfrm>
          <a:prstGeom prst="rect">
            <a:avLst/>
          </a:prstGeom>
          <a:noFill/>
        </p:spPr>
        <p:txBody>
          <a:bodyPr wrap="square">
            <a:spAutoFit/>
          </a:bodyPr>
          <a:lstStyle/>
          <a:p>
            <a:pPr algn="l">
              <a:defRPr sz="1250" b="0">
                <a:solidFill>
                  <a:srgbClr val="2D3238"/>
                </a:solidFill>
                <a:latin typeface="Aptos"/>
              </a:defRPr>
            </a:pPr>
            <a:r>
              <a:t>Gap between group conversion rates.</a:t>
            </a:r>
          </a:p>
        </p:txBody>
      </p:sp>
      <p:sp>
        <p:nvSpPr>
          <p:cNvPr id="24" name="TextBox 23"/>
          <p:cNvSpPr txBox="1"/>
          <p:nvPr/>
        </p:nvSpPr>
        <p:spPr>
          <a:xfrm>
            <a:off x="914400" y="4764024"/>
            <a:ext cx="2560320" cy="274320"/>
          </a:xfrm>
          <a:prstGeom prst="rect">
            <a:avLst/>
          </a:prstGeom>
          <a:noFill/>
        </p:spPr>
        <p:txBody>
          <a:bodyPr wrap="square">
            <a:spAutoFit/>
          </a:bodyPr>
          <a:lstStyle/>
          <a:p>
            <a:pPr algn="l">
              <a:defRPr sz="1250" b="1">
                <a:solidFill>
                  <a:srgbClr val="3C78AA"/>
                </a:solidFill>
                <a:latin typeface="Aptos"/>
              </a:defRPr>
            </a:pPr>
            <a:r>
              <a:t>Relative Improvement</a:t>
            </a:r>
          </a:p>
        </p:txBody>
      </p:sp>
      <p:sp>
        <p:nvSpPr>
          <p:cNvPr id="25" name="TextBox 24"/>
          <p:cNvSpPr txBox="1"/>
          <p:nvPr/>
        </p:nvSpPr>
        <p:spPr>
          <a:xfrm>
            <a:off x="3474720" y="4764024"/>
            <a:ext cx="7315200" cy="274320"/>
          </a:xfrm>
          <a:prstGeom prst="rect">
            <a:avLst/>
          </a:prstGeom>
          <a:noFill/>
        </p:spPr>
        <p:txBody>
          <a:bodyPr wrap="square">
            <a:spAutoFit/>
          </a:bodyPr>
          <a:lstStyle/>
          <a:p>
            <a:pPr algn="l">
              <a:defRPr sz="1250" b="0">
                <a:solidFill>
                  <a:srgbClr val="2D3238"/>
                </a:solidFill>
                <a:latin typeface="Aptos"/>
              </a:defRPr>
            </a:pPr>
            <a:r>
              <a:t>Relative uplift of AD compared with PSA.</a:t>
            </a:r>
          </a:p>
        </p:txBody>
      </p:sp>
      <p:sp>
        <p:nvSpPr>
          <p:cNvPr id="26" name="TextBox 25"/>
          <p:cNvSpPr txBox="1"/>
          <p:nvPr/>
        </p:nvSpPr>
        <p:spPr>
          <a:xfrm>
            <a:off x="914400" y="5294375"/>
            <a:ext cx="2560320" cy="274320"/>
          </a:xfrm>
          <a:prstGeom prst="rect">
            <a:avLst/>
          </a:prstGeom>
          <a:noFill/>
        </p:spPr>
        <p:txBody>
          <a:bodyPr wrap="square">
            <a:spAutoFit/>
          </a:bodyPr>
          <a:lstStyle/>
          <a:p>
            <a:pPr algn="l">
              <a:defRPr sz="1250" b="1">
                <a:solidFill>
                  <a:srgbClr val="3C78AA"/>
                </a:solidFill>
                <a:latin typeface="Aptos"/>
              </a:defRPr>
            </a:pPr>
            <a:r>
              <a:t>Total Ads</a:t>
            </a:r>
          </a:p>
        </p:txBody>
      </p:sp>
      <p:sp>
        <p:nvSpPr>
          <p:cNvPr id="27" name="TextBox 26"/>
          <p:cNvSpPr txBox="1"/>
          <p:nvPr/>
        </p:nvSpPr>
        <p:spPr>
          <a:xfrm>
            <a:off x="3474720" y="5294375"/>
            <a:ext cx="7315200" cy="274320"/>
          </a:xfrm>
          <a:prstGeom prst="rect">
            <a:avLst/>
          </a:prstGeom>
          <a:noFill/>
        </p:spPr>
        <p:txBody>
          <a:bodyPr wrap="square">
            <a:spAutoFit/>
          </a:bodyPr>
          <a:lstStyle/>
          <a:p>
            <a:pPr algn="l">
              <a:defRPr sz="1250" b="0">
                <a:solidFill>
                  <a:srgbClr val="2D3238"/>
                </a:solidFill>
                <a:latin typeface="Aptos"/>
              </a:defRPr>
            </a:pPr>
            <a:r>
              <a:t>Advertising volume by group and hour.</a:t>
            </a:r>
          </a:p>
        </p:txBody>
      </p:sp>
      <p:sp>
        <p:nvSpPr>
          <p:cNvPr id="28" name="Rectangle 27"/>
          <p:cNvSpPr/>
          <p:nvPr/>
        </p:nvSpPr>
        <p:spPr>
          <a:xfrm>
            <a:off x="411480" y="6428232"/>
            <a:ext cx="11338560" cy="10972"/>
          </a:xfrm>
          <a:prstGeom prst="rect">
            <a:avLst/>
          </a:prstGeom>
          <a:solidFill>
            <a:srgbClr val="34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6473952"/>
            <a:ext cx="10927080" cy="223138"/>
          </a:xfrm>
          <a:prstGeom prst="rect">
            <a:avLst/>
          </a:prstGeom>
          <a:noFill/>
        </p:spPr>
        <p:txBody>
          <a:bodyPr wrap="square">
            <a:spAutoFit/>
          </a:bodyPr>
          <a:lstStyle/>
          <a:p>
            <a:pPr algn="l">
              <a:defRPr sz="850" b="0">
                <a:solidFill>
                  <a:srgbClr val="69717A"/>
                </a:solidFill>
                <a:latin typeface="Aptos"/>
              </a:defRPr>
            </a:pPr>
            <a:r>
              <a:rPr dirty="0"/>
              <a:t>Author: Teresa Mendes Coelho                                                </a:t>
            </a:r>
            <a:r>
              <a:rPr lang="pt-PT" dirty="0"/>
              <a:t>                                                                                                                                                                                                                                                                                         </a:t>
            </a:r>
            <a:r>
              <a:rPr dirty="0"/>
              <a:t>    </a:t>
            </a:r>
            <a:r>
              <a:rPr dirty="0" err="1"/>
              <a:t>Ironhack</a:t>
            </a:r>
            <a:r>
              <a:rPr dirty="0"/>
              <a:t> bootcamp Data Analytics 2026</a:t>
            </a:r>
          </a:p>
        </p:txBody>
      </p:sp>
      <p:pic>
        <p:nvPicPr>
          <p:cNvPr id="30" name="Picture 29" descr="3e6d4280-1049-4738-ab33-95281aa5f1cd.png"/>
          <p:cNvPicPr>
            <a:picLocks noChangeAspect="1"/>
          </p:cNvPicPr>
          <p:nvPr/>
        </p:nvPicPr>
        <p:blipFill>
          <a:blip r:embed="rId2"/>
          <a:stretch>
            <a:fillRect/>
          </a:stretch>
        </p:blipFill>
        <p:spPr>
          <a:xfrm>
            <a:off x="11430000" y="6473952"/>
            <a:ext cx="253746" cy="2743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10972800" cy="502920"/>
          </a:xfrm>
          <a:prstGeom prst="rect">
            <a:avLst/>
          </a:prstGeom>
          <a:noFill/>
        </p:spPr>
        <p:txBody>
          <a:bodyPr wrap="square">
            <a:spAutoFit/>
          </a:bodyPr>
          <a:lstStyle/>
          <a:p>
            <a:pPr algn="l">
              <a:defRPr sz="2800" b="1">
                <a:solidFill>
                  <a:srgbClr val="1F3448"/>
                </a:solidFill>
                <a:latin typeface="Aptos"/>
              </a:defRPr>
            </a:pPr>
            <a:r>
              <a:t>3. Executive Summary</a:t>
            </a:r>
          </a:p>
        </p:txBody>
      </p:sp>
      <p:sp>
        <p:nvSpPr>
          <p:cNvPr id="3" name="TextBox 2"/>
          <p:cNvSpPr txBox="1"/>
          <p:nvPr/>
        </p:nvSpPr>
        <p:spPr>
          <a:xfrm>
            <a:off x="621792" y="896112"/>
            <a:ext cx="10789920" cy="347472"/>
          </a:xfrm>
          <a:prstGeom prst="rect">
            <a:avLst/>
          </a:prstGeom>
          <a:noFill/>
        </p:spPr>
        <p:txBody>
          <a:bodyPr wrap="square">
            <a:spAutoFit/>
          </a:bodyPr>
          <a:lstStyle/>
          <a:p>
            <a:pPr algn="l">
              <a:defRPr sz="1250" b="0">
                <a:solidFill>
                  <a:srgbClr val="69717A"/>
                </a:solidFill>
                <a:latin typeface="Aptos"/>
              </a:defRPr>
            </a:pPr>
            <a:r>
              <a:t>The AD group shows stronger observed conversion performance</a:t>
            </a:r>
          </a:p>
        </p:txBody>
      </p:sp>
      <p:sp>
        <p:nvSpPr>
          <p:cNvPr id="4" name="Rounded Rectangle 3"/>
          <p:cNvSpPr/>
          <p:nvPr/>
        </p:nvSpPr>
        <p:spPr>
          <a:xfrm>
            <a:off x="731520" y="1417320"/>
            <a:ext cx="2514600" cy="1417320"/>
          </a:xfrm>
          <a:prstGeom prst="roundRect">
            <a:avLst/>
          </a:prstGeom>
          <a:solidFill>
            <a:srgbClr val="E5F2FA"/>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417320"/>
            <a:ext cx="64008" cy="1417320"/>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572768"/>
            <a:ext cx="2194560" cy="228600"/>
          </a:xfrm>
          <a:prstGeom prst="rect">
            <a:avLst/>
          </a:prstGeom>
          <a:noFill/>
        </p:spPr>
        <p:txBody>
          <a:bodyPr wrap="square">
            <a:spAutoFit/>
          </a:bodyPr>
          <a:lstStyle/>
          <a:p>
            <a:pPr algn="l">
              <a:defRPr sz="1050" b="1">
                <a:solidFill>
                  <a:srgbClr val="69717A"/>
                </a:solidFill>
                <a:latin typeface="Aptos"/>
              </a:defRPr>
            </a:pPr>
            <a:r>
              <a:t>AD CONVERSION</a:t>
            </a:r>
          </a:p>
        </p:txBody>
      </p:sp>
      <p:sp>
        <p:nvSpPr>
          <p:cNvPr id="7" name="TextBox 6"/>
          <p:cNvSpPr txBox="1"/>
          <p:nvPr/>
        </p:nvSpPr>
        <p:spPr>
          <a:xfrm>
            <a:off x="914400" y="1920240"/>
            <a:ext cx="2194560" cy="384048"/>
          </a:xfrm>
          <a:prstGeom prst="rect">
            <a:avLst/>
          </a:prstGeom>
          <a:noFill/>
        </p:spPr>
        <p:txBody>
          <a:bodyPr wrap="square">
            <a:spAutoFit/>
          </a:bodyPr>
          <a:lstStyle/>
          <a:p>
            <a:pPr algn="l">
              <a:defRPr sz="2200" b="1">
                <a:solidFill>
                  <a:srgbClr val="1F3448"/>
                </a:solidFill>
                <a:latin typeface="Aptos"/>
              </a:defRPr>
            </a:pPr>
            <a:r>
              <a:t>2.55%</a:t>
            </a:r>
          </a:p>
        </p:txBody>
      </p:sp>
      <p:sp>
        <p:nvSpPr>
          <p:cNvPr id="8" name="TextBox 7"/>
          <p:cNvSpPr txBox="1"/>
          <p:nvPr/>
        </p:nvSpPr>
        <p:spPr>
          <a:xfrm>
            <a:off x="914400" y="2404872"/>
            <a:ext cx="2194560" cy="365760"/>
          </a:xfrm>
          <a:prstGeom prst="rect">
            <a:avLst/>
          </a:prstGeom>
          <a:noFill/>
        </p:spPr>
        <p:txBody>
          <a:bodyPr wrap="square">
            <a:spAutoFit/>
          </a:bodyPr>
          <a:lstStyle/>
          <a:p>
            <a:pPr algn="l">
              <a:defRPr sz="1050" b="0">
                <a:solidFill>
                  <a:srgbClr val="69717A"/>
                </a:solidFill>
                <a:latin typeface="Aptos"/>
              </a:defRPr>
            </a:pPr>
            <a:r>
              <a:t>Observed rate</a:t>
            </a:r>
          </a:p>
        </p:txBody>
      </p:sp>
      <p:sp>
        <p:nvSpPr>
          <p:cNvPr id="9" name="Rounded Rectangle 8"/>
          <p:cNvSpPr/>
          <p:nvPr/>
        </p:nvSpPr>
        <p:spPr>
          <a:xfrm>
            <a:off x="3429000" y="1417320"/>
            <a:ext cx="2514600" cy="1417320"/>
          </a:xfrm>
          <a:prstGeom prst="roundRect">
            <a:avLst/>
          </a:prstGeom>
          <a:solidFill>
            <a:srgbClr val="F2F5F7"/>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429000" y="1417320"/>
            <a:ext cx="64008" cy="1417320"/>
          </a:xfrm>
          <a:prstGeom prst="rect">
            <a:avLst/>
          </a:prstGeom>
          <a:solidFill>
            <a:srgbClr val="6971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11880" y="1572768"/>
            <a:ext cx="2194560" cy="228600"/>
          </a:xfrm>
          <a:prstGeom prst="rect">
            <a:avLst/>
          </a:prstGeom>
          <a:noFill/>
        </p:spPr>
        <p:txBody>
          <a:bodyPr wrap="square">
            <a:spAutoFit/>
          </a:bodyPr>
          <a:lstStyle/>
          <a:p>
            <a:pPr algn="l">
              <a:defRPr sz="1050" b="1">
                <a:solidFill>
                  <a:srgbClr val="69717A"/>
                </a:solidFill>
                <a:latin typeface="Aptos"/>
              </a:defRPr>
            </a:pPr>
            <a:r>
              <a:t>PSA CONVERSION</a:t>
            </a:r>
          </a:p>
        </p:txBody>
      </p:sp>
      <p:sp>
        <p:nvSpPr>
          <p:cNvPr id="12" name="TextBox 11"/>
          <p:cNvSpPr txBox="1"/>
          <p:nvPr/>
        </p:nvSpPr>
        <p:spPr>
          <a:xfrm>
            <a:off x="3611880" y="1920240"/>
            <a:ext cx="2194560" cy="384048"/>
          </a:xfrm>
          <a:prstGeom prst="rect">
            <a:avLst/>
          </a:prstGeom>
          <a:noFill/>
        </p:spPr>
        <p:txBody>
          <a:bodyPr wrap="square">
            <a:spAutoFit/>
          </a:bodyPr>
          <a:lstStyle/>
          <a:p>
            <a:pPr algn="l">
              <a:defRPr sz="2200" b="1">
                <a:solidFill>
                  <a:srgbClr val="1F3448"/>
                </a:solidFill>
                <a:latin typeface="Aptos"/>
              </a:defRPr>
            </a:pPr>
            <a:r>
              <a:t>1.79%</a:t>
            </a:r>
          </a:p>
        </p:txBody>
      </p:sp>
      <p:sp>
        <p:nvSpPr>
          <p:cNvPr id="13" name="TextBox 12"/>
          <p:cNvSpPr txBox="1"/>
          <p:nvPr/>
        </p:nvSpPr>
        <p:spPr>
          <a:xfrm>
            <a:off x="3611880" y="2404872"/>
            <a:ext cx="2194560" cy="365760"/>
          </a:xfrm>
          <a:prstGeom prst="rect">
            <a:avLst/>
          </a:prstGeom>
          <a:noFill/>
        </p:spPr>
        <p:txBody>
          <a:bodyPr wrap="square">
            <a:spAutoFit/>
          </a:bodyPr>
          <a:lstStyle/>
          <a:p>
            <a:pPr algn="l">
              <a:defRPr sz="1050" b="0">
                <a:solidFill>
                  <a:srgbClr val="69717A"/>
                </a:solidFill>
                <a:latin typeface="Aptos"/>
              </a:defRPr>
            </a:pPr>
            <a:r>
              <a:t>Observed rate</a:t>
            </a:r>
          </a:p>
        </p:txBody>
      </p:sp>
      <p:sp>
        <p:nvSpPr>
          <p:cNvPr id="14" name="Rounded Rectangle 13"/>
          <p:cNvSpPr/>
          <p:nvPr/>
        </p:nvSpPr>
        <p:spPr>
          <a:xfrm>
            <a:off x="6126480" y="1417320"/>
            <a:ext cx="2514600" cy="1417320"/>
          </a:xfrm>
          <a:prstGeom prst="roundRect">
            <a:avLst/>
          </a:prstGeom>
          <a:solidFill>
            <a:srgbClr val="F2F5F7"/>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26480" y="1417320"/>
            <a:ext cx="64008" cy="1417320"/>
          </a:xfrm>
          <a:prstGeom prst="rect">
            <a:avLst/>
          </a:prstGeom>
          <a:solidFill>
            <a:srgbClr val="E19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60" y="1572768"/>
            <a:ext cx="2194560" cy="228600"/>
          </a:xfrm>
          <a:prstGeom prst="rect">
            <a:avLst/>
          </a:prstGeom>
          <a:noFill/>
        </p:spPr>
        <p:txBody>
          <a:bodyPr wrap="square">
            <a:spAutoFit/>
          </a:bodyPr>
          <a:lstStyle/>
          <a:p>
            <a:pPr algn="l">
              <a:defRPr sz="1050" b="1">
                <a:solidFill>
                  <a:srgbClr val="69717A"/>
                </a:solidFill>
                <a:latin typeface="Aptos"/>
              </a:defRPr>
            </a:pPr>
            <a:r>
              <a:t>ABSOLUTE GAP</a:t>
            </a:r>
          </a:p>
        </p:txBody>
      </p:sp>
      <p:sp>
        <p:nvSpPr>
          <p:cNvPr id="17" name="TextBox 16"/>
          <p:cNvSpPr txBox="1"/>
          <p:nvPr/>
        </p:nvSpPr>
        <p:spPr>
          <a:xfrm>
            <a:off x="6309360" y="1920240"/>
            <a:ext cx="2194560" cy="384048"/>
          </a:xfrm>
          <a:prstGeom prst="rect">
            <a:avLst/>
          </a:prstGeom>
          <a:noFill/>
        </p:spPr>
        <p:txBody>
          <a:bodyPr wrap="square">
            <a:spAutoFit/>
          </a:bodyPr>
          <a:lstStyle/>
          <a:p>
            <a:pPr algn="l">
              <a:defRPr sz="2200" b="1">
                <a:solidFill>
                  <a:srgbClr val="1F3448"/>
                </a:solidFill>
                <a:latin typeface="Aptos"/>
              </a:defRPr>
            </a:pPr>
            <a:r>
              <a:t>0.77 pp</a:t>
            </a:r>
          </a:p>
        </p:txBody>
      </p:sp>
      <p:sp>
        <p:nvSpPr>
          <p:cNvPr id="18" name="TextBox 17"/>
          <p:cNvSpPr txBox="1"/>
          <p:nvPr/>
        </p:nvSpPr>
        <p:spPr>
          <a:xfrm>
            <a:off x="6309360" y="2404872"/>
            <a:ext cx="2194560" cy="365760"/>
          </a:xfrm>
          <a:prstGeom prst="rect">
            <a:avLst/>
          </a:prstGeom>
          <a:noFill/>
        </p:spPr>
        <p:txBody>
          <a:bodyPr wrap="square">
            <a:spAutoFit/>
          </a:bodyPr>
          <a:lstStyle/>
          <a:p>
            <a:pPr algn="l">
              <a:defRPr sz="1050" b="0">
                <a:solidFill>
                  <a:srgbClr val="69717A"/>
                </a:solidFill>
                <a:latin typeface="Aptos"/>
              </a:defRPr>
            </a:pPr>
            <a:r>
              <a:t>Percentage-point difference</a:t>
            </a:r>
          </a:p>
        </p:txBody>
      </p:sp>
      <p:sp>
        <p:nvSpPr>
          <p:cNvPr id="19" name="Rounded Rectangle 18"/>
          <p:cNvSpPr/>
          <p:nvPr/>
        </p:nvSpPr>
        <p:spPr>
          <a:xfrm>
            <a:off x="8823960" y="1417320"/>
            <a:ext cx="2514600" cy="1417320"/>
          </a:xfrm>
          <a:prstGeom prst="roundRect">
            <a:avLst/>
          </a:prstGeom>
          <a:solidFill>
            <a:srgbClr val="E9F6EE"/>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823960" y="1417320"/>
            <a:ext cx="64008" cy="1417320"/>
          </a:xfrm>
          <a:prstGeom prst="rect">
            <a:avLst/>
          </a:prstGeom>
          <a:solidFill>
            <a:srgbClr val="3C91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06840" y="1572768"/>
            <a:ext cx="2194560" cy="228600"/>
          </a:xfrm>
          <a:prstGeom prst="rect">
            <a:avLst/>
          </a:prstGeom>
          <a:noFill/>
        </p:spPr>
        <p:txBody>
          <a:bodyPr wrap="square">
            <a:spAutoFit/>
          </a:bodyPr>
          <a:lstStyle/>
          <a:p>
            <a:pPr algn="l">
              <a:defRPr sz="1050" b="1">
                <a:solidFill>
                  <a:srgbClr val="69717A"/>
                </a:solidFill>
                <a:latin typeface="Aptos"/>
              </a:defRPr>
            </a:pPr>
            <a:r>
              <a:t>RELATIVE UPLIFT</a:t>
            </a:r>
          </a:p>
        </p:txBody>
      </p:sp>
      <p:sp>
        <p:nvSpPr>
          <p:cNvPr id="22" name="TextBox 21"/>
          <p:cNvSpPr txBox="1"/>
          <p:nvPr/>
        </p:nvSpPr>
        <p:spPr>
          <a:xfrm>
            <a:off x="9006840" y="1920240"/>
            <a:ext cx="2194560" cy="384048"/>
          </a:xfrm>
          <a:prstGeom prst="rect">
            <a:avLst/>
          </a:prstGeom>
          <a:noFill/>
        </p:spPr>
        <p:txBody>
          <a:bodyPr wrap="square">
            <a:spAutoFit/>
          </a:bodyPr>
          <a:lstStyle/>
          <a:p>
            <a:pPr algn="l">
              <a:defRPr sz="2200" b="1">
                <a:solidFill>
                  <a:srgbClr val="1F3448"/>
                </a:solidFill>
                <a:latin typeface="Aptos"/>
              </a:defRPr>
            </a:pPr>
            <a:r>
              <a:t>≈43%</a:t>
            </a:r>
          </a:p>
        </p:txBody>
      </p:sp>
      <p:sp>
        <p:nvSpPr>
          <p:cNvPr id="23" name="TextBox 22"/>
          <p:cNvSpPr txBox="1"/>
          <p:nvPr/>
        </p:nvSpPr>
        <p:spPr>
          <a:xfrm>
            <a:off x="9006840" y="2404872"/>
            <a:ext cx="2194560" cy="365760"/>
          </a:xfrm>
          <a:prstGeom prst="rect">
            <a:avLst/>
          </a:prstGeom>
          <a:noFill/>
        </p:spPr>
        <p:txBody>
          <a:bodyPr wrap="square">
            <a:spAutoFit/>
          </a:bodyPr>
          <a:lstStyle/>
          <a:p>
            <a:pPr algn="l">
              <a:defRPr sz="1050" b="0">
                <a:solidFill>
                  <a:srgbClr val="69717A"/>
                </a:solidFill>
                <a:latin typeface="Aptos"/>
              </a:defRPr>
            </a:pPr>
            <a:r>
              <a:t>Observed relative improvement</a:t>
            </a:r>
          </a:p>
        </p:txBody>
      </p:sp>
      <p:sp>
        <p:nvSpPr>
          <p:cNvPr id="24" name="TextBox 23"/>
          <p:cNvSpPr txBox="1"/>
          <p:nvPr/>
        </p:nvSpPr>
        <p:spPr>
          <a:xfrm>
            <a:off x="731520" y="3337560"/>
            <a:ext cx="10515600" cy="320040"/>
          </a:xfrm>
          <a:prstGeom prst="rect">
            <a:avLst/>
          </a:prstGeom>
          <a:noFill/>
        </p:spPr>
        <p:txBody>
          <a:bodyPr wrap="square">
            <a:spAutoFit/>
          </a:bodyPr>
          <a:lstStyle/>
          <a:p>
            <a:pPr algn="l">
              <a:defRPr sz="1800" b="1">
                <a:solidFill>
                  <a:srgbClr val="1F3448"/>
                </a:solidFill>
                <a:latin typeface="Aptos"/>
              </a:defRPr>
            </a:pPr>
            <a:r>
              <a:t>Main takeaways</a:t>
            </a:r>
          </a:p>
        </p:txBody>
      </p:sp>
      <p:sp>
        <p:nvSpPr>
          <p:cNvPr id="25" name="TextBox 24"/>
          <p:cNvSpPr txBox="1"/>
          <p:nvPr/>
        </p:nvSpPr>
        <p:spPr>
          <a:xfrm>
            <a:off x="914400" y="3794760"/>
            <a:ext cx="10058400" cy="320040"/>
          </a:xfrm>
          <a:prstGeom prst="rect">
            <a:avLst/>
          </a:prstGeom>
          <a:noFill/>
        </p:spPr>
        <p:txBody>
          <a:bodyPr wrap="square">
            <a:spAutoFit/>
          </a:bodyPr>
          <a:lstStyle/>
          <a:p>
            <a:pPr algn="l">
              <a:defRPr sz="1400" b="0">
                <a:solidFill>
                  <a:srgbClr val="2D3238"/>
                </a:solidFill>
                <a:latin typeface="Aptos"/>
              </a:defRPr>
            </a:pPr>
            <a:r>
              <a:t>• AD has the higher observed conversion rate than PSA.</a:t>
            </a:r>
          </a:p>
        </p:txBody>
      </p:sp>
      <p:sp>
        <p:nvSpPr>
          <p:cNvPr id="26" name="TextBox 25"/>
          <p:cNvSpPr txBox="1"/>
          <p:nvPr/>
        </p:nvSpPr>
        <p:spPr>
          <a:xfrm>
            <a:off x="914400" y="4297680"/>
            <a:ext cx="10058400" cy="320040"/>
          </a:xfrm>
          <a:prstGeom prst="rect">
            <a:avLst/>
          </a:prstGeom>
          <a:noFill/>
        </p:spPr>
        <p:txBody>
          <a:bodyPr wrap="square">
            <a:spAutoFit/>
          </a:bodyPr>
          <a:lstStyle/>
          <a:p>
            <a:pPr algn="l">
              <a:defRPr sz="1400" b="0">
                <a:solidFill>
                  <a:srgbClr val="2D3238"/>
                </a:solidFill>
                <a:latin typeface="Aptos"/>
              </a:defRPr>
            </a:pPr>
            <a:r>
              <a:t>• The conversion-rate gap is positive in the hourly comparisons shown.</a:t>
            </a:r>
          </a:p>
        </p:txBody>
      </p:sp>
      <p:sp>
        <p:nvSpPr>
          <p:cNvPr id="27" name="TextBox 26"/>
          <p:cNvSpPr txBox="1"/>
          <p:nvPr/>
        </p:nvSpPr>
        <p:spPr>
          <a:xfrm>
            <a:off x="914400" y="4800600"/>
            <a:ext cx="10058400" cy="320040"/>
          </a:xfrm>
          <a:prstGeom prst="rect">
            <a:avLst/>
          </a:prstGeom>
          <a:noFill/>
        </p:spPr>
        <p:txBody>
          <a:bodyPr wrap="square">
            <a:spAutoFit/>
          </a:bodyPr>
          <a:lstStyle/>
          <a:p>
            <a:pPr algn="l">
              <a:defRPr sz="1400" b="0">
                <a:solidFill>
                  <a:srgbClr val="2D3238"/>
                </a:solidFill>
                <a:latin typeface="Aptos"/>
              </a:defRPr>
            </a:pPr>
            <a:r>
              <a:t>• Ad volume peaks around midday, while conversion efficiency peaks later.</a:t>
            </a:r>
          </a:p>
        </p:txBody>
      </p:sp>
      <p:sp>
        <p:nvSpPr>
          <p:cNvPr id="28" name="TextBox 27"/>
          <p:cNvSpPr txBox="1"/>
          <p:nvPr/>
        </p:nvSpPr>
        <p:spPr>
          <a:xfrm>
            <a:off x="914400" y="5303520"/>
            <a:ext cx="10058400" cy="320040"/>
          </a:xfrm>
          <a:prstGeom prst="rect">
            <a:avLst/>
          </a:prstGeom>
          <a:noFill/>
        </p:spPr>
        <p:txBody>
          <a:bodyPr wrap="square">
            <a:spAutoFit/>
          </a:bodyPr>
          <a:lstStyle/>
          <a:p>
            <a:pPr algn="l">
              <a:defRPr sz="1400" b="0">
                <a:solidFill>
                  <a:srgbClr val="2D3238"/>
                </a:solidFill>
                <a:latin typeface="Aptos"/>
              </a:defRPr>
            </a:pPr>
            <a:r>
              <a:t>• Volume and efficiency should therefore be evaluated separately.</a:t>
            </a:r>
          </a:p>
        </p:txBody>
      </p:sp>
      <p:sp>
        <p:nvSpPr>
          <p:cNvPr id="29" name="Rectangle 28"/>
          <p:cNvSpPr/>
          <p:nvPr/>
        </p:nvSpPr>
        <p:spPr>
          <a:xfrm>
            <a:off x="411480" y="6428232"/>
            <a:ext cx="11338560" cy="10972"/>
          </a:xfrm>
          <a:prstGeom prst="rect">
            <a:avLst/>
          </a:prstGeom>
          <a:solidFill>
            <a:srgbClr val="34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2920" y="6473952"/>
            <a:ext cx="11064240" cy="223138"/>
          </a:xfrm>
          <a:prstGeom prst="rect">
            <a:avLst/>
          </a:prstGeom>
          <a:noFill/>
        </p:spPr>
        <p:txBody>
          <a:bodyPr wrap="square">
            <a:spAutoFit/>
          </a:bodyPr>
          <a:lstStyle/>
          <a:p>
            <a:pPr algn="l">
              <a:defRPr sz="850" b="0">
                <a:solidFill>
                  <a:srgbClr val="69717A"/>
                </a:solidFill>
                <a:latin typeface="Aptos"/>
              </a:defRPr>
            </a:pPr>
            <a:r>
              <a:rPr dirty="0"/>
              <a:t>Author: Teresa Mendes Coelho                                                  </a:t>
            </a:r>
            <a:r>
              <a:rPr lang="pt-PT" dirty="0"/>
              <a:t>                                                                                                                                                                                                                                                                                      </a:t>
            </a:r>
            <a:r>
              <a:rPr dirty="0"/>
              <a:t>  </a:t>
            </a:r>
            <a:r>
              <a:rPr dirty="0" err="1"/>
              <a:t>Ironhack</a:t>
            </a:r>
            <a:r>
              <a:rPr dirty="0"/>
              <a:t> bootcamp Data Analytics 2026</a:t>
            </a:r>
          </a:p>
        </p:txBody>
      </p:sp>
      <p:pic>
        <p:nvPicPr>
          <p:cNvPr id="31" name="Picture 30" descr="3e6d4280-1049-4738-ab33-95281aa5f1cd.png"/>
          <p:cNvPicPr>
            <a:picLocks noChangeAspect="1"/>
          </p:cNvPicPr>
          <p:nvPr/>
        </p:nvPicPr>
        <p:blipFill>
          <a:blip r:embed="rId2"/>
          <a:stretch>
            <a:fillRect/>
          </a:stretch>
        </p:blipFill>
        <p:spPr>
          <a:xfrm>
            <a:off x="11338560" y="6510528"/>
            <a:ext cx="253746" cy="2743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10972800" cy="502920"/>
          </a:xfrm>
          <a:prstGeom prst="rect">
            <a:avLst/>
          </a:prstGeom>
          <a:noFill/>
        </p:spPr>
        <p:txBody>
          <a:bodyPr wrap="square">
            <a:spAutoFit/>
          </a:bodyPr>
          <a:lstStyle/>
          <a:p>
            <a:pPr algn="l">
              <a:defRPr sz="2800" b="1">
                <a:solidFill>
                  <a:srgbClr val="1F3448"/>
                </a:solidFill>
                <a:latin typeface="Aptos"/>
              </a:defRPr>
            </a:pPr>
            <a:r>
              <a:t>4. A/B Test Results by Experimental Group</a:t>
            </a:r>
          </a:p>
        </p:txBody>
      </p:sp>
      <p:sp>
        <p:nvSpPr>
          <p:cNvPr id="3" name="TextBox 2"/>
          <p:cNvSpPr txBox="1"/>
          <p:nvPr/>
        </p:nvSpPr>
        <p:spPr>
          <a:xfrm>
            <a:off x="621792" y="896112"/>
            <a:ext cx="10789920" cy="347472"/>
          </a:xfrm>
          <a:prstGeom prst="rect">
            <a:avLst/>
          </a:prstGeom>
          <a:noFill/>
        </p:spPr>
        <p:txBody>
          <a:bodyPr wrap="square">
            <a:spAutoFit/>
          </a:bodyPr>
          <a:lstStyle/>
          <a:p>
            <a:pPr algn="l">
              <a:defRPr sz="1250" b="0">
                <a:solidFill>
                  <a:srgbClr val="69717A"/>
                </a:solidFill>
                <a:latin typeface="Aptos"/>
              </a:defRPr>
            </a:pPr>
            <a:r>
              <a:t>Conversion performance and advertising volume</a:t>
            </a:r>
          </a:p>
        </p:txBody>
      </p:sp>
      <p:sp>
        <p:nvSpPr>
          <p:cNvPr id="4" name="TextBox 3"/>
          <p:cNvSpPr txBox="1"/>
          <p:nvPr/>
        </p:nvSpPr>
        <p:spPr>
          <a:xfrm>
            <a:off x="731520" y="1325880"/>
            <a:ext cx="5029200" cy="320040"/>
          </a:xfrm>
          <a:prstGeom prst="rect">
            <a:avLst/>
          </a:prstGeom>
          <a:noFill/>
        </p:spPr>
        <p:txBody>
          <a:bodyPr wrap="square">
            <a:spAutoFit/>
          </a:bodyPr>
          <a:lstStyle/>
          <a:p>
            <a:pPr algn="l">
              <a:defRPr sz="1800" b="1">
                <a:solidFill>
                  <a:srgbClr val="1F3448"/>
                </a:solidFill>
                <a:latin typeface="Aptos"/>
              </a:defRPr>
            </a:pPr>
            <a:r>
              <a:t>Conversion Rate</a:t>
            </a:r>
          </a:p>
        </p:txBody>
      </p:sp>
      <p:sp>
        <p:nvSpPr>
          <p:cNvPr id="5" name="TextBox 4"/>
          <p:cNvSpPr txBox="1"/>
          <p:nvPr/>
        </p:nvSpPr>
        <p:spPr>
          <a:xfrm>
            <a:off x="731520" y="1865376"/>
            <a:ext cx="1005840" cy="274320"/>
          </a:xfrm>
          <a:prstGeom prst="rect">
            <a:avLst/>
          </a:prstGeom>
          <a:noFill/>
        </p:spPr>
        <p:txBody>
          <a:bodyPr wrap="square">
            <a:spAutoFit/>
          </a:bodyPr>
          <a:lstStyle/>
          <a:p>
            <a:pPr algn="l">
              <a:defRPr sz="1150" b="1">
                <a:solidFill>
                  <a:srgbClr val="2D3238"/>
                </a:solidFill>
                <a:latin typeface="Aptos"/>
              </a:defRPr>
            </a:pPr>
            <a:r>
              <a:t>AD</a:t>
            </a:r>
          </a:p>
        </p:txBody>
      </p:sp>
      <p:sp>
        <p:nvSpPr>
          <p:cNvPr id="6" name="Rounded Rectangle 5"/>
          <p:cNvSpPr/>
          <p:nvPr/>
        </p:nvSpPr>
        <p:spPr>
          <a:xfrm>
            <a:off x="1691640" y="1911095"/>
            <a:ext cx="4160520" cy="292608"/>
          </a:xfrm>
          <a:prstGeom prst="round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691640" y="1911095"/>
            <a:ext cx="3929379" cy="292608"/>
          </a:xfrm>
          <a:prstGeom prst="round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25312" y="1865376"/>
            <a:ext cx="731520" cy="274320"/>
          </a:xfrm>
          <a:prstGeom prst="rect">
            <a:avLst/>
          </a:prstGeom>
          <a:noFill/>
        </p:spPr>
        <p:txBody>
          <a:bodyPr wrap="square">
            <a:spAutoFit/>
          </a:bodyPr>
          <a:lstStyle/>
          <a:p>
            <a:pPr algn="l">
              <a:defRPr sz="1100" b="1">
                <a:solidFill>
                  <a:srgbClr val="2D3238"/>
                </a:solidFill>
                <a:latin typeface="Aptos"/>
              </a:defRPr>
            </a:pPr>
            <a:r>
              <a:t>2.55%</a:t>
            </a:r>
          </a:p>
        </p:txBody>
      </p:sp>
      <p:sp>
        <p:nvSpPr>
          <p:cNvPr id="9" name="TextBox 8"/>
          <p:cNvSpPr txBox="1"/>
          <p:nvPr/>
        </p:nvSpPr>
        <p:spPr>
          <a:xfrm>
            <a:off x="731520" y="2551176"/>
            <a:ext cx="1005840" cy="274320"/>
          </a:xfrm>
          <a:prstGeom prst="rect">
            <a:avLst/>
          </a:prstGeom>
          <a:noFill/>
        </p:spPr>
        <p:txBody>
          <a:bodyPr wrap="square">
            <a:spAutoFit/>
          </a:bodyPr>
          <a:lstStyle/>
          <a:p>
            <a:pPr algn="l">
              <a:defRPr sz="1150" b="1">
                <a:solidFill>
                  <a:srgbClr val="2D3238"/>
                </a:solidFill>
                <a:latin typeface="Aptos"/>
              </a:defRPr>
            </a:pPr>
            <a:r>
              <a:t>PSA</a:t>
            </a:r>
          </a:p>
        </p:txBody>
      </p:sp>
      <p:sp>
        <p:nvSpPr>
          <p:cNvPr id="10" name="Rounded Rectangle 9"/>
          <p:cNvSpPr/>
          <p:nvPr/>
        </p:nvSpPr>
        <p:spPr>
          <a:xfrm>
            <a:off x="1691640" y="2596896"/>
            <a:ext cx="4160520" cy="292608"/>
          </a:xfrm>
          <a:prstGeom prst="round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691640" y="2596896"/>
            <a:ext cx="2758270" cy="292608"/>
          </a:xfrm>
          <a:prstGeom prst="roundRect">
            <a:avLst/>
          </a:prstGeom>
          <a:solidFill>
            <a:srgbClr val="6971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25312" y="2551176"/>
            <a:ext cx="731520" cy="274320"/>
          </a:xfrm>
          <a:prstGeom prst="rect">
            <a:avLst/>
          </a:prstGeom>
          <a:noFill/>
        </p:spPr>
        <p:txBody>
          <a:bodyPr wrap="square">
            <a:spAutoFit/>
          </a:bodyPr>
          <a:lstStyle/>
          <a:p>
            <a:pPr algn="l">
              <a:defRPr sz="1100" b="1">
                <a:solidFill>
                  <a:srgbClr val="2D3238"/>
                </a:solidFill>
                <a:latin typeface="Aptos"/>
              </a:defRPr>
            </a:pPr>
            <a:r>
              <a:t>1.79%</a:t>
            </a:r>
          </a:p>
        </p:txBody>
      </p:sp>
      <p:sp>
        <p:nvSpPr>
          <p:cNvPr id="13" name="Rounded Rectangle 12"/>
          <p:cNvSpPr/>
          <p:nvPr/>
        </p:nvSpPr>
        <p:spPr>
          <a:xfrm>
            <a:off x="777240" y="3383280"/>
            <a:ext cx="5029200" cy="1280160"/>
          </a:xfrm>
          <a:prstGeom prst="roundRect">
            <a:avLst/>
          </a:prstGeom>
          <a:solidFill>
            <a:srgbClr val="E5F2FA"/>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77240" y="3383280"/>
            <a:ext cx="64008" cy="1280160"/>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3538728"/>
            <a:ext cx="4709160" cy="228600"/>
          </a:xfrm>
          <a:prstGeom prst="rect">
            <a:avLst/>
          </a:prstGeom>
          <a:noFill/>
        </p:spPr>
        <p:txBody>
          <a:bodyPr wrap="square">
            <a:spAutoFit/>
          </a:bodyPr>
          <a:lstStyle/>
          <a:p>
            <a:pPr algn="l">
              <a:defRPr sz="1050" b="1">
                <a:solidFill>
                  <a:srgbClr val="69717A"/>
                </a:solidFill>
                <a:latin typeface="Aptos"/>
              </a:defRPr>
            </a:pPr>
            <a:r>
              <a:t>OBSERVED DIFFERENCE</a:t>
            </a:r>
          </a:p>
        </p:txBody>
      </p:sp>
      <p:sp>
        <p:nvSpPr>
          <p:cNvPr id="16" name="TextBox 15"/>
          <p:cNvSpPr txBox="1"/>
          <p:nvPr/>
        </p:nvSpPr>
        <p:spPr>
          <a:xfrm>
            <a:off x="960120" y="3886200"/>
            <a:ext cx="4709160" cy="384048"/>
          </a:xfrm>
          <a:prstGeom prst="rect">
            <a:avLst/>
          </a:prstGeom>
          <a:noFill/>
        </p:spPr>
        <p:txBody>
          <a:bodyPr wrap="square">
            <a:spAutoFit/>
          </a:bodyPr>
          <a:lstStyle/>
          <a:p>
            <a:pPr algn="l">
              <a:defRPr sz="2200" b="1">
                <a:solidFill>
                  <a:srgbClr val="1F3448"/>
                </a:solidFill>
                <a:latin typeface="Aptos"/>
              </a:defRPr>
            </a:pPr>
            <a:r>
              <a:t>≈ +0.77 pp</a:t>
            </a:r>
          </a:p>
        </p:txBody>
      </p:sp>
      <p:sp>
        <p:nvSpPr>
          <p:cNvPr id="17" name="TextBox 16"/>
          <p:cNvSpPr txBox="1"/>
          <p:nvPr/>
        </p:nvSpPr>
        <p:spPr>
          <a:xfrm>
            <a:off x="960120" y="4370832"/>
            <a:ext cx="4709160" cy="228600"/>
          </a:xfrm>
          <a:prstGeom prst="rect">
            <a:avLst/>
          </a:prstGeom>
          <a:noFill/>
        </p:spPr>
        <p:txBody>
          <a:bodyPr wrap="square">
            <a:spAutoFit/>
          </a:bodyPr>
          <a:lstStyle/>
          <a:p>
            <a:pPr algn="l">
              <a:defRPr sz="1050" b="0">
                <a:solidFill>
                  <a:srgbClr val="69717A"/>
                </a:solidFill>
                <a:latin typeface="Aptos"/>
              </a:defRPr>
            </a:pPr>
            <a:r>
              <a:t>≈ +43% relative improvement</a:t>
            </a:r>
          </a:p>
        </p:txBody>
      </p:sp>
      <p:sp>
        <p:nvSpPr>
          <p:cNvPr id="18" name="TextBox 17"/>
          <p:cNvSpPr txBox="1"/>
          <p:nvPr/>
        </p:nvSpPr>
        <p:spPr>
          <a:xfrm>
            <a:off x="6309360" y="1325880"/>
            <a:ext cx="4846320" cy="320040"/>
          </a:xfrm>
          <a:prstGeom prst="rect">
            <a:avLst/>
          </a:prstGeom>
          <a:noFill/>
        </p:spPr>
        <p:txBody>
          <a:bodyPr wrap="square">
            <a:spAutoFit/>
          </a:bodyPr>
          <a:lstStyle/>
          <a:p>
            <a:pPr algn="l">
              <a:defRPr sz="1800" b="1">
                <a:solidFill>
                  <a:srgbClr val="1F3448"/>
                </a:solidFill>
                <a:latin typeface="Aptos"/>
              </a:defRPr>
            </a:pPr>
            <a:r>
              <a:t>Total Ads</a:t>
            </a:r>
          </a:p>
        </p:txBody>
      </p:sp>
      <p:sp>
        <p:nvSpPr>
          <p:cNvPr id="19" name="TextBox 18"/>
          <p:cNvSpPr txBox="1"/>
          <p:nvPr/>
        </p:nvSpPr>
        <p:spPr>
          <a:xfrm>
            <a:off x="6309360" y="1865376"/>
            <a:ext cx="1005840" cy="274320"/>
          </a:xfrm>
          <a:prstGeom prst="rect">
            <a:avLst/>
          </a:prstGeom>
          <a:noFill/>
        </p:spPr>
        <p:txBody>
          <a:bodyPr wrap="square">
            <a:spAutoFit/>
          </a:bodyPr>
          <a:lstStyle/>
          <a:p>
            <a:pPr algn="l">
              <a:defRPr sz="1150" b="1">
                <a:solidFill>
                  <a:srgbClr val="2D3238"/>
                </a:solidFill>
                <a:latin typeface="Aptos"/>
              </a:defRPr>
            </a:pPr>
            <a:r>
              <a:t>AD</a:t>
            </a:r>
          </a:p>
        </p:txBody>
      </p:sp>
      <p:sp>
        <p:nvSpPr>
          <p:cNvPr id="20" name="Rounded Rectangle 19"/>
          <p:cNvSpPr/>
          <p:nvPr/>
        </p:nvSpPr>
        <p:spPr>
          <a:xfrm>
            <a:off x="7269480" y="1911095"/>
            <a:ext cx="3886200" cy="292608"/>
          </a:xfrm>
          <a:prstGeom prst="round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269480" y="1911095"/>
            <a:ext cx="3886200" cy="292608"/>
          </a:xfrm>
          <a:prstGeom prst="round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228832" y="1865376"/>
            <a:ext cx="731520" cy="274320"/>
          </a:xfrm>
          <a:prstGeom prst="rect">
            <a:avLst/>
          </a:prstGeom>
          <a:noFill/>
        </p:spPr>
        <p:txBody>
          <a:bodyPr wrap="square">
            <a:spAutoFit/>
          </a:bodyPr>
          <a:lstStyle/>
          <a:p>
            <a:pPr algn="l">
              <a:defRPr sz="1100" b="1">
                <a:solidFill>
                  <a:srgbClr val="2D3238"/>
                </a:solidFill>
                <a:latin typeface="Aptos"/>
              </a:defRPr>
            </a:pPr>
            <a:r>
              <a:t>≈14.0M</a:t>
            </a:r>
          </a:p>
        </p:txBody>
      </p:sp>
      <p:sp>
        <p:nvSpPr>
          <p:cNvPr id="23" name="TextBox 22"/>
          <p:cNvSpPr txBox="1"/>
          <p:nvPr/>
        </p:nvSpPr>
        <p:spPr>
          <a:xfrm>
            <a:off x="6309360" y="2551176"/>
            <a:ext cx="1005840" cy="274320"/>
          </a:xfrm>
          <a:prstGeom prst="rect">
            <a:avLst/>
          </a:prstGeom>
          <a:noFill/>
        </p:spPr>
        <p:txBody>
          <a:bodyPr wrap="square">
            <a:spAutoFit/>
          </a:bodyPr>
          <a:lstStyle/>
          <a:p>
            <a:pPr algn="l">
              <a:defRPr sz="1150" b="1">
                <a:solidFill>
                  <a:srgbClr val="2D3238"/>
                </a:solidFill>
                <a:latin typeface="Aptos"/>
              </a:defRPr>
            </a:pPr>
            <a:r>
              <a:t>PSA</a:t>
            </a:r>
          </a:p>
        </p:txBody>
      </p:sp>
      <p:sp>
        <p:nvSpPr>
          <p:cNvPr id="24" name="Rounded Rectangle 23"/>
          <p:cNvSpPr/>
          <p:nvPr/>
        </p:nvSpPr>
        <p:spPr>
          <a:xfrm>
            <a:off x="7269480" y="2596896"/>
            <a:ext cx="3886200" cy="292608"/>
          </a:xfrm>
          <a:prstGeom prst="round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269480" y="2596896"/>
            <a:ext cx="138792" cy="292608"/>
          </a:xfrm>
          <a:prstGeom prst="roundRect">
            <a:avLst/>
          </a:prstGeom>
          <a:solidFill>
            <a:srgbClr val="6971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228832" y="2551176"/>
            <a:ext cx="731520" cy="274320"/>
          </a:xfrm>
          <a:prstGeom prst="rect">
            <a:avLst/>
          </a:prstGeom>
          <a:noFill/>
        </p:spPr>
        <p:txBody>
          <a:bodyPr wrap="square">
            <a:spAutoFit/>
          </a:bodyPr>
          <a:lstStyle/>
          <a:p>
            <a:pPr algn="l">
              <a:defRPr sz="1100" b="1">
                <a:solidFill>
                  <a:srgbClr val="2D3238"/>
                </a:solidFill>
                <a:latin typeface="Aptos"/>
              </a:defRPr>
            </a:pPr>
            <a:r>
              <a:t>≈0.5M</a:t>
            </a:r>
          </a:p>
        </p:txBody>
      </p:sp>
      <p:sp>
        <p:nvSpPr>
          <p:cNvPr id="27" name="TextBox 26"/>
          <p:cNvSpPr txBox="1"/>
          <p:nvPr/>
        </p:nvSpPr>
        <p:spPr>
          <a:xfrm>
            <a:off x="6355080" y="3383280"/>
            <a:ext cx="4754880" cy="1280160"/>
          </a:xfrm>
          <a:prstGeom prst="rect">
            <a:avLst/>
          </a:prstGeom>
          <a:noFill/>
        </p:spPr>
        <p:txBody>
          <a:bodyPr wrap="square">
            <a:spAutoFit/>
          </a:bodyPr>
          <a:lstStyle/>
          <a:p>
            <a:pPr algn="l">
              <a:defRPr sz="1400" b="0">
                <a:solidFill>
                  <a:srgbClr val="2D3238"/>
                </a:solidFill>
                <a:latin typeface="Aptos"/>
              </a:defRPr>
            </a:pPr>
            <a:r>
              <a:t>The volume distribution is highly uneven. This is important when interpreting aggregated results and when considering experimental exposure.</a:t>
            </a:r>
          </a:p>
        </p:txBody>
      </p:sp>
      <p:sp>
        <p:nvSpPr>
          <p:cNvPr id="28" name="Rectangle 27"/>
          <p:cNvSpPr/>
          <p:nvPr/>
        </p:nvSpPr>
        <p:spPr>
          <a:xfrm>
            <a:off x="411480" y="6428232"/>
            <a:ext cx="11338560" cy="10972"/>
          </a:xfrm>
          <a:prstGeom prst="rect">
            <a:avLst/>
          </a:prstGeom>
          <a:solidFill>
            <a:srgbClr val="34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6473952"/>
            <a:ext cx="11689080" cy="223138"/>
          </a:xfrm>
          <a:prstGeom prst="rect">
            <a:avLst/>
          </a:prstGeom>
          <a:noFill/>
        </p:spPr>
        <p:txBody>
          <a:bodyPr wrap="square">
            <a:spAutoFit/>
          </a:bodyPr>
          <a:lstStyle/>
          <a:p>
            <a:pPr algn="l">
              <a:defRPr sz="850" b="0">
                <a:solidFill>
                  <a:srgbClr val="69717A"/>
                </a:solidFill>
                <a:latin typeface="Aptos"/>
              </a:defRPr>
            </a:pPr>
            <a:r>
              <a:rPr dirty="0"/>
              <a:t>Author: Teresa Mendes Coelho                                                </a:t>
            </a:r>
            <a:r>
              <a:rPr lang="pt-PT" dirty="0"/>
              <a:t>                                                                                                                                                                                                                                                                                     </a:t>
            </a:r>
            <a:r>
              <a:rPr dirty="0"/>
              <a:t>    </a:t>
            </a:r>
            <a:r>
              <a:rPr dirty="0" err="1"/>
              <a:t>Ironhack</a:t>
            </a:r>
            <a:r>
              <a:rPr dirty="0"/>
              <a:t> bootcamp Data Analytics 2026</a:t>
            </a:r>
          </a:p>
        </p:txBody>
      </p:sp>
      <p:pic>
        <p:nvPicPr>
          <p:cNvPr id="30" name="Picture 29" descr="3e6d4280-1049-4738-ab33-95281aa5f1cd.png"/>
          <p:cNvPicPr>
            <a:picLocks noChangeAspect="1"/>
          </p:cNvPicPr>
          <p:nvPr/>
        </p:nvPicPr>
        <p:blipFill>
          <a:blip r:embed="rId2"/>
          <a:stretch>
            <a:fillRect/>
          </a:stretch>
        </p:blipFill>
        <p:spPr>
          <a:xfrm>
            <a:off x="11435334" y="6486778"/>
            <a:ext cx="253746" cy="2743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10972800" cy="502920"/>
          </a:xfrm>
          <a:prstGeom prst="rect">
            <a:avLst/>
          </a:prstGeom>
          <a:noFill/>
        </p:spPr>
        <p:txBody>
          <a:bodyPr wrap="square">
            <a:spAutoFit/>
          </a:bodyPr>
          <a:lstStyle/>
          <a:p>
            <a:pPr algn="l">
              <a:defRPr sz="2800" b="1">
                <a:solidFill>
                  <a:srgbClr val="1F3448"/>
                </a:solidFill>
                <a:latin typeface="Aptos"/>
              </a:defRPr>
            </a:pPr>
            <a:r>
              <a:t>5. Conversion Rate by Most Ads Day</a:t>
            </a:r>
          </a:p>
        </p:txBody>
      </p:sp>
      <p:sp>
        <p:nvSpPr>
          <p:cNvPr id="3" name="TextBox 2"/>
          <p:cNvSpPr txBox="1"/>
          <p:nvPr/>
        </p:nvSpPr>
        <p:spPr>
          <a:xfrm>
            <a:off x="621792" y="896112"/>
            <a:ext cx="10789920" cy="347472"/>
          </a:xfrm>
          <a:prstGeom prst="rect">
            <a:avLst/>
          </a:prstGeom>
          <a:noFill/>
        </p:spPr>
        <p:txBody>
          <a:bodyPr wrap="square">
            <a:spAutoFit/>
          </a:bodyPr>
          <a:lstStyle/>
          <a:p>
            <a:pPr algn="l">
              <a:defRPr sz="1250" b="0">
                <a:solidFill>
                  <a:srgbClr val="69717A"/>
                </a:solidFill>
                <a:latin typeface="Aptos"/>
              </a:defRPr>
            </a:pPr>
            <a:r>
              <a:t>Daily pattern visible in the dashboard</a:t>
            </a:r>
          </a:p>
        </p:txBody>
      </p:sp>
      <p:sp>
        <p:nvSpPr>
          <p:cNvPr id="4" name="TextBox 3"/>
          <p:cNvSpPr txBox="1"/>
          <p:nvPr/>
        </p:nvSpPr>
        <p:spPr>
          <a:xfrm>
            <a:off x="731520" y="1408176"/>
            <a:ext cx="1005840" cy="274320"/>
          </a:xfrm>
          <a:prstGeom prst="rect">
            <a:avLst/>
          </a:prstGeom>
          <a:noFill/>
        </p:spPr>
        <p:txBody>
          <a:bodyPr wrap="square">
            <a:spAutoFit/>
          </a:bodyPr>
          <a:lstStyle/>
          <a:p>
            <a:pPr algn="l">
              <a:defRPr sz="1150" b="1">
                <a:solidFill>
                  <a:srgbClr val="2D3238"/>
                </a:solidFill>
                <a:latin typeface="Aptos"/>
              </a:defRPr>
            </a:pPr>
            <a:r>
              <a:t>Monday</a:t>
            </a:r>
          </a:p>
        </p:txBody>
      </p:sp>
      <p:sp>
        <p:nvSpPr>
          <p:cNvPr id="5" name="Rounded Rectangle 4"/>
          <p:cNvSpPr/>
          <p:nvPr/>
        </p:nvSpPr>
        <p:spPr>
          <a:xfrm>
            <a:off x="1691640" y="1453896"/>
            <a:ext cx="4617720" cy="292608"/>
          </a:xfrm>
          <a:prstGeom prst="round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691640" y="1453896"/>
            <a:ext cx="4353850" cy="292608"/>
          </a:xfrm>
          <a:prstGeom prst="round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82512" y="1408176"/>
            <a:ext cx="731520" cy="274320"/>
          </a:xfrm>
          <a:prstGeom prst="rect">
            <a:avLst/>
          </a:prstGeom>
          <a:noFill/>
        </p:spPr>
        <p:txBody>
          <a:bodyPr wrap="square">
            <a:spAutoFit/>
          </a:bodyPr>
          <a:lstStyle/>
          <a:p>
            <a:pPr algn="l">
              <a:defRPr sz="1100" b="1">
                <a:solidFill>
                  <a:srgbClr val="2D3238"/>
                </a:solidFill>
                <a:latin typeface="Aptos"/>
              </a:defRPr>
            </a:pPr>
            <a:r>
              <a:t>3.3%</a:t>
            </a:r>
          </a:p>
        </p:txBody>
      </p:sp>
      <p:sp>
        <p:nvSpPr>
          <p:cNvPr id="8" name="TextBox 7"/>
          <p:cNvSpPr txBox="1"/>
          <p:nvPr/>
        </p:nvSpPr>
        <p:spPr>
          <a:xfrm>
            <a:off x="731520" y="1975104"/>
            <a:ext cx="1005840" cy="274320"/>
          </a:xfrm>
          <a:prstGeom prst="rect">
            <a:avLst/>
          </a:prstGeom>
          <a:noFill/>
        </p:spPr>
        <p:txBody>
          <a:bodyPr wrap="square">
            <a:spAutoFit/>
          </a:bodyPr>
          <a:lstStyle/>
          <a:p>
            <a:pPr algn="l">
              <a:defRPr sz="1150" b="1">
                <a:solidFill>
                  <a:srgbClr val="2D3238"/>
                </a:solidFill>
                <a:latin typeface="Aptos"/>
              </a:defRPr>
            </a:pPr>
            <a:r>
              <a:t>Tuesday</a:t>
            </a:r>
          </a:p>
        </p:txBody>
      </p:sp>
      <p:sp>
        <p:nvSpPr>
          <p:cNvPr id="9" name="Rounded Rectangle 8"/>
          <p:cNvSpPr/>
          <p:nvPr/>
        </p:nvSpPr>
        <p:spPr>
          <a:xfrm>
            <a:off x="1691640" y="2020824"/>
            <a:ext cx="4617720" cy="292608"/>
          </a:xfrm>
          <a:prstGeom prst="round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691640" y="2020824"/>
            <a:ext cx="3958045" cy="292608"/>
          </a:xfrm>
          <a:prstGeom prst="roundRect">
            <a:avLst/>
          </a:prstGeom>
          <a:solidFill>
            <a:srgbClr val="699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82512" y="1975104"/>
            <a:ext cx="731520" cy="274320"/>
          </a:xfrm>
          <a:prstGeom prst="rect">
            <a:avLst/>
          </a:prstGeom>
          <a:noFill/>
        </p:spPr>
        <p:txBody>
          <a:bodyPr wrap="square">
            <a:spAutoFit/>
          </a:bodyPr>
          <a:lstStyle/>
          <a:p>
            <a:pPr algn="l">
              <a:defRPr sz="1100" b="1">
                <a:solidFill>
                  <a:srgbClr val="2D3238"/>
                </a:solidFill>
                <a:latin typeface="Aptos"/>
              </a:defRPr>
            </a:pPr>
            <a:r>
              <a:t>3.0%</a:t>
            </a:r>
          </a:p>
        </p:txBody>
      </p:sp>
      <p:sp>
        <p:nvSpPr>
          <p:cNvPr id="12" name="TextBox 11"/>
          <p:cNvSpPr txBox="1"/>
          <p:nvPr/>
        </p:nvSpPr>
        <p:spPr>
          <a:xfrm>
            <a:off x="731520" y="2542032"/>
            <a:ext cx="1005840" cy="274320"/>
          </a:xfrm>
          <a:prstGeom prst="rect">
            <a:avLst/>
          </a:prstGeom>
          <a:noFill/>
        </p:spPr>
        <p:txBody>
          <a:bodyPr wrap="square">
            <a:spAutoFit/>
          </a:bodyPr>
          <a:lstStyle/>
          <a:p>
            <a:pPr algn="l">
              <a:defRPr sz="1150" b="1">
                <a:solidFill>
                  <a:srgbClr val="2D3238"/>
                </a:solidFill>
                <a:latin typeface="Aptos"/>
              </a:defRPr>
            </a:pPr>
            <a:r>
              <a:t>Wednesday</a:t>
            </a:r>
          </a:p>
        </p:txBody>
      </p:sp>
      <p:sp>
        <p:nvSpPr>
          <p:cNvPr id="13" name="Rounded Rectangle 12"/>
          <p:cNvSpPr/>
          <p:nvPr/>
        </p:nvSpPr>
        <p:spPr>
          <a:xfrm>
            <a:off x="1691640" y="2587752"/>
            <a:ext cx="4617720" cy="292608"/>
          </a:xfrm>
          <a:prstGeom prst="round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691640" y="2587752"/>
            <a:ext cx="3298371" cy="292608"/>
          </a:xfrm>
          <a:prstGeom prst="roundRect">
            <a:avLst/>
          </a:prstGeom>
          <a:solidFill>
            <a:srgbClr val="699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82512" y="2542032"/>
            <a:ext cx="731520" cy="274320"/>
          </a:xfrm>
          <a:prstGeom prst="rect">
            <a:avLst/>
          </a:prstGeom>
          <a:noFill/>
        </p:spPr>
        <p:txBody>
          <a:bodyPr wrap="square">
            <a:spAutoFit/>
          </a:bodyPr>
          <a:lstStyle/>
          <a:p>
            <a:pPr algn="l">
              <a:defRPr sz="1100" b="1">
                <a:solidFill>
                  <a:srgbClr val="2D3238"/>
                </a:solidFill>
                <a:latin typeface="Aptos"/>
              </a:defRPr>
            </a:pPr>
            <a:r>
              <a:t>2.5%</a:t>
            </a:r>
          </a:p>
        </p:txBody>
      </p:sp>
      <p:sp>
        <p:nvSpPr>
          <p:cNvPr id="16" name="TextBox 15"/>
          <p:cNvSpPr txBox="1"/>
          <p:nvPr/>
        </p:nvSpPr>
        <p:spPr>
          <a:xfrm>
            <a:off x="731520" y="3108960"/>
            <a:ext cx="1005840" cy="274320"/>
          </a:xfrm>
          <a:prstGeom prst="rect">
            <a:avLst/>
          </a:prstGeom>
          <a:noFill/>
        </p:spPr>
        <p:txBody>
          <a:bodyPr wrap="square">
            <a:spAutoFit/>
          </a:bodyPr>
          <a:lstStyle/>
          <a:p>
            <a:pPr algn="l">
              <a:defRPr sz="1150" b="1">
                <a:solidFill>
                  <a:srgbClr val="2D3238"/>
                </a:solidFill>
                <a:latin typeface="Aptos"/>
              </a:defRPr>
            </a:pPr>
            <a:r>
              <a:t>Thursday</a:t>
            </a:r>
          </a:p>
        </p:txBody>
      </p:sp>
      <p:sp>
        <p:nvSpPr>
          <p:cNvPr id="17" name="Rounded Rectangle 16"/>
          <p:cNvSpPr/>
          <p:nvPr/>
        </p:nvSpPr>
        <p:spPr>
          <a:xfrm>
            <a:off x="1691640" y="3154680"/>
            <a:ext cx="4617720" cy="292608"/>
          </a:xfrm>
          <a:prstGeom prst="round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691640" y="3154680"/>
            <a:ext cx="2770632" cy="292608"/>
          </a:xfrm>
          <a:prstGeom prst="roundRect">
            <a:avLst/>
          </a:prstGeom>
          <a:solidFill>
            <a:srgbClr val="699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82512" y="3108960"/>
            <a:ext cx="731520" cy="274320"/>
          </a:xfrm>
          <a:prstGeom prst="rect">
            <a:avLst/>
          </a:prstGeom>
          <a:noFill/>
        </p:spPr>
        <p:txBody>
          <a:bodyPr wrap="square">
            <a:spAutoFit/>
          </a:bodyPr>
          <a:lstStyle/>
          <a:p>
            <a:pPr algn="l">
              <a:defRPr sz="1100" b="1">
                <a:solidFill>
                  <a:srgbClr val="2D3238"/>
                </a:solidFill>
                <a:latin typeface="Aptos"/>
              </a:defRPr>
            </a:pPr>
            <a:r>
              <a:t>2.1%</a:t>
            </a:r>
          </a:p>
        </p:txBody>
      </p:sp>
      <p:sp>
        <p:nvSpPr>
          <p:cNvPr id="20" name="TextBox 19"/>
          <p:cNvSpPr txBox="1"/>
          <p:nvPr/>
        </p:nvSpPr>
        <p:spPr>
          <a:xfrm>
            <a:off x="731520" y="3675888"/>
            <a:ext cx="1005840" cy="274320"/>
          </a:xfrm>
          <a:prstGeom prst="rect">
            <a:avLst/>
          </a:prstGeom>
          <a:noFill/>
        </p:spPr>
        <p:txBody>
          <a:bodyPr wrap="square">
            <a:spAutoFit/>
          </a:bodyPr>
          <a:lstStyle/>
          <a:p>
            <a:pPr algn="l">
              <a:defRPr sz="1150" b="1">
                <a:solidFill>
                  <a:srgbClr val="2D3238"/>
                </a:solidFill>
                <a:latin typeface="Aptos"/>
              </a:defRPr>
            </a:pPr>
            <a:r>
              <a:t>Friday</a:t>
            </a:r>
          </a:p>
        </p:txBody>
      </p:sp>
      <p:sp>
        <p:nvSpPr>
          <p:cNvPr id="21" name="Rounded Rectangle 20"/>
          <p:cNvSpPr/>
          <p:nvPr/>
        </p:nvSpPr>
        <p:spPr>
          <a:xfrm>
            <a:off x="1691640" y="3721608"/>
            <a:ext cx="4617720" cy="292608"/>
          </a:xfrm>
          <a:prstGeom prst="round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691640" y="3721608"/>
            <a:ext cx="2902566" cy="292608"/>
          </a:xfrm>
          <a:prstGeom prst="roundRect">
            <a:avLst/>
          </a:prstGeom>
          <a:solidFill>
            <a:srgbClr val="699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82512" y="3675888"/>
            <a:ext cx="731520" cy="274320"/>
          </a:xfrm>
          <a:prstGeom prst="rect">
            <a:avLst/>
          </a:prstGeom>
          <a:noFill/>
        </p:spPr>
        <p:txBody>
          <a:bodyPr wrap="square">
            <a:spAutoFit/>
          </a:bodyPr>
          <a:lstStyle/>
          <a:p>
            <a:pPr algn="l">
              <a:defRPr sz="1100" b="1">
                <a:solidFill>
                  <a:srgbClr val="2D3238"/>
                </a:solidFill>
                <a:latin typeface="Aptos"/>
              </a:defRPr>
            </a:pPr>
            <a:r>
              <a:t>2.2%</a:t>
            </a:r>
          </a:p>
        </p:txBody>
      </p:sp>
      <p:sp>
        <p:nvSpPr>
          <p:cNvPr id="24" name="TextBox 23"/>
          <p:cNvSpPr txBox="1"/>
          <p:nvPr/>
        </p:nvSpPr>
        <p:spPr>
          <a:xfrm>
            <a:off x="731520" y="4242816"/>
            <a:ext cx="1005840" cy="274320"/>
          </a:xfrm>
          <a:prstGeom prst="rect">
            <a:avLst/>
          </a:prstGeom>
          <a:noFill/>
        </p:spPr>
        <p:txBody>
          <a:bodyPr wrap="square">
            <a:spAutoFit/>
          </a:bodyPr>
          <a:lstStyle/>
          <a:p>
            <a:pPr algn="l">
              <a:defRPr sz="1150" b="1">
                <a:solidFill>
                  <a:srgbClr val="2D3238"/>
                </a:solidFill>
                <a:latin typeface="Aptos"/>
              </a:defRPr>
            </a:pPr>
            <a:r>
              <a:t>Saturday</a:t>
            </a:r>
          </a:p>
        </p:txBody>
      </p:sp>
      <p:sp>
        <p:nvSpPr>
          <p:cNvPr id="25" name="Rounded Rectangle 24"/>
          <p:cNvSpPr/>
          <p:nvPr/>
        </p:nvSpPr>
        <p:spPr>
          <a:xfrm>
            <a:off x="1691640" y="4288536"/>
            <a:ext cx="4617720" cy="292608"/>
          </a:xfrm>
          <a:prstGeom prst="round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1691640" y="4288536"/>
            <a:ext cx="2770632" cy="292608"/>
          </a:xfrm>
          <a:prstGeom prst="roundRect">
            <a:avLst/>
          </a:prstGeom>
          <a:solidFill>
            <a:srgbClr val="699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82512" y="4242816"/>
            <a:ext cx="731520" cy="274320"/>
          </a:xfrm>
          <a:prstGeom prst="rect">
            <a:avLst/>
          </a:prstGeom>
          <a:noFill/>
        </p:spPr>
        <p:txBody>
          <a:bodyPr wrap="square">
            <a:spAutoFit/>
          </a:bodyPr>
          <a:lstStyle/>
          <a:p>
            <a:pPr algn="l">
              <a:defRPr sz="1100" b="1">
                <a:solidFill>
                  <a:srgbClr val="2D3238"/>
                </a:solidFill>
                <a:latin typeface="Aptos"/>
              </a:defRPr>
            </a:pPr>
            <a:r>
              <a:t>2.1%</a:t>
            </a:r>
          </a:p>
        </p:txBody>
      </p:sp>
      <p:sp>
        <p:nvSpPr>
          <p:cNvPr id="28" name="TextBox 27"/>
          <p:cNvSpPr txBox="1"/>
          <p:nvPr/>
        </p:nvSpPr>
        <p:spPr>
          <a:xfrm>
            <a:off x="731520" y="4809744"/>
            <a:ext cx="1005840" cy="274320"/>
          </a:xfrm>
          <a:prstGeom prst="rect">
            <a:avLst/>
          </a:prstGeom>
          <a:noFill/>
        </p:spPr>
        <p:txBody>
          <a:bodyPr wrap="square">
            <a:spAutoFit/>
          </a:bodyPr>
          <a:lstStyle/>
          <a:p>
            <a:pPr algn="l">
              <a:defRPr sz="1150" b="1">
                <a:solidFill>
                  <a:srgbClr val="2D3238"/>
                </a:solidFill>
                <a:latin typeface="Aptos"/>
              </a:defRPr>
            </a:pPr>
            <a:r>
              <a:t>Sunday</a:t>
            </a:r>
          </a:p>
        </p:txBody>
      </p:sp>
      <p:sp>
        <p:nvSpPr>
          <p:cNvPr id="29" name="Rounded Rectangle 28"/>
          <p:cNvSpPr/>
          <p:nvPr/>
        </p:nvSpPr>
        <p:spPr>
          <a:xfrm>
            <a:off x="1691640" y="4855464"/>
            <a:ext cx="4617720" cy="292608"/>
          </a:xfrm>
          <a:prstGeom prst="roundRect">
            <a:avLst/>
          </a:prstGeom>
          <a:solidFill>
            <a:srgbClr val="F2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1691640" y="4855464"/>
            <a:ext cx="3298371" cy="292608"/>
          </a:xfrm>
          <a:prstGeom prst="roundRect">
            <a:avLst/>
          </a:prstGeom>
          <a:solidFill>
            <a:srgbClr val="699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82512" y="4809744"/>
            <a:ext cx="731520" cy="274320"/>
          </a:xfrm>
          <a:prstGeom prst="rect">
            <a:avLst/>
          </a:prstGeom>
          <a:noFill/>
        </p:spPr>
        <p:txBody>
          <a:bodyPr wrap="square">
            <a:spAutoFit/>
          </a:bodyPr>
          <a:lstStyle/>
          <a:p>
            <a:pPr algn="l">
              <a:defRPr sz="1100" b="1">
                <a:solidFill>
                  <a:srgbClr val="2D3238"/>
                </a:solidFill>
                <a:latin typeface="Aptos"/>
              </a:defRPr>
            </a:pPr>
            <a:r>
              <a:t>2.5%</a:t>
            </a:r>
          </a:p>
        </p:txBody>
      </p:sp>
      <p:sp>
        <p:nvSpPr>
          <p:cNvPr id="32" name="Rounded Rectangle 31"/>
          <p:cNvSpPr/>
          <p:nvPr/>
        </p:nvSpPr>
        <p:spPr>
          <a:xfrm>
            <a:off x="6858000" y="1508760"/>
            <a:ext cx="4297680" cy="1325880"/>
          </a:xfrm>
          <a:prstGeom prst="roundRect">
            <a:avLst/>
          </a:prstGeom>
          <a:solidFill>
            <a:srgbClr val="E5F2FA"/>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858000" y="1508760"/>
            <a:ext cx="64008" cy="1325880"/>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040880" y="1664207"/>
            <a:ext cx="3977640" cy="228600"/>
          </a:xfrm>
          <a:prstGeom prst="rect">
            <a:avLst/>
          </a:prstGeom>
          <a:noFill/>
        </p:spPr>
        <p:txBody>
          <a:bodyPr wrap="square">
            <a:spAutoFit/>
          </a:bodyPr>
          <a:lstStyle/>
          <a:p>
            <a:pPr algn="l">
              <a:defRPr sz="1050" b="1">
                <a:solidFill>
                  <a:srgbClr val="69717A"/>
                </a:solidFill>
                <a:latin typeface="Aptos"/>
              </a:defRPr>
            </a:pPr>
            <a:r>
              <a:t>HIGHEST DAY</a:t>
            </a:r>
          </a:p>
        </p:txBody>
      </p:sp>
      <p:sp>
        <p:nvSpPr>
          <p:cNvPr id="35" name="TextBox 34"/>
          <p:cNvSpPr txBox="1"/>
          <p:nvPr/>
        </p:nvSpPr>
        <p:spPr>
          <a:xfrm>
            <a:off x="7040880" y="2011680"/>
            <a:ext cx="3977640" cy="384048"/>
          </a:xfrm>
          <a:prstGeom prst="rect">
            <a:avLst/>
          </a:prstGeom>
          <a:noFill/>
        </p:spPr>
        <p:txBody>
          <a:bodyPr wrap="square">
            <a:spAutoFit/>
          </a:bodyPr>
          <a:lstStyle/>
          <a:p>
            <a:pPr algn="l">
              <a:defRPr sz="2200" b="1">
                <a:solidFill>
                  <a:srgbClr val="1F3448"/>
                </a:solidFill>
                <a:latin typeface="Aptos"/>
              </a:defRPr>
            </a:pPr>
            <a:r>
              <a:t>Monday</a:t>
            </a:r>
          </a:p>
        </p:txBody>
      </p:sp>
      <p:sp>
        <p:nvSpPr>
          <p:cNvPr id="36" name="TextBox 35"/>
          <p:cNvSpPr txBox="1"/>
          <p:nvPr/>
        </p:nvSpPr>
        <p:spPr>
          <a:xfrm>
            <a:off x="7040880" y="2496312"/>
            <a:ext cx="3977640" cy="274320"/>
          </a:xfrm>
          <a:prstGeom prst="rect">
            <a:avLst/>
          </a:prstGeom>
          <a:noFill/>
        </p:spPr>
        <p:txBody>
          <a:bodyPr wrap="square">
            <a:spAutoFit/>
          </a:bodyPr>
          <a:lstStyle/>
          <a:p>
            <a:pPr algn="l">
              <a:defRPr sz="1050" b="0">
                <a:solidFill>
                  <a:srgbClr val="69717A"/>
                </a:solidFill>
                <a:latin typeface="Aptos"/>
              </a:defRPr>
            </a:pPr>
            <a:r>
              <a:t>≈3.3% conversion rate</a:t>
            </a:r>
          </a:p>
        </p:txBody>
      </p:sp>
      <p:sp>
        <p:nvSpPr>
          <p:cNvPr id="37" name="Rounded Rectangle 36"/>
          <p:cNvSpPr/>
          <p:nvPr/>
        </p:nvSpPr>
        <p:spPr>
          <a:xfrm>
            <a:off x="6858000" y="3063240"/>
            <a:ext cx="4297680" cy="1325880"/>
          </a:xfrm>
          <a:prstGeom prst="roundRect">
            <a:avLst/>
          </a:prstGeom>
          <a:solidFill>
            <a:srgbClr val="F2F5F7"/>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858000" y="3063240"/>
            <a:ext cx="64008" cy="1325880"/>
          </a:xfrm>
          <a:prstGeom prst="rect">
            <a:avLst/>
          </a:prstGeom>
          <a:solidFill>
            <a:srgbClr val="E19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040880" y="3218688"/>
            <a:ext cx="3977640" cy="228600"/>
          </a:xfrm>
          <a:prstGeom prst="rect">
            <a:avLst/>
          </a:prstGeom>
          <a:noFill/>
        </p:spPr>
        <p:txBody>
          <a:bodyPr wrap="square">
            <a:spAutoFit/>
          </a:bodyPr>
          <a:lstStyle/>
          <a:p>
            <a:pPr algn="l">
              <a:defRPr sz="1050" b="1">
                <a:solidFill>
                  <a:srgbClr val="69717A"/>
                </a:solidFill>
                <a:latin typeface="Aptos"/>
              </a:defRPr>
            </a:pPr>
            <a:r>
              <a:t>LOWER DAYS</a:t>
            </a:r>
          </a:p>
        </p:txBody>
      </p:sp>
      <p:sp>
        <p:nvSpPr>
          <p:cNvPr id="40" name="TextBox 39"/>
          <p:cNvSpPr txBox="1"/>
          <p:nvPr/>
        </p:nvSpPr>
        <p:spPr>
          <a:xfrm>
            <a:off x="7040880" y="3566160"/>
            <a:ext cx="3977640" cy="384048"/>
          </a:xfrm>
          <a:prstGeom prst="rect">
            <a:avLst/>
          </a:prstGeom>
          <a:noFill/>
        </p:spPr>
        <p:txBody>
          <a:bodyPr wrap="square">
            <a:spAutoFit/>
          </a:bodyPr>
          <a:lstStyle/>
          <a:p>
            <a:pPr algn="l">
              <a:defRPr sz="2200" b="1">
                <a:solidFill>
                  <a:srgbClr val="1F3448"/>
                </a:solidFill>
                <a:latin typeface="Aptos"/>
              </a:defRPr>
            </a:pPr>
            <a:r>
              <a:t>Thursday / Saturday</a:t>
            </a:r>
          </a:p>
        </p:txBody>
      </p:sp>
      <p:sp>
        <p:nvSpPr>
          <p:cNvPr id="41" name="TextBox 40"/>
          <p:cNvSpPr txBox="1"/>
          <p:nvPr/>
        </p:nvSpPr>
        <p:spPr>
          <a:xfrm>
            <a:off x="7040880" y="4050791"/>
            <a:ext cx="3977640" cy="274320"/>
          </a:xfrm>
          <a:prstGeom prst="rect">
            <a:avLst/>
          </a:prstGeom>
          <a:noFill/>
        </p:spPr>
        <p:txBody>
          <a:bodyPr wrap="square">
            <a:spAutoFit/>
          </a:bodyPr>
          <a:lstStyle/>
          <a:p>
            <a:pPr algn="l">
              <a:defRPr sz="1050" b="0">
                <a:solidFill>
                  <a:srgbClr val="69717A"/>
                </a:solidFill>
                <a:latin typeface="Aptos"/>
              </a:defRPr>
            </a:pPr>
            <a:r>
              <a:t>≈2.1% conversion rate</a:t>
            </a:r>
          </a:p>
        </p:txBody>
      </p:sp>
      <p:sp>
        <p:nvSpPr>
          <p:cNvPr id="42" name="TextBox 41"/>
          <p:cNvSpPr txBox="1"/>
          <p:nvPr/>
        </p:nvSpPr>
        <p:spPr>
          <a:xfrm>
            <a:off x="6903720" y="4709160"/>
            <a:ext cx="4160520" cy="822960"/>
          </a:xfrm>
          <a:prstGeom prst="rect">
            <a:avLst/>
          </a:prstGeom>
          <a:noFill/>
        </p:spPr>
        <p:txBody>
          <a:bodyPr wrap="square">
            <a:spAutoFit/>
          </a:bodyPr>
          <a:lstStyle/>
          <a:p>
            <a:pPr algn="l">
              <a:defRPr sz="1300" b="0">
                <a:solidFill>
                  <a:srgbClr val="2D3238"/>
                </a:solidFill>
                <a:latin typeface="Aptos"/>
              </a:defRPr>
            </a:pPr>
            <a:r>
              <a:t>Day-of-week is a useful segmentation variable for a future test.</a:t>
            </a:r>
          </a:p>
        </p:txBody>
      </p:sp>
      <p:sp>
        <p:nvSpPr>
          <p:cNvPr id="43" name="Rectangle 42"/>
          <p:cNvSpPr/>
          <p:nvPr/>
        </p:nvSpPr>
        <p:spPr>
          <a:xfrm>
            <a:off x="411480" y="6428232"/>
            <a:ext cx="11338560" cy="10972"/>
          </a:xfrm>
          <a:prstGeom prst="rect">
            <a:avLst/>
          </a:prstGeom>
          <a:solidFill>
            <a:srgbClr val="34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2919" y="6473952"/>
            <a:ext cx="11773747" cy="223138"/>
          </a:xfrm>
          <a:prstGeom prst="rect">
            <a:avLst/>
          </a:prstGeom>
          <a:noFill/>
        </p:spPr>
        <p:txBody>
          <a:bodyPr wrap="square">
            <a:spAutoFit/>
          </a:bodyPr>
          <a:lstStyle/>
          <a:p>
            <a:pPr algn="l">
              <a:defRPr sz="850" b="0">
                <a:solidFill>
                  <a:srgbClr val="69717A"/>
                </a:solidFill>
                <a:latin typeface="Aptos"/>
              </a:defRPr>
            </a:pPr>
            <a:r>
              <a:rPr dirty="0"/>
              <a:t>Author: Teresa Mendes Coelho                                                </a:t>
            </a:r>
            <a:r>
              <a:rPr lang="pt-PT" dirty="0"/>
              <a:t>                                                                                                                                                                                                                                                                                       </a:t>
            </a:r>
            <a:r>
              <a:rPr dirty="0"/>
              <a:t>    </a:t>
            </a:r>
            <a:r>
              <a:rPr dirty="0" err="1"/>
              <a:t>Ironhack</a:t>
            </a:r>
            <a:r>
              <a:rPr dirty="0"/>
              <a:t> bootcamp Data Analytics 2026</a:t>
            </a:r>
          </a:p>
        </p:txBody>
      </p:sp>
      <p:pic>
        <p:nvPicPr>
          <p:cNvPr id="45" name="Picture 44" descr="3e6d4280-1049-4738-ab33-95281aa5f1cd.png"/>
          <p:cNvPicPr>
            <a:picLocks noChangeAspect="1"/>
          </p:cNvPicPr>
          <p:nvPr/>
        </p:nvPicPr>
        <p:blipFill>
          <a:blip r:embed="rId2"/>
          <a:stretch>
            <a:fillRect/>
          </a:stretch>
        </p:blipFill>
        <p:spPr>
          <a:xfrm>
            <a:off x="11440287" y="6465147"/>
            <a:ext cx="253746" cy="2743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10972800" cy="502920"/>
          </a:xfrm>
          <a:prstGeom prst="rect">
            <a:avLst/>
          </a:prstGeom>
          <a:noFill/>
        </p:spPr>
        <p:txBody>
          <a:bodyPr wrap="square">
            <a:spAutoFit/>
          </a:bodyPr>
          <a:lstStyle/>
          <a:p>
            <a:pPr algn="l">
              <a:defRPr sz="2800" b="1">
                <a:solidFill>
                  <a:srgbClr val="1F3448"/>
                </a:solidFill>
                <a:latin typeface="Aptos"/>
              </a:defRPr>
            </a:pPr>
            <a:r>
              <a:t>6. Advertising Volume by Hour</a:t>
            </a:r>
          </a:p>
        </p:txBody>
      </p:sp>
      <p:sp>
        <p:nvSpPr>
          <p:cNvPr id="3" name="TextBox 2"/>
          <p:cNvSpPr txBox="1"/>
          <p:nvPr/>
        </p:nvSpPr>
        <p:spPr>
          <a:xfrm>
            <a:off x="621792" y="896112"/>
            <a:ext cx="10789920" cy="347472"/>
          </a:xfrm>
          <a:prstGeom prst="rect">
            <a:avLst/>
          </a:prstGeom>
          <a:noFill/>
        </p:spPr>
        <p:txBody>
          <a:bodyPr wrap="square">
            <a:spAutoFit/>
          </a:bodyPr>
          <a:lstStyle/>
          <a:p>
            <a:pPr algn="l">
              <a:defRPr sz="1250" b="0">
                <a:solidFill>
                  <a:srgbClr val="69717A"/>
                </a:solidFill>
                <a:latin typeface="Aptos"/>
              </a:defRPr>
            </a:pPr>
            <a:r>
              <a:t>When is advertising activity highest?</a:t>
            </a:r>
          </a:p>
        </p:txBody>
      </p:sp>
      <p:grpSp>
        <p:nvGrpSpPr>
          <p:cNvPr id="58" name="Agrupar 57">
            <a:extLst>
              <a:ext uri="{FF2B5EF4-FFF2-40B4-BE49-F238E27FC236}">
                <a16:creationId xmlns:a16="http://schemas.microsoft.com/office/drawing/2014/main" id="{19C7C983-B8F7-8065-4543-9CCFCBBCA078}"/>
              </a:ext>
            </a:extLst>
          </p:cNvPr>
          <p:cNvGrpSpPr/>
          <p:nvPr/>
        </p:nvGrpSpPr>
        <p:grpSpPr>
          <a:xfrm>
            <a:off x="707611" y="2565947"/>
            <a:ext cx="10380535" cy="3196180"/>
            <a:chOff x="758952" y="1970180"/>
            <a:chExt cx="10380535" cy="3196180"/>
          </a:xfrm>
        </p:grpSpPr>
        <p:sp>
          <p:nvSpPr>
            <p:cNvPr id="4" name="Rectangle 3"/>
            <p:cNvSpPr/>
            <p:nvPr/>
          </p:nvSpPr>
          <p:spPr>
            <a:xfrm>
              <a:off x="777240" y="4585716"/>
              <a:ext cx="284797" cy="306324"/>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58952" y="4965192"/>
              <a:ext cx="384048" cy="201168"/>
            </a:xfrm>
            <a:prstGeom prst="rect">
              <a:avLst/>
            </a:prstGeom>
            <a:noFill/>
          </p:spPr>
          <p:txBody>
            <a:bodyPr wrap="square">
              <a:spAutoFit/>
            </a:bodyPr>
            <a:lstStyle/>
            <a:p>
              <a:pPr algn="ctr">
                <a:defRPr sz="800" b="0">
                  <a:solidFill>
                    <a:srgbClr val="69717A"/>
                  </a:solidFill>
                  <a:latin typeface="Aptos"/>
                </a:defRPr>
              </a:pPr>
              <a:r>
                <a:t>0</a:t>
              </a:r>
            </a:p>
          </p:txBody>
        </p:sp>
        <p:sp>
          <p:nvSpPr>
            <p:cNvPr id="6" name="Rectangle 5"/>
            <p:cNvSpPr/>
            <p:nvPr/>
          </p:nvSpPr>
          <p:spPr>
            <a:xfrm>
              <a:off x="1215390" y="4609279"/>
              <a:ext cx="284797" cy="282760"/>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653540" y="4585716"/>
              <a:ext cx="284797" cy="306324"/>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35252" y="4965192"/>
              <a:ext cx="384048" cy="201168"/>
            </a:xfrm>
            <a:prstGeom prst="rect">
              <a:avLst/>
            </a:prstGeom>
            <a:noFill/>
          </p:spPr>
          <p:txBody>
            <a:bodyPr wrap="square">
              <a:spAutoFit/>
            </a:bodyPr>
            <a:lstStyle/>
            <a:p>
              <a:pPr algn="ctr">
                <a:defRPr sz="800" b="0">
                  <a:solidFill>
                    <a:srgbClr val="69717A"/>
                  </a:solidFill>
                  <a:latin typeface="Aptos"/>
                </a:defRPr>
              </a:pPr>
              <a:r>
                <a:t>2</a:t>
              </a:r>
            </a:p>
          </p:txBody>
        </p:sp>
        <p:sp>
          <p:nvSpPr>
            <p:cNvPr id="9" name="Rectangle 8"/>
            <p:cNvSpPr/>
            <p:nvPr/>
          </p:nvSpPr>
          <p:spPr>
            <a:xfrm>
              <a:off x="2091690" y="4750659"/>
              <a:ext cx="284797" cy="141380"/>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29840" y="4844913"/>
              <a:ext cx="284797" cy="47126"/>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1552" y="4965192"/>
              <a:ext cx="384048" cy="201168"/>
            </a:xfrm>
            <a:prstGeom prst="rect">
              <a:avLst/>
            </a:prstGeom>
            <a:noFill/>
          </p:spPr>
          <p:txBody>
            <a:bodyPr wrap="square">
              <a:spAutoFit/>
            </a:bodyPr>
            <a:lstStyle/>
            <a:p>
              <a:pPr algn="ctr">
                <a:defRPr sz="800" b="0">
                  <a:solidFill>
                    <a:srgbClr val="69717A"/>
                  </a:solidFill>
                  <a:latin typeface="Aptos"/>
                </a:defRPr>
              </a:pPr>
              <a:r>
                <a:t>4</a:t>
              </a:r>
            </a:p>
          </p:txBody>
        </p:sp>
        <p:sp>
          <p:nvSpPr>
            <p:cNvPr id="12" name="Rectangle 11"/>
            <p:cNvSpPr/>
            <p:nvPr/>
          </p:nvSpPr>
          <p:spPr>
            <a:xfrm>
              <a:off x="2967990" y="4821349"/>
              <a:ext cx="284797" cy="70690"/>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06140" y="4679969"/>
              <a:ext cx="284797" cy="212070"/>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87852" y="4965192"/>
              <a:ext cx="384048" cy="201168"/>
            </a:xfrm>
            <a:prstGeom prst="rect">
              <a:avLst/>
            </a:prstGeom>
            <a:noFill/>
          </p:spPr>
          <p:txBody>
            <a:bodyPr wrap="square">
              <a:spAutoFit/>
            </a:bodyPr>
            <a:lstStyle/>
            <a:p>
              <a:pPr algn="ctr">
                <a:defRPr sz="800" b="0">
                  <a:solidFill>
                    <a:srgbClr val="69717A"/>
                  </a:solidFill>
                  <a:latin typeface="Aptos"/>
                </a:defRPr>
              </a:pPr>
              <a:r>
                <a:t>6</a:t>
              </a:r>
            </a:p>
          </p:txBody>
        </p:sp>
        <p:sp>
          <p:nvSpPr>
            <p:cNvPr id="15" name="Rectangle 14"/>
            <p:cNvSpPr/>
            <p:nvPr/>
          </p:nvSpPr>
          <p:spPr>
            <a:xfrm>
              <a:off x="3844290" y="4420772"/>
              <a:ext cx="284797" cy="471267"/>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282440" y="3902377"/>
              <a:ext cx="284797" cy="989662"/>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64152" y="4965192"/>
              <a:ext cx="384048" cy="201168"/>
            </a:xfrm>
            <a:prstGeom prst="rect">
              <a:avLst/>
            </a:prstGeom>
            <a:noFill/>
          </p:spPr>
          <p:txBody>
            <a:bodyPr wrap="square">
              <a:spAutoFit/>
            </a:bodyPr>
            <a:lstStyle/>
            <a:p>
              <a:pPr algn="ctr">
                <a:defRPr sz="800" b="0">
                  <a:solidFill>
                    <a:srgbClr val="69717A"/>
                  </a:solidFill>
                  <a:latin typeface="Aptos"/>
                </a:defRPr>
              </a:pPr>
              <a:r>
                <a:t>8</a:t>
              </a:r>
            </a:p>
          </p:txBody>
        </p:sp>
        <p:sp>
          <p:nvSpPr>
            <p:cNvPr id="18" name="Rectangle 17"/>
            <p:cNvSpPr/>
            <p:nvPr/>
          </p:nvSpPr>
          <p:spPr>
            <a:xfrm>
              <a:off x="4720590" y="3171912"/>
              <a:ext cx="284797" cy="1720127"/>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8740" y="2559264"/>
              <a:ext cx="284797" cy="2332775"/>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140452" y="4965192"/>
              <a:ext cx="384048" cy="201168"/>
            </a:xfrm>
            <a:prstGeom prst="rect">
              <a:avLst/>
            </a:prstGeom>
            <a:noFill/>
          </p:spPr>
          <p:txBody>
            <a:bodyPr wrap="square">
              <a:spAutoFit/>
            </a:bodyPr>
            <a:lstStyle/>
            <a:p>
              <a:pPr algn="ctr">
                <a:defRPr sz="800" b="0">
                  <a:solidFill>
                    <a:srgbClr val="69717A"/>
                  </a:solidFill>
                  <a:latin typeface="Aptos"/>
                </a:defRPr>
              </a:pPr>
              <a:r>
                <a:t>10</a:t>
              </a:r>
            </a:p>
          </p:txBody>
        </p:sp>
        <p:sp>
          <p:nvSpPr>
            <p:cNvPr id="21" name="Rectangle 20"/>
            <p:cNvSpPr/>
            <p:nvPr/>
          </p:nvSpPr>
          <p:spPr>
            <a:xfrm>
              <a:off x="5596889" y="2182250"/>
              <a:ext cx="284797" cy="2709789"/>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035040" y="1970180"/>
              <a:ext cx="284797" cy="2921859"/>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016752" y="4965192"/>
              <a:ext cx="384048" cy="201168"/>
            </a:xfrm>
            <a:prstGeom prst="rect">
              <a:avLst/>
            </a:prstGeom>
            <a:noFill/>
          </p:spPr>
          <p:txBody>
            <a:bodyPr wrap="square">
              <a:spAutoFit/>
            </a:bodyPr>
            <a:lstStyle/>
            <a:p>
              <a:pPr algn="ctr">
                <a:defRPr sz="800" b="0">
                  <a:solidFill>
                    <a:srgbClr val="69717A"/>
                  </a:solidFill>
                  <a:latin typeface="Aptos"/>
                </a:defRPr>
              </a:pPr>
              <a:r>
                <a:t>12</a:t>
              </a:r>
            </a:p>
          </p:txBody>
        </p:sp>
        <p:sp>
          <p:nvSpPr>
            <p:cNvPr id="24" name="Rectangle 23"/>
            <p:cNvSpPr/>
            <p:nvPr/>
          </p:nvSpPr>
          <p:spPr>
            <a:xfrm>
              <a:off x="6473190" y="2017307"/>
              <a:ext cx="284797" cy="2874732"/>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911339" y="2276504"/>
              <a:ext cx="284797" cy="2615535"/>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93052" y="4965192"/>
              <a:ext cx="384048" cy="201168"/>
            </a:xfrm>
            <a:prstGeom prst="rect">
              <a:avLst/>
            </a:prstGeom>
            <a:noFill/>
          </p:spPr>
          <p:txBody>
            <a:bodyPr wrap="square">
              <a:spAutoFit/>
            </a:bodyPr>
            <a:lstStyle/>
            <a:p>
              <a:pPr algn="ctr">
                <a:defRPr sz="800" b="0">
                  <a:solidFill>
                    <a:srgbClr val="69717A"/>
                  </a:solidFill>
                  <a:latin typeface="Aptos"/>
                </a:defRPr>
              </a:pPr>
              <a:r>
                <a:t>14</a:t>
              </a:r>
            </a:p>
          </p:txBody>
        </p:sp>
        <p:sp>
          <p:nvSpPr>
            <p:cNvPr id="27" name="Rectangle 26"/>
            <p:cNvSpPr/>
            <p:nvPr/>
          </p:nvSpPr>
          <p:spPr>
            <a:xfrm>
              <a:off x="7349490" y="2205814"/>
              <a:ext cx="284797" cy="2686225"/>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787640" y="2912715"/>
              <a:ext cx="284797" cy="1979324"/>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69352" y="4965192"/>
              <a:ext cx="384048" cy="201168"/>
            </a:xfrm>
            <a:prstGeom prst="rect">
              <a:avLst/>
            </a:prstGeom>
            <a:noFill/>
          </p:spPr>
          <p:txBody>
            <a:bodyPr wrap="square">
              <a:spAutoFit/>
            </a:bodyPr>
            <a:lstStyle/>
            <a:p>
              <a:pPr algn="ctr">
                <a:defRPr sz="800" b="0">
                  <a:solidFill>
                    <a:srgbClr val="69717A"/>
                  </a:solidFill>
                  <a:latin typeface="Aptos"/>
                </a:defRPr>
              </a:pPr>
              <a:r>
                <a:t>16</a:t>
              </a:r>
            </a:p>
          </p:txBody>
        </p:sp>
        <p:sp>
          <p:nvSpPr>
            <p:cNvPr id="30" name="Rectangle 29"/>
            <p:cNvSpPr/>
            <p:nvPr/>
          </p:nvSpPr>
          <p:spPr>
            <a:xfrm>
              <a:off x="8225790" y="2889152"/>
              <a:ext cx="284797" cy="2002887"/>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663940" y="2936279"/>
              <a:ext cx="284797" cy="1955760"/>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645652" y="4965192"/>
              <a:ext cx="384048" cy="201168"/>
            </a:xfrm>
            <a:prstGeom prst="rect">
              <a:avLst/>
            </a:prstGeom>
            <a:noFill/>
          </p:spPr>
          <p:txBody>
            <a:bodyPr wrap="square">
              <a:spAutoFit/>
            </a:bodyPr>
            <a:lstStyle/>
            <a:p>
              <a:pPr algn="ctr">
                <a:defRPr sz="800" b="0">
                  <a:solidFill>
                    <a:srgbClr val="69717A"/>
                  </a:solidFill>
                  <a:latin typeface="Aptos"/>
                </a:defRPr>
              </a:pPr>
              <a:r>
                <a:t>18</a:t>
              </a:r>
            </a:p>
          </p:txBody>
        </p:sp>
        <p:sp>
          <p:nvSpPr>
            <p:cNvPr id="33" name="Rectangle 32"/>
            <p:cNvSpPr/>
            <p:nvPr/>
          </p:nvSpPr>
          <p:spPr>
            <a:xfrm>
              <a:off x="9102090" y="3077659"/>
              <a:ext cx="284797" cy="1814380"/>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4" name="Rectangle 33"/>
            <p:cNvSpPr/>
            <p:nvPr/>
          </p:nvSpPr>
          <p:spPr>
            <a:xfrm>
              <a:off x="9540240" y="3101222"/>
              <a:ext cx="284797" cy="1790817"/>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521952" y="4965192"/>
              <a:ext cx="384048" cy="201168"/>
            </a:xfrm>
            <a:prstGeom prst="rect">
              <a:avLst/>
            </a:prstGeom>
            <a:noFill/>
          </p:spPr>
          <p:txBody>
            <a:bodyPr wrap="square">
              <a:spAutoFit/>
            </a:bodyPr>
            <a:lstStyle/>
            <a:p>
              <a:pPr algn="ctr">
                <a:defRPr sz="800" b="0">
                  <a:solidFill>
                    <a:srgbClr val="69717A"/>
                  </a:solidFill>
                  <a:latin typeface="Aptos"/>
                </a:defRPr>
              </a:pPr>
              <a:r>
                <a:t>20</a:t>
              </a:r>
            </a:p>
          </p:txBody>
        </p:sp>
        <p:sp>
          <p:nvSpPr>
            <p:cNvPr id="36" name="Rectangle 35"/>
            <p:cNvSpPr/>
            <p:nvPr/>
          </p:nvSpPr>
          <p:spPr>
            <a:xfrm>
              <a:off x="9978390" y="3077659"/>
              <a:ext cx="284797" cy="1814380"/>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0416540" y="3454673"/>
              <a:ext cx="284797" cy="1437366"/>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398252" y="4965192"/>
              <a:ext cx="384048" cy="201168"/>
            </a:xfrm>
            <a:prstGeom prst="rect">
              <a:avLst/>
            </a:prstGeom>
            <a:noFill/>
          </p:spPr>
          <p:txBody>
            <a:bodyPr wrap="square">
              <a:spAutoFit/>
            </a:bodyPr>
            <a:lstStyle/>
            <a:p>
              <a:pPr algn="ctr">
                <a:defRPr sz="800" b="0">
                  <a:solidFill>
                    <a:srgbClr val="69717A"/>
                  </a:solidFill>
                  <a:latin typeface="Aptos"/>
                </a:defRPr>
              </a:pPr>
              <a:r>
                <a:t>22</a:t>
              </a:r>
            </a:p>
          </p:txBody>
        </p:sp>
        <p:sp>
          <p:nvSpPr>
            <p:cNvPr id="39" name="Rectangle 38"/>
            <p:cNvSpPr/>
            <p:nvPr/>
          </p:nvSpPr>
          <p:spPr>
            <a:xfrm>
              <a:off x="10854690" y="3925941"/>
              <a:ext cx="284797" cy="966098"/>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40" name="Rounded Rectangle 39"/>
          <p:cNvSpPr/>
          <p:nvPr/>
        </p:nvSpPr>
        <p:spPr>
          <a:xfrm>
            <a:off x="777240" y="1143000"/>
            <a:ext cx="3246120" cy="566928"/>
          </a:xfrm>
          <a:prstGeom prst="roundRect">
            <a:avLst/>
          </a:prstGeom>
          <a:solidFill>
            <a:srgbClr val="E5F2FA"/>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77240" y="1143000"/>
            <a:ext cx="64008" cy="566928"/>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60120" y="1298448"/>
            <a:ext cx="2926079" cy="228600"/>
          </a:xfrm>
          <a:prstGeom prst="rect">
            <a:avLst/>
          </a:prstGeom>
          <a:noFill/>
        </p:spPr>
        <p:txBody>
          <a:bodyPr wrap="square">
            <a:spAutoFit/>
          </a:bodyPr>
          <a:lstStyle/>
          <a:p>
            <a:pPr algn="l">
              <a:defRPr sz="1050" b="1">
                <a:solidFill>
                  <a:srgbClr val="69717A"/>
                </a:solidFill>
                <a:latin typeface="Aptos"/>
              </a:defRPr>
            </a:pPr>
            <a:r>
              <a:t>PEAK AD VOLUME</a:t>
            </a:r>
          </a:p>
        </p:txBody>
      </p:sp>
      <p:sp>
        <p:nvSpPr>
          <p:cNvPr id="45" name="Rounded Rectangle 44"/>
          <p:cNvSpPr/>
          <p:nvPr/>
        </p:nvSpPr>
        <p:spPr>
          <a:xfrm>
            <a:off x="4251960" y="1143000"/>
            <a:ext cx="3246120" cy="566928"/>
          </a:xfrm>
          <a:prstGeom prst="roundRect">
            <a:avLst/>
          </a:prstGeom>
          <a:solidFill>
            <a:srgbClr val="F2F5F7"/>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251960" y="1143000"/>
            <a:ext cx="64008" cy="566928"/>
          </a:xfrm>
          <a:prstGeom prst="rect">
            <a:avLst/>
          </a:prstGeom>
          <a:solidFill>
            <a:srgbClr val="34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434840" y="1298448"/>
            <a:ext cx="2926079" cy="228600"/>
          </a:xfrm>
          <a:prstGeom prst="rect">
            <a:avLst/>
          </a:prstGeom>
          <a:noFill/>
        </p:spPr>
        <p:txBody>
          <a:bodyPr wrap="square">
            <a:spAutoFit/>
          </a:bodyPr>
          <a:lstStyle/>
          <a:p>
            <a:pPr algn="l">
              <a:defRPr sz="1050" b="1">
                <a:solidFill>
                  <a:srgbClr val="69717A"/>
                </a:solidFill>
                <a:latin typeface="Aptos"/>
              </a:defRPr>
            </a:pPr>
            <a:r>
              <a:t>PATTERN</a:t>
            </a:r>
          </a:p>
        </p:txBody>
      </p:sp>
      <p:sp>
        <p:nvSpPr>
          <p:cNvPr id="50" name="Rounded Rectangle 49"/>
          <p:cNvSpPr/>
          <p:nvPr/>
        </p:nvSpPr>
        <p:spPr>
          <a:xfrm>
            <a:off x="7726679" y="1143000"/>
            <a:ext cx="3246120" cy="566928"/>
          </a:xfrm>
          <a:prstGeom prst="roundRect">
            <a:avLst/>
          </a:prstGeom>
          <a:solidFill>
            <a:srgbClr val="F2F5F7"/>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726679" y="1143000"/>
            <a:ext cx="64008" cy="566928"/>
          </a:xfrm>
          <a:prstGeom prst="rect">
            <a:avLst/>
          </a:prstGeom>
          <a:solidFill>
            <a:srgbClr val="E19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909559" y="1298448"/>
            <a:ext cx="2926079" cy="228600"/>
          </a:xfrm>
          <a:prstGeom prst="rect">
            <a:avLst/>
          </a:prstGeom>
          <a:noFill/>
        </p:spPr>
        <p:txBody>
          <a:bodyPr wrap="square">
            <a:spAutoFit/>
          </a:bodyPr>
          <a:lstStyle/>
          <a:p>
            <a:pPr algn="l">
              <a:defRPr sz="1050" b="1">
                <a:solidFill>
                  <a:srgbClr val="69717A"/>
                </a:solidFill>
                <a:latin typeface="Aptos"/>
              </a:defRPr>
            </a:pPr>
            <a:r>
              <a:t>IMPLICATION</a:t>
            </a:r>
          </a:p>
        </p:txBody>
      </p:sp>
      <p:grpSp>
        <p:nvGrpSpPr>
          <p:cNvPr id="61" name="Agrupar 60">
            <a:extLst>
              <a:ext uri="{FF2B5EF4-FFF2-40B4-BE49-F238E27FC236}">
                <a16:creationId xmlns:a16="http://schemas.microsoft.com/office/drawing/2014/main" id="{4193CFA2-6B7C-DE2A-9A55-7E4ADFCE729B}"/>
              </a:ext>
            </a:extLst>
          </p:cNvPr>
          <p:cNvGrpSpPr/>
          <p:nvPr/>
        </p:nvGrpSpPr>
        <p:grpSpPr>
          <a:xfrm>
            <a:off x="960120" y="1705532"/>
            <a:ext cx="9875518" cy="484632"/>
            <a:chOff x="960120" y="1773584"/>
            <a:chExt cx="9875518" cy="484632"/>
          </a:xfrm>
        </p:grpSpPr>
        <p:sp>
          <p:nvSpPr>
            <p:cNvPr id="43" name="TextBox 42"/>
            <p:cNvSpPr txBox="1"/>
            <p:nvPr/>
          </p:nvSpPr>
          <p:spPr>
            <a:xfrm>
              <a:off x="960120" y="1773584"/>
              <a:ext cx="2926079" cy="384048"/>
            </a:xfrm>
            <a:prstGeom prst="rect">
              <a:avLst/>
            </a:prstGeom>
            <a:noFill/>
          </p:spPr>
          <p:txBody>
            <a:bodyPr wrap="square">
              <a:spAutoFit/>
            </a:bodyPr>
            <a:lstStyle/>
            <a:p>
              <a:pPr algn="l">
                <a:defRPr sz="2200" b="1">
                  <a:solidFill>
                    <a:srgbClr val="1F3448"/>
                  </a:solidFill>
                  <a:latin typeface="Aptos"/>
                </a:defRPr>
              </a:pPr>
              <a:r>
                <a:rPr dirty="0"/>
                <a:t>12–13h</a:t>
              </a:r>
            </a:p>
          </p:txBody>
        </p:sp>
        <p:sp>
          <p:nvSpPr>
            <p:cNvPr id="44" name="TextBox 43"/>
            <p:cNvSpPr txBox="1"/>
            <p:nvPr/>
          </p:nvSpPr>
          <p:spPr>
            <a:xfrm>
              <a:off x="960120" y="2258216"/>
              <a:ext cx="2926079" cy="0"/>
            </a:xfrm>
            <a:prstGeom prst="rect">
              <a:avLst/>
            </a:prstGeom>
            <a:noFill/>
          </p:spPr>
          <p:txBody>
            <a:bodyPr wrap="square">
              <a:spAutoFit/>
            </a:bodyPr>
            <a:lstStyle/>
            <a:p>
              <a:pPr algn="l">
                <a:defRPr sz="1050" b="0">
                  <a:solidFill>
                    <a:srgbClr val="69717A"/>
                  </a:solidFill>
                  <a:latin typeface="Aptos"/>
                </a:defRPr>
              </a:pPr>
              <a:r>
                <a:rPr dirty="0"/>
                <a:t>Highest exposure</a:t>
              </a:r>
            </a:p>
          </p:txBody>
        </p:sp>
        <p:grpSp>
          <p:nvGrpSpPr>
            <p:cNvPr id="60" name="Agrupar 59">
              <a:extLst>
                <a:ext uri="{FF2B5EF4-FFF2-40B4-BE49-F238E27FC236}">
                  <a16:creationId xmlns:a16="http://schemas.microsoft.com/office/drawing/2014/main" id="{792D5EFA-7CC7-75D7-0820-74EF7739C6FB}"/>
                </a:ext>
              </a:extLst>
            </p:cNvPr>
            <p:cNvGrpSpPr/>
            <p:nvPr/>
          </p:nvGrpSpPr>
          <p:grpSpPr>
            <a:xfrm>
              <a:off x="4434840" y="1773584"/>
              <a:ext cx="2926079" cy="484632"/>
              <a:chOff x="4434840" y="1773584"/>
              <a:chExt cx="2926079" cy="484632"/>
            </a:xfrm>
          </p:grpSpPr>
          <p:sp>
            <p:nvSpPr>
              <p:cNvPr id="48" name="TextBox 47"/>
              <p:cNvSpPr txBox="1"/>
              <p:nvPr/>
            </p:nvSpPr>
            <p:spPr>
              <a:xfrm>
                <a:off x="4434840" y="1773584"/>
                <a:ext cx="2926079" cy="384048"/>
              </a:xfrm>
              <a:prstGeom prst="rect">
                <a:avLst/>
              </a:prstGeom>
              <a:noFill/>
            </p:spPr>
            <p:txBody>
              <a:bodyPr wrap="square">
                <a:spAutoFit/>
              </a:bodyPr>
              <a:lstStyle/>
              <a:p>
                <a:pPr algn="l">
                  <a:defRPr sz="2200" b="1">
                    <a:solidFill>
                      <a:srgbClr val="1F3448"/>
                    </a:solidFill>
                    <a:latin typeface="Aptos"/>
                  </a:defRPr>
                </a:pPr>
                <a:r>
                  <a:rPr dirty="0"/>
                  <a:t>Midday</a:t>
                </a:r>
              </a:p>
            </p:txBody>
          </p:sp>
          <p:sp>
            <p:nvSpPr>
              <p:cNvPr id="49" name="TextBox 48"/>
              <p:cNvSpPr txBox="1"/>
              <p:nvPr/>
            </p:nvSpPr>
            <p:spPr>
              <a:xfrm>
                <a:off x="4434840" y="2258216"/>
                <a:ext cx="2926079" cy="0"/>
              </a:xfrm>
              <a:prstGeom prst="rect">
                <a:avLst/>
              </a:prstGeom>
              <a:noFill/>
            </p:spPr>
            <p:txBody>
              <a:bodyPr wrap="square">
                <a:spAutoFit/>
              </a:bodyPr>
              <a:lstStyle/>
              <a:p>
                <a:pPr algn="l">
                  <a:defRPr sz="1050" b="0">
                    <a:solidFill>
                      <a:srgbClr val="69717A"/>
                    </a:solidFill>
                    <a:latin typeface="Aptos"/>
                  </a:defRPr>
                </a:pPr>
                <a:r>
                  <a:t>Volume rises sharply from morning</a:t>
                </a:r>
              </a:p>
            </p:txBody>
          </p:sp>
        </p:grpSp>
        <p:grpSp>
          <p:nvGrpSpPr>
            <p:cNvPr id="59" name="Agrupar 58">
              <a:extLst>
                <a:ext uri="{FF2B5EF4-FFF2-40B4-BE49-F238E27FC236}">
                  <a16:creationId xmlns:a16="http://schemas.microsoft.com/office/drawing/2014/main" id="{C31F5176-E9E8-917B-E0FA-BC5CA20DD77E}"/>
                </a:ext>
              </a:extLst>
            </p:cNvPr>
            <p:cNvGrpSpPr/>
            <p:nvPr/>
          </p:nvGrpSpPr>
          <p:grpSpPr>
            <a:xfrm>
              <a:off x="7909559" y="1773584"/>
              <a:ext cx="2926079" cy="484632"/>
              <a:chOff x="7909559" y="1773584"/>
              <a:chExt cx="2926079" cy="484632"/>
            </a:xfrm>
          </p:grpSpPr>
          <p:sp>
            <p:nvSpPr>
              <p:cNvPr id="53" name="TextBox 52"/>
              <p:cNvSpPr txBox="1"/>
              <p:nvPr/>
            </p:nvSpPr>
            <p:spPr>
              <a:xfrm>
                <a:off x="7909559" y="1773584"/>
                <a:ext cx="2926079" cy="384048"/>
              </a:xfrm>
              <a:prstGeom prst="rect">
                <a:avLst/>
              </a:prstGeom>
              <a:noFill/>
            </p:spPr>
            <p:txBody>
              <a:bodyPr wrap="square">
                <a:spAutoFit/>
              </a:bodyPr>
              <a:lstStyle/>
              <a:p>
                <a:pPr algn="l">
                  <a:defRPr sz="2200" b="1">
                    <a:solidFill>
                      <a:srgbClr val="1F3448"/>
                    </a:solidFill>
                    <a:latin typeface="Aptos"/>
                  </a:defRPr>
                </a:pPr>
                <a:r>
                  <a:rPr dirty="0"/>
                  <a:t>Volume ≠ efficiency</a:t>
                </a:r>
              </a:p>
            </p:txBody>
          </p:sp>
          <p:sp>
            <p:nvSpPr>
              <p:cNvPr id="54" name="TextBox 53"/>
              <p:cNvSpPr txBox="1"/>
              <p:nvPr/>
            </p:nvSpPr>
            <p:spPr>
              <a:xfrm>
                <a:off x="7909559" y="2258216"/>
                <a:ext cx="2926079" cy="0"/>
              </a:xfrm>
              <a:prstGeom prst="rect">
                <a:avLst/>
              </a:prstGeom>
              <a:noFill/>
            </p:spPr>
            <p:txBody>
              <a:bodyPr wrap="square">
                <a:spAutoFit/>
              </a:bodyPr>
              <a:lstStyle/>
              <a:p>
                <a:pPr algn="l">
                  <a:defRPr sz="1050" b="0">
                    <a:solidFill>
                      <a:srgbClr val="69717A"/>
                    </a:solidFill>
                    <a:latin typeface="Aptos"/>
                  </a:defRPr>
                </a:pPr>
                <a:r>
                  <a:rPr dirty="0"/>
                  <a:t>High exposure is not automatically best</a:t>
                </a:r>
              </a:p>
            </p:txBody>
          </p:sp>
        </p:grpSp>
      </p:grpSp>
      <p:sp>
        <p:nvSpPr>
          <p:cNvPr id="55" name="Rectangle 54"/>
          <p:cNvSpPr/>
          <p:nvPr/>
        </p:nvSpPr>
        <p:spPr>
          <a:xfrm>
            <a:off x="411480" y="6428232"/>
            <a:ext cx="11338560" cy="10972"/>
          </a:xfrm>
          <a:prstGeom prst="rect">
            <a:avLst/>
          </a:prstGeom>
          <a:solidFill>
            <a:srgbClr val="34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02920" y="6473952"/>
            <a:ext cx="11689080" cy="223138"/>
          </a:xfrm>
          <a:prstGeom prst="rect">
            <a:avLst/>
          </a:prstGeom>
          <a:noFill/>
        </p:spPr>
        <p:txBody>
          <a:bodyPr wrap="square">
            <a:spAutoFit/>
          </a:bodyPr>
          <a:lstStyle/>
          <a:p>
            <a:pPr algn="l">
              <a:defRPr sz="850" b="0">
                <a:solidFill>
                  <a:srgbClr val="69717A"/>
                </a:solidFill>
                <a:latin typeface="Aptos"/>
              </a:defRPr>
            </a:pPr>
            <a:r>
              <a:rPr dirty="0"/>
              <a:t>Author: Teresa Mendes Coelho                                                </a:t>
            </a:r>
            <a:r>
              <a:rPr lang="pt-PT" dirty="0"/>
              <a:t>                                                                                                                                                                                                                                                                                   </a:t>
            </a:r>
            <a:r>
              <a:rPr dirty="0"/>
              <a:t>    </a:t>
            </a:r>
            <a:r>
              <a:rPr dirty="0" err="1"/>
              <a:t>Ironhack</a:t>
            </a:r>
            <a:r>
              <a:rPr dirty="0"/>
              <a:t> bootcamp Data Analytics 2026</a:t>
            </a:r>
          </a:p>
        </p:txBody>
      </p:sp>
      <p:pic>
        <p:nvPicPr>
          <p:cNvPr id="57" name="Picture 56" descr="3e6d4280-1049-4738-ab33-95281aa5f1cd.png"/>
          <p:cNvPicPr>
            <a:picLocks noChangeAspect="1"/>
          </p:cNvPicPr>
          <p:nvPr/>
        </p:nvPicPr>
        <p:blipFill>
          <a:blip r:embed="rId2"/>
          <a:stretch>
            <a:fillRect/>
          </a:stretch>
        </p:blipFill>
        <p:spPr>
          <a:xfrm>
            <a:off x="11435334" y="6473952"/>
            <a:ext cx="253746" cy="2743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10972800" cy="502920"/>
          </a:xfrm>
          <a:prstGeom prst="rect">
            <a:avLst/>
          </a:prstGeom>
          <a:noFill/>
        </p:spPr>
        <p:txBody>
          <a:bodyPr wrap="square">
            <a:spAutoFit/>
          </a:bodyPr>
          <a:lstStyle/>
          <a:p>
            <a:pPr algn="l">
              <a:defRPr sz="2800" b="1">
                <a:solidFill>
                  <a:srgbClr val="1F3448"/>
                </a:solidFill>
                <a:latin typeface="Aptos"/>
              </a:defRPr>
            </a:pPr>
            <a:r>
              <a:t>7. Conversion Rate by Hour</a:t>
            </a:r>
          </a:p>
        </p:txBody>
      </p:sp>
      <p:sp>
        <p:nvSpPr>
          <p:cNvPr id="3" name="TextBox 2"/>
          <p:cNvSpPr txBox="1"/>
          <p:nvPr/>
        </p:nvSpPr>
        <p:spPr>
          <a:xfrm>
            <a:off x="621792" y="896112"/>
            <a:ext cx="10789920" cy="347472"/>
          </a:xfrm>
          <a:prstGeom prst="rect">
            <a:avLst/>
          </a:prstGeom>
          <a:noFill/>
        </p:spPr>
        <p:txBody>
          <a:bodyPr wrap="square">
            <a:spAutoFit/>
          </a:bodyPr>
          <a:lstStyle/>
          <a:p>
            <a:pPr algn="l">
              <a:defRPr sz="1250" b="0">
                <a:solidFill>
                  <a:srgbClr val="69717A"/>
                </a:solidFill>
                <a:latin typeface="Aptos"/>
              </a:defRPr>
            </a:pPr>
            <a:r>
              <a:t>Conversion efficiency follows a different pattern from ad volume</a:t>
            </a:r>
          </a:p>
        </p:txBody>
      </p:sp>
      <p:grpSp>
        <p:nvGrpSpPr>
          <p:cNvPr id="59" name="Agrupar 58">
            <a:extLst>
              <a:ext uri="{FF2B5EF4-FFF2-40B4-BE49-F238E27FC236}">
                <a16:creationId xmlns:a16="http://schemas.microsoft.com/office/drawing/2014/main" id="{C91D646A-6929-C598-A1E5-E1DCF76A66F6}"/>
              </a:ext>
            </a:extLst>
          </p:cNvPr>
          <p:cNvGrpSpPr/>
          <p:nvPr/>
        </p:nvGrpSpPr>
        <p:grpSpPr>
          <a:xfrm>
            <a:off x="707611" y="2602038"/>
            <a:ext cx="10380535" cy="3222689"/>
            <a:chOff x="758952" y="1943671"/>
            <a:chExt cx="10380535" cy="3222689"/>
          </a:xfrm>
        </p:grpSpPr>
        <p:sp>
          <p:nvSpPr>
            <p:cNvPr id="4" name="Rectangle 3"/>
            <p:cNvSpPr/>
            <p:nvPr/>
          </p:nvSpPr>
          <p:spPr>
            <a:xfrm>
              <a:off x="777240" y="3130676"/>
              <a:ext cx="284797" cy="1761363"/>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215390" y="3657171"/>
              <a:ext cx="284797" cy="1234868"/>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653540" y="4193238"/>
              <a:ext cx="284797" cy="698801"/>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91690" y="3886914"/>
              <a:ext cx="284797" cy="1005125"/>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29840" y="3437000"/>
              <a:ext cx="284797" cy="1455039"/>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967990" y="2891361"/>
              <a:ext cx="284797" cy="2000678"/>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06140" y="2757344"/>
              <a:ext cx="284797" cy="2134695"/>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844290" y="3159394"/>
              <a:ext cx="284797" cy="1732645"/>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282440" y="3025378"/>
              <a:ext cx="284797" cy="1866661"/>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720590" y="3054095"/>
              <a:ext cx="284797" cy="1837944"/>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8740" y="2833925"/>
              <a:ext cx="284797" cy="2058114"/>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596889" y="2776489"/>
              <a:ext cx="284797" cy="2115550"/>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035040" y="2613755"/>
              <a:ext cx="284797" cy="2278284"/>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473190" y="2527601"/>
              <a:ext cx="284797" cy="2364438"/>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911339" y="2202132"/>
              <a:ext cx="284797" cy="2689907"/>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349490" y="2058542"/>
              <a:ext cx="284797" cy="2833497"/>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787640" y="1943671"/>
              <a:ext cx="284797" cy="2948368"/>
            </a:xfrm>
            <a:prstGeom prst="rect">
              <a:avLst/>
            </a:prstGeom>
            <a:solidFill>
              <a:srgbClr val="3C91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225790" y="2192559"/>
              <a:ext cx="284797" cy="2699480"/>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663940" y="2269140"/>
              <a:ext cx="284797" cy="2622899"/>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102090" y="2336149"/>
              <a:ext cx="284797" cy="2555890"/>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540240" y="2039397"/>
              <a:ext cx="284797" cy="2852642"/>
            </a:xfrm>
            <a:prstGeom prst="rect">
              <a:avLst/>
            </a:prstGeom>
            <a:solidFill>
              <a:srgbClr val="3C91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978390" y="2125551"/>
              <a:ext cx="284797" cy="2766488"/>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0416540" y="2393584"/>
              <a:ext cx="284797" cy="2498455"/>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58" name="Agrupar 57">
              <a:extLst>
                <a:ext uri="{FF2B5EF4-FFF2-40B4-BE49-F238E27FC236}">
                  <a16:creationId xmlns:a16="http://schemas.microsoft.com/office/drawing/2014/main" id="{A3B68D40-C38F-8DF5-9232-5124B5090837}"/>
                </a:ext>
              </a:extLst>
            </p:cNvPr>
            <p:cNvGrpSpPr/>
            <p:nvPr/>
          </p:nvGrpSpPr>
          <p:grpSpPr>
            <a:xfrm>
              <a:off x="758952" y="4965192"/>
              <a:ext cx="10023348" cy="201168"/>
              <a:chOff x="758952" y="4965192"/>
              <a:chExt cx="10023348" cy="201168"/>
            </a:xfrm>
          </p:grpSpPr>
          <p:sp>
            <p:nvSpPr>
              <p:cNvPr id="5" name="TextBox 4"/>
              <p:cNvSpPr txBox="1"/>
              <p:nvPr/>
            </p:nvSpPr>
            <p:spPr>
              <a:xfrm>
                <a:off x="758952" y="4965192"/>
                <a:ext cx="384048" cy="201168"/>
              </a:xfrm>
              <a:prstGeom prst="rect">
                <a:avLst/>
              </a:prstGeom>
              <a:noFill/>
            </p:spPr>
            <p:txBody>
              <a:bodyPr wrap="square">
                <a:spAutoFit/>
              </a:bodyPr>
              <a:lstStyle/>
              <a:p>
                <a:pPr algn="ctr">
                  <a:defRPr sz="800" b="0">
                    <a:solidFill>
                      <a:srgbClr val="69717A"/>
                    </a:solidFill>
                    <a:latin typeface="Aptos"/>
                  </a:defRPr>
                </a:pPr>
                <a:r>
                  <a:t>0</a:t>
                </a:r>
              </a:p>
            </p:txBody>
          </p:sp>
          <p:sp>
            <p:nvSpPr>
              <p:cNvPr id="8" name="TextBox 7"/>
              <p:cNvSpPr txBox="1"/>
              <p:nvPr/>
            </p:nvSpPr>
            <p:spPr>
              <a:xfrm>
                <a:off x="1635252" y="4965192"/>
                <a:ext cx="384048" cy="201168"/>
              </a:xfrm>
              <a:prstGeom prst="rect">
                <a:avLst/>
              </a:prstGeom>
              <a:noFill/>
            </p:spPr>
            <p:txBody>
              <a:bodyPr wrap="square">
                <a:spAutoFit/>
              </a:bodyPr>
              <a:lstStyle/>
              <a:p>
                <a:pPr algn="ctr">
                  <a:defRPr sz="800" b="0">
                    <a:solidFill>
                      <a:srgbClr val="69717A"/>
                    </a:solidFill>
                    <a:latin typeface="Aptos"/>
                  </a:defRPr>
                </a:pPr>
                <a:r>
                  <a:t>2</a:t>
                </a:r>
              </a:p>
            </p:txBody>
          </p:sp>
          <p:sp>
            <p:nvSpPr>
              <p:cNvPr id="11" name="TextBox 10"/>
              <p:cNvSpPr txBox="1"/>
              <p:nvPr/>
            </p:nvSpPr>
            <p:spPr>
              <a:xfrm>
                <a:off x="2511552" y="4965192"/>
                <a:ext cx="384048" cy="201168"/>
              </a:xfrm>
              <a:prstGeom prst="rect">
                <a:avLst/>
              </a:prstGeom>
              <a:noFill/>
            </p:spPr>
            <p:txBody>
              <a:bodyPr wrap="square">
                <a:spAutoFit/>
              </a:bodyPr>
              <a:lstStyle/>
              <a:p>
                <a:pPr algn="ctr">
                  <a:defRPr sz="800" b="0">
                    <a:solidFill>
                      <a:srgbClr val="69717A"/>
                    </a:solidFill>
                    <a:latin typeface="Aptos"/>
                  </a:defRPr>
                </a:pPr>
                <a:r>
                  <a:t>4</a:t>
                </a:r>
              </a:p>
            </p:txBody>
          </p:sp>
          <p:sp>
            <p:nvSpPr>
              <p:cNvPr id="14" name="TextBox 13"/>
              <p:cNvSpPr txBox="1"/>
              <p:nvPr/>
            </p:nvSpPr>
            <p:spPr>
              <a:xfrm>
                <a:off x="3387852" y="4965192"/>
                <a:ext cx="384048" cy="201168"/>
              </a:xfrm>
              <a:prstGeom prst="rect">
                <a:avLst/>
              </a:prstGeom>
              <a:noFill/>
            </p:spPr>
            <p:txBody>
              <a:bodyPr wrap="square">
                <a:spAutoFit/>
              </a:bodyPr>
              <a:lstStyle/>
              <a:p>
                <a:pPr algn="ctr">
                  <a:defRPr sz="800" b="0">
                    <a:solidFill>
                      <a:srgbClr val="69717A"/>
                    </a:solidFill>
                    <a:latin typeface="Aptos"/>
                  </a:defRPr>
                </a:pPr>
                <a:r>
                  <a:t>6</a:t>
                </a:r>
              </a:p>
            </p:txBody>
          </p:sp>
          <p:sp>
            <p:nvSpPr>
              <p:cNvPr id="17" name="TextBox 16"/>
              <p:cNvSpPr txBox="1"/>
              <p:nvPr/>
            </p:nvSpPr>
            <p:spPr>
              <a:xfrm>
                <a:off x="4264152" y="4965192"/>
                <a:ext cx="384048" cy="201168"/>
              </a:xfrm>
              <a:prstGeom prst="rect">
                <a:avLst/>
              </a:prstGeom>
              <a:noFill/>
            </p:spPr>
            <p:txBody>
              <a:bodyPr wrap="square">
                <a:spAutoFit/>
              </a:bodyPr>
              <a:lstStyle/>
              <a:p>
                <a:pPr algn="ctr">
                  <a:defRPr sz="800" b="0">
                    <a:solidFill>
                      <a:srgbClr val="69717A"/>
                    </a:solidFill>
                    <a:latin typeface="Aptos"/>
                  </a:defRPr>
                </a:pPr>
                <a:r>
                  <a:t>8</a:t>
                </a:r>
              </a:p>
            </p:txBody>
          </p:sp>
          <p:sp>
            <p:nvSpPr>
              <p:cNvPr id="20" name="TextBox 19"/>
              <p:cNvSpPr txBox="1"/>
              <p:nvPr/>
            </p:nvSpPr>
            <p:spPr>
              <a:xfrm>
                <a:off x="5140452" y="4965192"/>
                <a:ext cx="384048" cy="201168"/>
              </a:xfrm>
              <a:prstGeom prst="rect">
                <a:avLst/>
              </a:prstGeom>
              <a:noFill/>
            </p:spPr>
            <p:txBody>
              <a:bodyPr wrap="square">
                <a:spAutoFit/>
              </a:bodyPr>
              <a:lstStyle/>
              <a:p>
                <a:pPr algn="ctr">
                  <a:defRPr sz="800" b="0">
                    <a:solidFill>
                      <a:srgbClr val="69717A"/>
                    </a:solidFill>
                    <a:latin typeface="Aptos"/>
                  </a:defRPr>
                </a:pPr>
                <a:r>
                  <a:t>10</a:t>
                </a:r>
              </a:p>
            </p:txBody>
          </p:sp>
          <p:sp>
            <p:nvSpPr>
              <p:cNvPr id="23" name="TextBox 22"/>
              <p:cNvSpPr txBox="1"/>
              <p:nvPr/>
            </p:nvSpPr>
            <p:spPr>
              <a:xfrm>
                <a:off x="6016752" y="4965192"/>
                <a:ext cx="384048" cy="201168"/>
              </a:xfrm>
              <a:prstGeom prst="rect">
                <a:avLst/>
              </a:prstGeom>
              <a:noFill/>
            </p:spPr>
            <p:txBody>
              <a:bodyPr wrap="square">
                <a:spAutoFit/>
              </a:bodyPr>
              <a:lstStyle/>
              <a:p>
                <a:pPr algn="ctr">
                  <a:defRPr sz="800" b="0">
                    <a:solidFill>
                      <a:srgbClr val="69717A"/>
                    </a:solidFill>
                    <a:latin typeface="Aptos"/>
                  </a:defRPr>
                </a:pPr>
                <a:r>
                  <a:t>12</a:t>
                </a:r>
              </a:p>
            </p:txBody>
          </p:sp>
          <p:sp>
            <p:nvSpPr>
              <p:cNvPr id="26" name="TextBox 25"/>
              <p:cNvSpPr txBox="1"/>
              <p:nvPr/>
            </p:nvSpPr>
            <p:spPr>
              <a:xfrm>
                <a:off x="6893052" y="4965192"/>
                <a:ext cx="384048" cy="201168"/>
              </a:xfrm>
              <a:prstGeom prst="rect">
                <a:avLst/>
              </a:prstGeom>
              <a:noFill/>
            </p:spPr>
            <p:txBody>
              <a:bodyPr wrap="square">
                <a:spAutoFit/>
              </a:bodyPr>
              <a:lstStyle/>
              <a:p>
                <a:pPr algn="ctr">
                  <a:defRPr sz="800" b="0">
                    <a:solidFill>
                      <a:srgbClr val="69717A"/>
                    </a:solidFill>
                    <a:latin typeface="Aptos"/>
                  </a:defRPr>
                </a:pPr>
                <a:r>
                  <a:t>14</a:t>
                </a:r>
              </a:p>
            </p:txBody>
          </p:sp>
          <p:sp>
            <p:nvSpPr>
              <p:cNvPr id="29" name="TextBox 28"/>
              <p:cNvSpPr txBox="1"/>
              <p:nvPr/>
            </p:nvSpPr>
            <p:spPr>
              <a:xfrm>
                <a:off x="7769352" y="4965192"/>
                <a:ext cx="384048" cy="201168"/>
              </a:xfrm>
              <a:prstGeom prst="rect">
                <a:avLst/>
              </a:prstGeom>
              <a:noFill/>
            </p:spPr>
            <p:txBody>
              <a:bodyPr wrap="square">
                <a:spAutoFit/>
              </a:bodyPr>
              <a:lstStyle/>
              <a:p>
                <a:pPr algn="ctr">
                  <a:defRPr sz="800" b="0">
                    <a:solidFill>
                      <a:srgbClr val="69717A"/>
                    </a:solidFill>
                    <a:latin typeface="Aptos"/>
                  </a:defRPr>
                </a:pPr>
                <a:r>
                  <a:t>16</a:t>
                </a:r>
              </a:p>
            </p:txBody>
          </p:sp>
          <p:sp>
            <p:nvSpPr>
              <p:cNvPr id="32" name="TextBox 31"/>
              <p:cNvSpPr txBox="1"/>
              <p:nvPr/>
            </p:nvSpPr>
            <p:spPr>
              <a:xfrm>
                <a:off x="8645652" y="4965192"/>
                <a:ext cx="384048" cy="201168"/>
              </a:xfrm>
              <a:prstGeom prst="rect">
                <a:avLst/>
              </a:prstGeom>
              <a:noFill/>
            </p:spPr>
            <p:txBody>
              <a:bodyPr wrap="square">
                <a:spAutoFit/>
              </a:bodyPr>
              <a:lstStyle/>
              <a:p>
                <a:pPr algn="ctr">
                  <a:defRPr sz="800" b="0">
                    <a:solidFill>
                      <a:srgbClr val="69717A"/>
                    </a:solidFill>
                    <a:latin typeface="Aptos"/>
                  </a:defRPr>
                </a:pPr>
                <a:r>
                  <a:t>18</a:t>
                </a:r>
              </a:p>
            </p:txBody>
          </p:sp>
          <p:sp>
            <p:nvSpPr>
              <p:cNvPr id="35" name="TextBox 34"/>
              <p:cNvSpPr txBox="1"/>
              <p:nvPr/>
            </p:nvSpPr>
            <p:spPr>
              <a:xfrm>
                <a:off x="9521952" y="4965192"/>
                <a:ext cx="384048" cy="201168"/>
              </a:xfrm>
              <a:prstGeom prst="rect">
                <a:avLst/>
              </a:prstGeom>
              <a:noFill/>
            </p:spPr>
            <p:txBody>
              <a:bodyPr wrap="square">
                <a:spAutoFit/>
              </a:bodyPr>
              <a:lstStyle/>
              <a:p>
                <a:pPr algn="ctr">
                  <a:defRPr sz="800" b="0">
                    <a:solidFill>
                      <a:srgbClr val="69717A"/>
                    </a:solidFill>
                    <a:latin typeface="Aptos"/>
                  </a:defRPr>
                </a:pPr>
                <a:r>
                  <a:t>20</a:t>
                </a:r>
              </a:p>
            </p:txBody>
          </p:sp>
          <p:sp>
            <p:nvSpPr>
              <p:cNvPr id="38" name="TextBox 37"/>
              <p:cNvSpPr txBox="1"/>
              <p:nvPr/>
            </p:nvSpPr>
            <p:spPr>
              <a:xfrm>
                <a:off x="10398252" y="4965192"/>
                <a:ext cx="384048" cy="201168"/>
              </a:xfrm>
              <a:prstGeom prst="rect">
                <a:avLst/>
              </a:prstGeom>
              <a:noFill/>
            </p:spPr>
            <p:txBody>
              <a:bodyPr wrap="square">
                <a:spAutoFit/>
              </a:bodyPr>
              <a:lstStyle/>
              <a:p>
                <a:pPr algn="ctr">
                  <a:defRPr sz="800" b="0">
                    <a:solidFill>
                      <a:srgbClr val="69717A"/>
                    </a:solidFill>
                    <a:latin typeface="Aptos"/>
                  </a:defRPr>
                </a:pPr>
                <a:r>
                  <a:t>22</a:t>
                </a:r>
              </a:p>
            </p:txBody>
          </p:sp>
        </p:grpSp>
        <p:sp>
          <p:nvSpPr>
            <p:cNvPr id="39" name="Rectangle 38"/>
            <p:cNvSpPr/>
            <p:nvPr/>
          </p:nvSpPr>
          <p:spPr>
            <a:xfrm>
              <a:off x="10854690" y="2719054"/>
              <a:ext cx="284797" cy="2172985"/>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40" name="Rounded Rectangle 39"/>
          <p:cNvSpPr/>
          <p:nvPr/>
        </p:nvSpPr>
        <p:spPr>
          <a:xfrm>
            <a:off x="777240" y="1143000"/>
            <a:ext cx="3246120" cy="566928"/>
          </a:xfrm>
          <a:prstGeom prst="roundRect">
            <a:avLst/>
          </a:prstGeom>
          <a:solidFill>
            <a:srgbClr val="E9F6EE"/>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77240" y="1143000"/>
            <a:ext cx="64008" cy="566928"/>
          </a:xfrm>
          <a:prstGeom prst="rect">
            <a:avLst/>
          </a:prstGeom>
          <a:solidFill>
            <a:srgbClr val="3C91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60120" y="1298448"/>
            <a:ext cx="2926079" cy="228600"/>
          </a:xfrm>
          <a:prstGeom prst="rect">
            <a:avLst/>
          </a:prstGeom>
          <a:noFill/>
        </p:spPr>
        <p:txBody>
          <a:bodyPr wrap="square">
            <a:spAutoFit/>
          </a:bodyPr>
          <a:lstStyle/>
          <a:p>
            <a:pPr algn="l">
              <a:defRPr sz="1050" b="1">
                <a:solidFill>
                  <a:srgbClr val="69717A"/>
                </a:solidFill>
                <a:latin typeface="Aptos"/>
              </a:defRPr>
            </a:pPr>
            <a:r>
              <a:t>PEAK</a:t>
            </a:r>
          </a:p>
        </p:txBody>
      </p:sp>
      <p:sp>
        <p:nvSpPr>
          <p:cNvPr id="45" name="Rounded Rectangle 44"/>
          <p:cNvSpPr/>
          <p:nvPr/>
        </p:nvSpPr>
        <p:spPr>
          <a:xfrm>
            <a:off x="4251960" y="1143000"/>
            <a:ext cx="3246120" cy="566928"/>
          </a:xfrm>
          <a:prstGeom prst="roundRect">
            <a:avLst/>
          </a:prstGeom>
          <a:solidFill>
            <a:srgbClr val="E5F2FA"/>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251960" y="1143000"/>
            <a:ext cx="64008" cy="566928"/>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434840" y="1298448"/>
            <a:ext cx="2926079" cy="228600"/>
          </a:xfrm>
          <a:prstGeom prst="rect">
            <a:avLst/>
          </a:prstGeom>
          <a:noFill/>
        </p:spPr>
        <p:txBody>
          <a:bodyPr wrap="square">
            <a:spAutoFit/>
          </a:bodyPr>
          <a:lstStyle/>
          <a:p>
            <a:pPr algn="l">
              <a:defRPr sz="1050" b="1">
                <a:solidFill>
                  <a:srgbClr val="69717A"/>
                </a:solidFill>
                <a:latin typeface="Aptos"/>
              </a:defRPr>
            </a:pPr>
            <a:r>
              <a:t>SECOND PEAK</a:t>
            </a:r>
          </a:p>
        </p:txBody>
      </p:sp>
      <p:sp>
        <p:nvSpPr>
          <p:cNvPr id="50" name="Rounded Rectangle 49"/>
          <p:cNvSpPr/>
          <p:nvPr/>
        </p:nvSpPr>
        <p:spPr>
          <a:xfrm>
            <a:off x="7726679" y="1143000"/>
            <a:ext cx="3246120" cy="566928"/>
          </a:xfrm>
          <a:prstGeom prst="roundRect">
            <a:avLst/>
          </a:prstGeom>
          <a:solidFill>
            <a:srgbClr val="F2F5F7"/>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726679" y="1143000"/>
            <a:ext cx="64008" cy="566928"/>
          </a:xfrm>
          <a:prstGeom prst="rect">
            <a:avLst/>
          </a:prstGeom>
          <a:solidFill>
            <a:srgbClr val="E19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909559" y="1298448"/>
            <a:ext cx="2926079" cy="228600"/>
          </a:xfrm>
          <a:prstGeom prst="rect">
            <a:avLst/>
          </a:prstGeom>
          <a:noFill/>
        </p:spPr>
        <p:txBody>
          <a:bodyPr wrap="square">
            <a:spAutoFit/>
          </a:bodyPr>
          <a:lstStyle/>
          <a:p>
            <a:pPr algn="l">
              <a:defRPr sz="1050" b="1">
                <a:solidFill>
                  <a:srgbClr val="69717A"/>
                </a:solidFill>
                <a:latin typeface="Aptos"/>
              </a:defRPr>
            </a:pPr>
            <a:r>
              <a:t>LOWEST</a:t>
            </a:r>
          </a:p>
        </p:txBody>
      </p:sp>
      <p:grpSp>
        <p:nvGrpSpPr>
          <p:cNvPr id="63" name="Agrupar 62">
            <a:extLst>
              <a:ext uri="{FF2B5EF4-FFF2-40B4-BE49-F238E27FC236}">
                <a16:creationId xmlns:a16="http://schemas.microsoft.com/office/drawing/2014/main" id="{1AAA9966-0EFA-6016-1C45-233293C480ED}"/>
              </a:ext>
            </a:extLst>
          </p:cNvPr>
          <p:cNvGrpSpPr/>
          <p:nvPr/>
        </p:nvGrpSpPr>
        <p:grpSpPr>
          <a:xfrm>
            <a:off x="960120" y="1703866"/>
            <a:ext cx="9875518" cy="484632"/>
            <a:chOff x="960120" y="1645920"/>
            <a:chExt cx="9875518" cy="484632"/>
          </a:xfrm>
        </p:grpSpPr>
        <p:grpSp>
          <p:nvGrpSpPr>
            <p:cNvPr id="62" name="Agrupar 61">
              <a:extLst>
                <a:ext uri="{FF2B5EF4-FFF2-40B4-BE49-F238E27FC236}">
                  <a16:creationId xmlns:a16="http://schemas.microsoft.com/office/drawing/2014/main" id="{2C497172-7DC9-3ED2-26A9-3AA00D1320AD}"/>
                </a:ext>
              </a:extLst>
            </p:cNvPr>
            <p:cNvGrpSpPr/>
            <p:nvPr/>
          </p:nvGrpSpPr>
          <p:grpSpPr>
            <a:xfrm>
              <a:off x="960120" y="1645920"/>
              <a:ext cx="9875518" cy="384048"/>
              <a:chOff x="960120" y="1645920"/>
              <a:chExt cx="9875518" cy="384048"/>
            </a:xfrm>
          </p:grpSpPr>
          <p:grpSp>
            <p:nvGrpSpPr>
              <p:cNvPr id="61" name="Agrupar 60">
                <a:extLst>
                  <a:ext uri="{FF2B5EF4-FFF2-40B4-BE49-F238E27FC236}">
                    <a16:creationId xmlns:a16="http://schemas.microsoft.com/office/drawing/2014/main" id="{2619929D-8737-4962-27E4-4E74D57F2BB1}"/>
                  </a:ext>
                </a:extLst>
              </p:cNvPr>
              <p:cNvGrpSpPr/>
              <p:nvPr/>
            </p:nvGrpSpPr>
            <p:grpSpPr>
              <a:xfrm>
                <a:off x="960120" y="1645920"/>
                <a:ext cx="6400799" cy="384048"/>
                <a:chOff x="960120" y="1645920"/>
                <a:chExt cx="6400799" cy="384048"/>
              </a:xfrm>
            </p:grpSpPr>
            <p:sp>
              <p:nvSpPr>
                <p:cNvPr id="43" name="TextBox 42"/>
                <p:cNvSpPr txBox="1"/>
                <p:nvPr/>
              </p:nvSpPr>
              <p:spPr>
                <a:xfrm>
                  <a:off x="960120" y="1645920"/>
                  <a:ext cx="2926079" cy="384048"/>
                </a:xfrm>
                <a:prstGeom prst="rect">
                  <a:avLst/>
                </a:prstGeom>
                <a:noFill/>
              </p:spPr>
              <p:txBody>
                <a:bodyPr wrap="square">
                  <a:spAutoFit/>
                </a:bodyPr>
                <a:lstStyle/>
                <a:p>
                  <a:pPr algn="l">
                    <a:defRPr sz="2200" b="1">
                      <a:solidFill>
                        <a:srgbClr val="1F3448"/>
                      </a:solidFill>
                      <a:latin typeface="Aptos"/>
                    </a:defRPr>
                  </a:pPr>
                  <a:r>
                    <a:rPr dirty="0"/>
                    <a:t>16h ≈ 3.1%</a:t>
                  </a:r>
                </a:p>
              </p:txBody>
            </p:sp>
            <p:sp>
              <p:nvSpPr>
                <p:cNvPr id="48" name="TextBox 47"/>
                <p:cNvSpPr txBox="1"/>
                <p:nvPr/>
              </p:nvSpPr>
              <p:spPr>
                <a:xfrm>
                  <a:off x="4434840" y="1645920"/>
                  <a:ext cx="2926079" cy="384048"/>
                </a:xfrm>
                <a:prstGeom prst="rect">
                  <a:avLst/>
                </a:prstGeom>
                <a:noFill/>
              </p:spPr>
              <p:txBody>
                <a:bodyPr wrap="square">
                  <a:spAutoFit/>
                </a:bodyPr>
                <a:lstStyle/>
                <a:p>
                  <a:pPr algn="l">
                    <a:defRPr sz="2200" b="1">
                      <a:solidFill>
                        <a:srgbClr val="1F3448"/>
                      </a:solidFill>
                      <a:latin typeface="Aptos"/>
                    </a:defRPr>
                  </a:pPr>
                  <a:r>
                    <a:rPr dirty="0"/>
                    <a:t>20h ≈ 3.0%</a:t>
                  </a:r>
                </a:p>
              </p:txBody>
            </p:sp>
          </p:grpSp>
          <p:sp>
            <p:nvSpPr>
              <p:cNvPr id="53" name="TextBox 52"/>
              <p:cNvSpPr txBox="1"/>
              <p:nvPr/>
            </p:nvSpPr>
            <p:spPr>
              <a:xfrm>
                <a:off x="7909559" y="1645920"/>
                <a:ext cx="2926079" cy="384048"/>
              </a:xfrm>
              <a:prstGeom prst="rect">
                <a:avLst/>
              </a:prstGeom>
              <a:noFill/>
            </p:spPr>
            <p:txBody>
              <a:bodyPr wrap="square">
                <a:spAutoFit/>
              </a:bodyPr>
              <a:lstStyle/>
              <a:p>
                <a:pPr algn="l">
                  <a:defRPr sz="2200" b="1">
                    <a:solidFill>
                      <a:srgbClr val="1F3448"/>
                    </a:solidFill>
                    <a:latin typeface="Aptos"/>
                  </a:defRPr>
                </a:pPr>
                <a:r>
                  <a:rPr dirty="0"/>
                  <a:t>2h ≈ 0.7%</a:t>
                </a:r>
              </a:p>
            </p:txBody>
          </p:sp>
        </p:grpSp>
        <p:grpSp>
          <p:nvGrpSpPr>
            <p:cNvPr id="60" name="Agrupar 59">
              <a:extLst>
                <a:ext uri="{FF2B5EF4-FFF2-40B4-BE49-F238E27FC236}">
                  <a16:creationId xmlns:a16="http://schemas.microsoft.com/office/drawing/2014/main" id="{7595C7F2-1BAC-0F3D-2448-5D39B8A37804}"/>
                </a:ext>
              </a:extLst>
            </p:cNvPr>
            <p:cNvGrpSpPr/>
            <p:nvPr/>
          </p:nvGrpSpPr>
          <p:grpSpPr>
            <a:xfrm>
              <a:off x="960120" y="2130552"/>
              <a:ext cx="9875518" cy="0"/>
              <a:chOff x="960120" y="2130552"/>
              <a:chExt cx="9875518" cy="0"/>
            </a:xfrm>
          </p:grpSpPr>
          <p:sp>
            <p:nvSpPr>
              <p:cNvPr id="44" name="TextBox 43"/>
              <p:cNvSpPr txBox="1"/>
              <p:nvPr/>
            </p:nvSpPr>
            <p:spPr>
              <a:xfrm>
                <a:off x="960120" y="2130552"/>
                <a:ext cx="2926079" cy="0"/>
              </a:xfrm>
              <a:prstGeom prst="rect">
                <a:avLst/>
              </a:prstGeom>
              <a:noFill/>
            </p:spPr>
            <p:txBody>
              <a:bodyPr wrap="square">
                <a:spAutoFit/>
              </a:bodyPr>
              <a:lstStyle/>
              <a:p>
                <a:pPr algn="l">
                  <a:defRPr sz="1050" b="0">
                    <a:solidFill>
                      <a:srgbClr val="69717A"/>
                    </a:solidFill>
                    <a:latin typeface="Aptos"/>
                  </a:defRPr>
                </a:pPr>
                <a:r>
                  <a:t>Highest observed hourly rate</a:t>
                </a:r>
              </a:p>
            </p:txBody>
          </p:sp>
          <p:sp>
            <p:nvSpPr>
              <p:cNvPr id="49" name="TextBox 48"/>
              <p:cNvSpPr txBox="1"/>
              <p:nvPr/>
            </p:nvSpPr>
            <p:spPr>
              <a:xfrm>
                <a:off x="4434840" y="2130552"/>
                <a:ext cx="2926079" cy="0"/>
              </a:xfrm>
              <a:prstGeom prst="rect">
                <a:avLst/>
              </a:prstGeom>
              <a:noFill/>
            </p:spPr>
            <p:txBody>
              <a:bodyPr wrap="square">
                <a:spAutoFit/>
              </a:bodyPr>
              <a:lstStyle/>
              <a:p>
                <a:pPr algn="l">
                  <a:defRPr sz="1050" b="0">
                    <a:solidFill>
                      <a:srgbClr val="69717A"/>
                    </a:solidFill>
                    <a:latin typeface="Aptos"/>
                  </a:defRPr>
                </a:pPr>
                <a:r>
                  <a:t>Another strong evening point</a:t>
                </a:r>
              </a:p>
            </p:txBody>
          </p:sp>
          <p:sp>
            <p:nvSpPr>
              <p:cNvPr id="54" name="TextBox 53"/>
              <p:cNvSpPr txBox="1"/>
              <p:nvPr/>
            </p:nvSpPr>
            <p:spPr>
              <a:xfrm>
                <a:off x="7909559" y="2130552"/>
                <a:ext cx="2926079" cy="0"/>
              </a:xfrm>
              <a:prstGeom prst="rect">
                <a:avLst/>
              </a:prstGeom>
              <a:noFill/>
            </p:spPr>
            <p:txBody>
              <a:bodyPr wrap="square">
                <a:spAutoFit/>
              </a:bodyPr>
              <a:lstStyle/>
              <a:p>
                <a:pPr algn="l">
                  <a:defRPr sz="1050" b="0">
                    <a:solidFill>
                      <a:srgbClr val="69717A"/>
                    </a:solidFill>
                    <a:latin typeface="Aptos"/>
                  </a:defRPr>
                </a:pPr>
                <a:r>
                  <a:rPr dirty="0"/>
                  <a:t>Lowest observed hourly rate</a:t>
                </a:r>
              </a:p>
            </p:txBody>
          </p:sp>
        </p:grpSp>
      </p:grpSp>
      <p:sp>
        <p:nvSpPr>
          <p:cNvPr id="55" name="Rectangle 54"/>
          <p:cNvSpPr/>
          <p:nvPr/>
        </p:nvSpPr>
        <p:spPr>
          <a:xfrm>
            <a:off x="411480" y="6428232"/>
            <a:ext cx="11338560" cy="10972"/>
          </a:xfrm>
          <a:prstGeom prst="rect">
            <a:avLst/>
          </a:prstGeom>
          <a:solidFill>
            <a:srgbClr val="34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02919" y="6473952"/>
            <a:ext cx="11909213" cy="223138"/>
          </a:xfrm>
          <a:prstGeom prst="rect">
            <a:avLst/>
          </a:prstGeom>
          <a:noFill/>
        </p:spPr>
        <p:txBody>
          <a:bodyPr wrap="square">
            <a:spAutoFit/>
          </a:bodyPr>
          <a:lstStyle/>
          <a:p>
            <a:pPr algn="l">
              <a:defRPr sz="850" b="0">
                <a:solidFill>
                  <a:srgbClr val="69717A"/>
                </a:solidFill>
                <a:latin typeface="Aptos"/>
              </a:defRPr>
            </a:pPr>
            <a:r>
              <a:rPr dirty="0"/>
              <a:t>Author: Teresa Mendes Coelho                                                    </a:t>
            </a:r>
            <a:r>
              <a:rPr lang="pt-PT" dirty="0"/>
              <a:t>                                                                                                                                                                                                                                                                                     </a:t>
            </a:r>
            <a:r>
              <a:rPr dirty="0" err="1"/>
              <a:t>Ironhack</a:t>
            </a:r>
            <a:r>
              <a:rPr dirty="0"/>
              <a:t> bootcamp Data Analytics 2026</a:t>
            </a:r>
          </a:p>
        </p:txBody>
      </p:sp>
      <p:pic>
        <p:nvPicPr>
          <p:cNvPr id="57" name="Picture 56" descr="3e6d4280-1049-4738-ab33-95281aa5f1cd.png"/>
          <p:cNvPicPr>
            <a:picLocks noChangeAspect="1"/>
          </p:cNvPicPr>
          <p:nvPr/>
        </p:nvPicPr>
        <p:blipFill>
          <a:blip r:embed="rId2"/>
          <a:stretch>
            <a:fillRect/>
          </a:stretch>
        </p:blipFill>
        <p:spPr>
          <a:xfrm>
            <a:off x="11440287" y="6473952"/>
            <a:ext cx="253746" cy="2743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10972800" cy="502920"/>
          </a:xfrm>
          <a:prstGeom prst="rect">
            <a:avLst/>
          </a:prstGeom>
          <a:noFill/>
        </p:spPr>
        <p:txBody>
          <a:bodyPr wrap="square">
            <a:spAutoFit/>
          </a:bodyPr>
          <a:lstStyle/>
          <a:p>
            <a:pPr algn="l">
              <a:defRPr sz="2800" b="1">
                <a:solidFill>
                  <a:srgbClr val="1F3448"/>
                </a:solidFill>
                <a:latin typeface="Aptos"/>
              </a:defRPr>
            </a:pPr>
            <a:r>
              <a:t>8. Where Does AD Outperform PSA Most?</a:t>
            </a:r>
          </a:p>
        </p:txBody>
      </p:sp>
      <p:sp>
        <p:nvSpPr>
          <p:cNvPr id="3" name="TextBox 2"/>
          <p:cNvSpPr txBox="1"/>
          <p:nvPr/>
        </p:nvSpPr>
        <p:spPr>
          <a:xfrm>
            <a:off x="621792" y="896112"/>
            <a:ext cx="10789920" cy="347472"/>
          </a:xfrm>
          <a:prstGeom prst="rect">
            <a:avLst/>
          </a:prstGeom>
          <a:noFill/>
        </p:spPr>
        <p:txBody>
          <a:bodyPr wrap="square">
            <a:spAutoFit/>
          </a:bodyPr>
          <a:lstStyle/>
          <a:p>
            <a:pPr algn="l">
              <a:defRPr sz="1250" b="0">
                <a:solidFill>
                  <a:srgbClr val="69717A"/>
                </a:solidFill>
                <a:latin typeface="Aptos"/>
              </a:defRPr>
            </a:pPr>
            <a:r>
              <a:t>Hourly conversion-rate difference and relative improvement</a:t>
            </a:r>
          </a:p>
        </p:txBody>
      </p:sp>
      <p:sp>
        <p:nvSpPr>
          <p:cNvPr id="4" name="Rounded Rectangle 3"/>
          <p:cNvSpPr/>
          <p:nvPr/>
        </p:nvSpPr>
        <p:spPr>
          <a:xfrm>
            <a:off x="731520" y="1371600"/>
            <a:ext cx="3291840" cy="1325880"/>
          </a:xfrm>
          <a:prstGeom prst="roundRect">
            <a:avLst/>
          </a:prstGeom>
          <a:solidFill>
            <a:srgbClr val="E5F2FA"/>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371600"/>
            <a:ext cx="64008" cy="1325880"/>
          </a:xfrm>
          <a:prstGeom prst="rect">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527048"/>
            <a:ext cx="2971800" cy="228600"/>
          </a:xfrm>
          <a:prstGeom prst="rect">
            <a:avLst/>
          </a:prstGeom>
          <a:noFill/>
        </p:spPr>
        <p:txBody>
          <a:bodyPr wrap="square">
            <a:spAutoFit/>
          </a:bodyPr>
          <a:lstStyle/>
          <a:p>
            <a:pPr algn="l">
              <a:defRPr sz="1050" b="1">
                <a:solidFill>
                  <a:srgbClr val="69717A"/>
                </a:solidFill>
                <a:latin typeface="Aptos"/>
              </a:defRPr>
            </a:pPr>
            <a:r>
              <a:t>LARGEST GAP</a:t>
            </a:r>
          </a:p>
        </p:txBody>
      </p:sp>
      <p:sp>
        <p:nvSpPr>
          <p:cNvPr id="7" name="TextBox 6"/>
          <p:cNvSpPr txBox="1"/>
          <p:nvPr/>
        </p:nvSpPr>
        <p:spPr>
          <a:xfrm>
            <a:off x="914400" y="1874519"/>
            <a:ext cx="2971800" cy="384048"/>
          </a:xfrm>
          <a:prstGeom prst="rect">
            <a:avLst/>
          </a:prstGeom>
          <a:noFill/>
        </p:spPr>
        <p:txBody>
          <a:bodyPr wrap="square">
            <a:spAutoFit/>
          </a:bodyPr>
          <a:lstStyle/>
          <a:p>
            <a:pPr algn="l">
              <a:defRPr sz="2200" b="1">
                <a:solidFill>
                  <a:srgbClr val="1F3448"/>
                </a:solidFill>
                <a:latin typeface="Aptos"/>
              </a:defRPr>
            </a:pPr>
            <a:r>
              <a:t>6h</a:t>
            </a:r>
          </a:p>
        </p:txBody>
      </p:sp>
      <p:sp>
        <p:nvSpPr>
          <p:cNvPr id="8" name="TextBox 7"/>
          <p:cNvSpPr txBox="1"/>
          <p:nvPr/>
        </p:nvSpPr>
        <p:spPr>
          <a:xfrm>
            <a:off x="914400" y="2359152"/>
            <a:ext cx="2971800" cy="274320"/>
          </a:xfrm>
          <a:prstGeom prst="rect">
            <a:avLst/>
          </a:prstGeom>
          <a:noFill/>
        </p:spPr>
        <p:txBody>
          <a:bodyPr wrap="square">
            <a:spAutoFit/>
          </a:bodyPr>
          <a:lstStyle/>
          <a:p>
            <a:pPr algn="l">
              <a:defRPr sz="1050" b="0">
                <a:solidFill>
                  <a:srgbClr val="69717A"/>
                </a:solidFill>
                <a:latin typeface="Aptos"/>
              </a:defRPr>
            </a:pPr>
            <a:r>
              <a:t>≈ +2.32 percentage points</a:t>
            </a:r>
          </a:p>
        </p:txBody>
      </p:sp>
      <p:sp>
        <p:nvSpPr>
          <p:cNvPr id="9" name="Rounded Rectangle 8"/>
          <p:cNvSpPr/>
          <p:nvPr/>
        </p:nvSpPr>
        <p:spPr>
          <a:xfrm>
            <a:off x="4297680" y="1371600"/>
            <a:ext cx="3291840" cy="1325880"/>
          </a:xfrm>
          <a:prstGeom prst="roundRect">
            <a:avLst/>
          </a:prstGeom>
          <a:solidFill>
            <a:srgbClr val="E9F6EE"/>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297680" y="1371600"/>
            <a:ext cx="64008" cy="1325880"/>
          </a:xfrm>
          <a:prstGeom prst="rect">
            <a:avLst/>
          </a:prstGeom>
          <a:solidFill>
            <a:srgbClr val="3C91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60" y="1527048"/>
            <a:ext cx="2971800" cy="228600"/>
          </a:xfrm>
          <a:prstGeom prst="rect">
            <a:avLst/>
          </a:prstGeom>
          <a:noFill/>
        </p:spPr>
        <p:txBody>
          <a:bodyPr wrap="square">
            <a:spAutoFit/>
          </a:bodyPr>
          <a:lstStyle/>
          <a:p>
            <a:pPr algn="l">
              <a:defRPr sz="1050" b="1">
                <a:solidFill>
                  <a:srgbClr val="69717A"/>
                </a:solidFill>
                <a:latin typeface="Aptos"/>
              </a:defRPr>
            </a:pPr>
            <a:r>
              <a:t>LARGEST RELATIVE UPLIFT</a:t>
            </a:r>
          </a:p>
        </p:txBody>
      </p:sp>
      <p:sp>
        <p:nvSpPr>
          <p:cNvPr id="12" name="TextBox 11"/>
          <p:cNvSpPr txBox="1"/>
          <p:nvPr/>
        </p:nvSpPr>
        <p:spPr>
          <a:xfrm>
            <a:off x="4480560" y="1874519"/>
            <a:ext cx="2971800" cy="384048"/>
          </a:xfrm>
          <a:prstGeom prst="rect">
            <a:avLst/>
          </a:prstGeom>
          <a:noFill/>
        </p:spPr>
        <p:txBody>
          <a:bodyPr wrap="square">
            <a:spAutoFit/>
          </a:bodyPr>
          <a:lstStyle/>
          <a:p>
            <a:pPr algn="l">
              <a:defRPr sz="2200" b="1">
                <a:solidFill>
                  <a:srgbClr val="1F3448"/>
                </a:solidFill>
                <a:latin typeface="Aptos"/>
              </a:defRPr>
            </a:pPr>
            <a:r>
              <a:t>7h</a:t>
            </a:r>
          </a:p>
        </p:txBody>
      </p:sp>
      <p:sp>
        <p:nvSpPr>
          <p:cNvPr id="13" name="TextBox 12"/>
          <p:cNvSpPr txBox="1"/>
          <p:nvPr/>
        </p:nvSpPr>
        <p:spPr>
          <a:xfrm>
            <a:off x="4480560" y="2359152"/>
            <a:ext cx="2971800" cy="274320"/>
          </a:xfrm>
          <a:prstGeom prst="rect">
            <a:avLst/>
          </a:prstGeom>
          <a:noFill/>
        </p:spPr>
        <p:txBody>
          <a:bodyPr wrap="square">
            <a:spAutoFit/>
          </a:bodyPr>
          <a:lstStyle/>
          <a:p>
            <a:pPr algn="l">
              <a:defRPr sz="1050" b="0">
                <a:solidFill>
                  <a:srgbClr val="69717A"/>
                </a:solidFill>
                <a:latin typeface="Aptos"/>
              </a:defRPr>
            </a:pPr>
            <a:r>
              <a:t>≈ +119% relative improvement</a:t>
            </a:r>
          </a:p>
        </p:txBody>
      </p:sp>
      <p:sp>
        <p:nvSpPr>
          <p:cNvPr id="14" name="Rounded Rectangle 13"/>
          <p:cNvSpPr/>
          <p:nvPr/>
        </p:nvSpPr>
        <p:spPr>
          <a:xfrm>
            <a:off x="7863840" y="1371600"/>
            <a:ext cx="3291840" cy="1325880"/>
          </a:xfrm>
          <a:prstGeom prst="roundRect">
            <a:avLst/>
          </a:prstGeom>
          <a:solidFill>
            <a:srgbClr val="F2F5F7"/>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863840" y="1371600"/>
            <a:ext cx="64008" cy="1325880"/>
          </a:xfrm>
          <a:prstGeom prst="rect">
            <a:avLst/>
          </a:prstGeom>
          <a:solidFill>
            <a:srgbClr val="E19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19" y="1527048"/>
            <a:ext cx="2971800" cy="228600"/>
          </a:xfrm>
          <a:prstGeom prst="rect">
            <a:avLst/>
          </a:prstGeom>
          <a:noFill/>
        </p:spPr>
        <p:txBody>
          <a:bodyPr wrap="square">
            <a:spAutoFit/>
          </a:bodyPr>
          <a:lstStyle/>
          <a:p>
            <a:pPr algn="l">
              <a:defRPr sz="1050" b="1">
                <a:solidFill>
                  <a:srgbClr val="69717A"/>
                </a:solidFill>
                <a:latin typeface="Aptos"/>
              </a:defRPr>
            </a:pPr>
            <a:r>
              <a:t>OTHER STRONG WINDOWS</a:t>
            </a:r>
          </a:p>
        </p:txBody>
      </p:sp>
      <p:sp>
        <p:nvSpPr>
          <p:cNvPr id="17" name="TextBox 16"/>
          <p:cNvSpPr txBox="1"/>
          <p:nvPr/>
        </p:nvSpPr>
        <p:spPr>
          <a:xfrm>
            <a:off x="8046719" y="1874519"/>
            <a:ext cx="2971800" cy="384048"/>
          </a:xfrm>
          <a:prstGeom prst="rect">
            <a:avLst/>
          </a:prstGeom>
          <a:noFill/>
        </p:spPr>
        <p:txBody>
          <a:bodyPr wrap="square">
            <a:spAutoFit/>
          </a:bodyPr>
          <a:lstStyle/>
          <a:p>
            <a:pPr algn="l">
              <a:defRPr sz="2200" b="1">
                <a:solidFill>
                  <a:srgbClr val="1F3448"/>
                </a:solidFill>
                <a:latin typeface="Aptos"/>
              </a:defRPr>
            </a:pPr>
            <a:r>
              <a:t>0h / 5h / 14h / 20h</a:t>
            </a:r>
          </a:p>
        </p:txBody>
      </p:sp>
      <p:sp>
        <p:nvSpPr>
          <p:cNvPr id="18" name="TextBox 17"/>
          <p:cNvSpPr txBox="1"/>
          <p:nvPr/>
        </p:nvSpPr>
        <p:spPr>
          <a:xfrm>
            <a:off x="8046719" y="2359152"/>
            <a:ext cx="2971800" cy="274320"/>
          </a:xfrm>
          <a:prstGeom prst="rect">
            <a:avLst/>
          </a:prstGeom>
          <a:noFill/>
        </p:spPr>
        <p:txBody>
          <a:bodyPr wrap="square">
            <a:spAutoFit/>
          </a:bodyPr>
          <a:lstStyle/>
          <a:p>
            <a:pPr algn="l">
              <a:defRPr sz="1050" b="0">
                <a:solidFill>
                  <a:srgbClr val="69717A"/>
                </a:solidFill>
                <a:latin typeface="Aptos"/>
              </a:defRPr>
            </a:pPr>
            <a:r>
              <a:t>Positive gaps visible</a:t>
            </a:r>
          </a:p>
        </p:txBody>
      </p:sp>
      <p:sp>
        <p:nvSpPr>
          <p:cNvPr id="19" name="TextBox 18"/>
          <p:cNvSpPr txBox="1"/>
          <p:nvPr/>
        </p:nvSpPr>
        <p:spPr>
          <a:xfrm>
            <a:off x="777240" y="3154680"/>
            <a:ext cx="10515600" cy="320040"/>
          </a:xfrm>
          <a:prstGeom prst="rect">
            <a:avLst/>
          </a:prstGeom>
          <a:noFill/>
        </p:spPr>
        <p:txBody>
          <a:bodyPr wrap="square">
            <a:spAutoFit/>
          </a:bodyPr>
          <a:lstStyle/>
          <a:p>
            <a:pPr algn="l">
              <a:defRPr sz="1800" b="1">
                <a:solidFill>
                  <a:srgbClr val="1F3448"/>
                </a:solidFill>
                <a:latin typeface="Aptos"/>
              </a:defRPr>
            </a:pPr>
            <a:r>
              <a:t>Interpretation</a:t>
            </a:r>
          </a:p>
        </p:txBody>
      </p:sp>
      <p:sp>
        <p:nvSpPr>
          <p:cNvPr id="20" name="TextBox 19"/>
          <p:cNvSpPr txBox="1"/>
          <p:nvPr/>
        </p:nvSpPr>
        <p:spPr>
          <a:xfrm>
            <a:off x="822960" y="3657600"/>
            <a:ext cx="10241280" cy="1051560"/>
          </a:xfrm>
          <a:prstGeom prst="rect">
            <a:avLst/>
          </a:prstGeom>
          <a:noFill/>
        </p:spPr>
        <p:txBody>
          <a:bodyPr wrap="square">
            <a:spAutoFit/>
          </a:bodyPr>
          <a:lstStyle/>
          <a:p>
            <a:pPr algn="l">
              <a:defRPr sz="1500" b="0">
                <a:solidFill>
                  <a:srgbClr val="2D3238"/>
                </a:solidFill>
                <a:latin typeface="Aptos"/>
              </a:defRPr>
            </a:pPr>
            <a:r>
              <a:t>The strongest relative improvements occur in lower-volume periods. These peaks are useful hypotheses, but they should be validated with statistical testing and sufficient sample sizes before changing campaign strategy.</a:t>
            </a:r>
          </a:p>
        </p:txBody>
      </p:sp>
      <p:sp>
        <p:nvSpPr>
          <p:cNvPr id="21" name="Rectangle 20"/>
          <p:cNvSpPr/>
          <p:nvPr/>
        </p:nvSpPr>
        <p:spPr>
          <a:xfrm>
            <a:off x="411480" y="6428232"/>
            <a:ext cx="11338560" cy="10972"/>
          </a:xfrm>
          <a:prstGeom prst="rect">
            <a:avLst/>
          </a:prstGeom>
          <a:solidFill>
            <a:srgbClr val="34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6473952"/>
            <a:ext cx="11689080" cy="223138"/>
          </a:xfrm>
          <a:prstGeom prst="rect">
            <a:avLst/>
          </a:prstGeom>
          <a:noFill/>
        </p:spPr>
        <p:txBody>
          <a:bodyPr wrap="square">
            <a:spAutoFit/>
          </a:bodyPr>
          <a:lstStyle/>
          <a:p>
            <a:pPr algn="l">
              <a:defRPr sz="850" b="0">
                <a:solidFill>
                  <a:srgbClr val="69717A"/>
                </a:solidFill>
                <a:latin typeface="Aptos"/>
              </a:defRPr>
            </a:pPr>
            <a:r>
              <a:rPr dirty="0"/>
              <a:t>Author: Teresa Mendes Coelho                                                   </a:t>
            </a:r>
            <a:r>
              <a:rPr lang="pt-PT" dirty="0"/>
              <a:t>                                                                                                                                                                                                                                                                              </a:t>
            </a:r>
            <a:r>
              <a:rPr dirty="0"/>
              <a:t> </a:t>
            </a:r>
            <a:r>
              <a:rPr dirty="0" err="1"/>
              <a:t>Ironhack</a:t>
            </a:r>
            <a:r>
              <a:rPr dirty="0"/>
              <a:t> bootcamp Data Analytics 2026</a:t>
            </a:r>
          </a:p>
        </p:txBody>
      </p:sp>
      <p:pic>
        <p:nvPicPr>
          <p:cNvPr id="23" name="Picture 22" descr="3e6d4280-1049-4738-ab33-95281aa5f1cd.png"/>
          <p:cNvPicPr>
            <a:picLocks noChangeAspect="1"/>
          </p:cNvPicPr>
          <p:nvPr/>
        </p:nvPicPr>
        <p:blipFill>
          <a:blip r:embed="rId2"/>
          <a:stretch>
            <a:fillRect/>
          </a:stretch>
        </p:blipFill>
        <p:spPr>
          <a:xfrm>
            <a:off x="11313414" y="6473613"/>
            <a:ext cx="253746" cy="2743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10972800" cy="502920"/>
          </a:xfrm>
          <a:prstGeom prst="rect">
            <a:avLst/>
          </a:prstGeom>
          <a:noFill/>
        </p:spPr>
        <p:txBody>
          <a:bodyPr wrap="square">
            <a:spAutoFit/>
          </a:bodyPr>
          <a:lstStyle/>
          <a:p>
            <a:pPr algn="l">
              <a:defRPr sz="2800" b="1">
                <a:solidFill>
                  <a:srgbClr val="1F3448"/>
                </a:solidFill>
                <a:latin typeface="Aptos"/>
              </a:defRPr>
            </a:pPr>
            <a:r>
              <a:t>9. Recommendations</a:t>
            </a:r>
          </a:p>
        </p:txBody>
      </p:sp>
      <p:sp>
        <p:nvSpPr>
          <p:cNvPr id="3" name="TextBox 2"/>
          <p:cNvSpPr txBox="1"/>
          <p:nvPr/>
        </p:nvSpPr>
        <p:spPr>
          <a:xfrm>
            <a:off x="621792" y="896112"/>
            <a:ext cx="10789920" cy="347472"/>
          </a:xfrm>
          <a:prstGeom prst="rect">
            <a:avLst/>
          </a:prstGeom>
          <a:noFill/>
        </p:spPr>
        <p:txBody>
          <a:bodyPr wrap="square">
            <a:spAutoFit/>
          </a:bodyPr>
          <a:lstStyle/>
          <a:p>
            <a:pPr algn="l">
              <a:defRPr sz="1250" b="0">
                <a:solidFill>
                  <a:srgbClr val="69717A"/>
                </a:solidFill>
                <a:latin typeface="Aptos"/>
              </a:defRPr>
            </a:pPr>
            <a:r>
              <a:t>Turning the analysis into the next experiment</a:t>
            </a:r>
          </a:p>
        </p:txBody>
      </p:sp>
      <p:sp>
        <p:nvSpPr>
          <p:cNvPr id="4" name="Oval 3"/>
          <p:cNvSpPr/>
          <p:nvPr/>
        </p:nvSpPr>
        <p:spPr>
          <a:xfrm>
            <a:off x="777240" y="1325880"/>
            <a:ext cx="475488" cy="475488"/>
          </a:xfrm>
          <a:prstGeom prst="ellipse">
            <a:avLst/>
          </a:prstGeom>
          <a:solidFill>
            <a:srgbClr val="3C7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389888"/>
            <a:ext cx="228600" cy="228600"/>
          </a:xfrm>
          <a:prstGeom prst="rect">
            <a:avLst/>
          </a:prstGeom>
          <a:noFill/>
        </p:spPr>
        <p:txBody>
          <a:bodyPr wrap="square">
            <a:spAutoFit/>
          </a:bodyPr>
          <a:lstStyle/>
          <a:p>
            <a:pPr algn="ctr">
              <a:defRPr sz="1100" b="1">
                <a:solidFill>
                  <a:srgbClr val="FFFFFF"/>
                </a:solidFill>
                <a:latin typeface="Aptos"/>
              </a:defRPr>
            </a:pPr>
            <a:r>
              <a:t>1</a:t>
            </a:r>
          </a:p>
        </p:txBody>
      </p:sp>
      <p:sp>
        <p:nvSpPr>
          <p:cNvPr id="6" name="TextBox 5"/>
          <p:cNvSpPr txBox="1"/>
          <p:nvPr/>
        </p:nvSpPr>
        <p:spPr>
          <a:xfrm>
            <a:off x="1463040" y="1316736"/>
            <a:ext cx="3749039" cy="274320"/>
          </a:xfrm>
          <a:prstGeom prst="rect">
            <a:avLst/>
          </a:prstGeom>
          <a:noFill/>
        </p:spPr>
        <p:txBody>
          <a:bodyPr wrap="square">
            <a:spAutoFit/>
          </a:bodyPr>
          <a:lstStyle/>
          <a:p>
            <a:pPr algn="l">
              <a:defRPr sz="1500" b="1">
                <a:solidFill>
                  <a:srgbClr val="1F3448"/>
                </a:solidFill>
                <a:latin typeface="Aptos"/>
              </a:defRPr>
            </a:pPr>
            <a:r>
              <a:t>Keep AD as the leading hypothesis</a:t>
            </a:r>
          </a:p>
        </p:txBody>
      </p:sp>
      <p:sp>
        <p:nvSpPr>
          <p:cNvPr id="7" name="TextBox 6"/>
          <p:cNvSpPr txBox="1"/>
          <p:nvPr/>
        </p:nvSpPr>
        <p:spPr>
          <a:xfrm>
            <a:off x="5074920" y="1316736"/>
            <a:ext cx="6035040" cy="594360"/>
          </a:xfrm>
          <a:prstGeom prst="rect">
            <a:avLst/>
          </a:prstGeom>
          <a:noFill/>
        </p:spPr>
        <p:txBody>
          <a:bodyPr wrap="square">
            <a:spAutoFit/>
          </a:bodyPr>
          <a:lstStyle/>
          <a:p>
            <a:pPr algn="l">
              <a:defRPr sz="1250" b="0">
                <a:solidFill>
                  <a:srgbClr val="2D3238"/>
                </a:solidFill>
                <a:latin typeface="Aptos"/>
              </a:defRPr>
            </a:pPr>
            <a:r>
              <a:rPr dirty="0"/>
              <a:t>The observed conversion rate is higher for AD than PSA.</a:t>
            </a:r>
          </a:p>
        </p:txBody>
      </p:sp>
      <p:sp>
        <p:nvSpPr>
          <p:cNvPr id="8" name="Oval 7"/>
          <p:cNvSpPr/>
          <p:nvPr/>
        </p:nvSpPr>
        <p:spPr>
          <a:xfrm>
            <a:off x="777240" y="2423160"/>
            <a:ext cx="475488" cy="475488"/>
          </a:xfrm>
          <a:prstGeom prst="ellipse">
            <a:avLst/>
          </a:prstGeom>
          <a:solidFill>
            <a:srgbClr val="3C91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2487168"/>
            <a:ext cx="228600" cy="228600"/>
          </a:xfrm>
          <a:prstGeom prst="rect">
            <a:avLst/>
          </a:prstGeom>
          <a:noFill/>
        </p:spPr>
        <p:txBody>
          <a:bodyPr wrap="square">
            <a:spAutoFit/>
          </a:bodyPr>
          <a:lstStyle/>
          <a:p>
            <a:pPr algn="ctr">
              <a:defRPr sz="1100" b="1">
                <a:solidFill>
                  <a:srgbClr val="FFFFFF"/>
                </a:solidFill>
                <a:latin typeface="Aptos"/>
              </a:defRPr>
            </a:pPr>
            <a:r>
              <a:t>2</a:t>
            </a:r>
          </a:p>
        </p:txBody>
      </p:sp>
      <p:sp>
        <p:nvSpPr>
          <p:cNvPr id="10" name="TextBox 9"/>
          <p:cNvSpPr txBox="1"/>
          <p:nvPr/>
        </p:nvSpPr>
        <p:spPr>
          <a:xfrm>
            <a:off x="1463040" y="2414016"/>
            <a:ext cx="3749039" cy="274320"/>
          </a:xfrm>
          <a:prstGeom prst="rect">
            <a:avLst/>
          </a:prstGeom>
          <a:noFill/>
        </p:spPr>
        <p:txBody>
          <a:bodyPr wrap="square">
            <a:spAutoFit/>
          </a:bodyPr>
          <a:lstStyle/>
          <a:p>
            <a:pPr algn="l">
              <a:defRPr sz="1500" b="1">
                <a:solidFill>
                  <a:srgbClr val="1F3448"/>
                </a:solidFill>
                <a:latin typeface="Aptos"/>
              </a:defRPr>
            </a:pPr>
            <a:r>
              <a:t>Test time-of-day targeting</a:t>
            </a:r>
          </a:p>
        </p:txBody>
      </p:sp>
      <p:sp>
        <p:nvSpPr>
          <p:cNvPr id="11" name="TextBox 10"/>
          <p:cNvSpPr txBox="1"/>
          <p:nvPr/>
        </p:nvSpPr>
        <p:spPr>
          <a:xfrm>
            <a:off x="5074920" y="2414016"/>
            <a:ext cx="6035040" cy="594360"/>
          </a:xfrm>
          <a:prstGeom prst="rect">
            <a:avLst/>
          </a:prstGeom>
          <a:noFill/>
        </p:spPr>
        <p:txBody>
          <a:bodyPr wrap="square">
            <a:spAutoFit/>
          </a:bodyPr>
          <a:lstStyle/>
          <a:p>
            <a:pPr algn="l">
              <a:defRPr sz="1250" b="0">
                <a:solidFill>
                  <a:srgbClr val="2D3238"/>
                </a:solidFill>
                <a:latin typeface="Aptos"/>
              </a:defRPr>
            </a:pPr>
            <a:r>
              <a:t>Explore afternoon/evening windows where conversion efficiency is strongest.</a:t>
            </a:r>
          </a:p>
        </p:txBody>
      </p:sp>
      <p:sp>
        <p:nvSpPr>
          <p:cNvPr id="12" name="Oval 11"/>
          <p:cNvSpPr/>
          <p:nvPr/>
        </p:nvSpPr>
        <p:spPr>
          <a:xfrm>
            <a:off x="777240" y="3520439"/>
            <a:ext cx="475488" cy="475488"/>
          </a:xfrm>
          <a:prstGeom prst="ellipse">
            <a:avLst/>
          </a:prstGeom>
          <a:solidFill>
            <a:srgbClr val="E19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 y="3584447"/>
            <a:ext cx="228600" cy="228600"/>
          </a:xfrm>
          <a:prstGeom prst="rect">
            <a:avLst/>
          </a:prstGeom>
          <a:noFill/>
        </p:spPr>
        <p:txBody>
          <a:bodyPr wrap="square">
            <a:spAutoFit/>
          </a:bodyPr>
          <a:lstStyle/>
          <a:p>
            <a:pPr algn="ctr">
              <a:defRPr sz="1100" b="1">
                <a:solidFill>
                  <a:srgbClr val="FFFFFF"/>
                </a:solidFill>
                <a:latin typeface="Aptos"/>
              </a:defRPr>
            </a:pPr>
            <a:r>
              <a:t>3</a:t>
            </a:r>
          </a:p>
        </p:txBody>
      </p:sp>
      <p:sp>
        <p:nvSpPr>
          <p:cNvPr id="14" name="TextBox 13"/>
          <p:cNvSpPr txBox="1"/>
          <p:nvPr/>
        </p:nvSpPr>
        <p:spPr>
          <a:xfrm>
            <a:off x="1463040" y="3511296"/>
            <a:ext cx="3749039" cy="274320"/>
          </a:xfrm>
          <a:prstGeom prst="rect">
            <a:avLst/>
          </a:prstGeom>
          <a:noFill/>
        </p:spPr>
        <p:txBody>
          <a:bodyPr wrap="square">
            <a:spAutoFit/>
          </a:bodyPr>
          <a:lstStyle/>
          <a:p>
            <a:pPr algn="l">
              <a:defRPr sz="1500" b="1">
                <a:solidFill>
                  <a:srgbClr val="1F3448"/>
                </a:solidFill>
                <a:latin typeface="Aptos"/>
              </a:defRPr>
            </a:pPr>
            <a:r>
              <a:t>Validate before scaling</a:t>
            </a:r>
          </a:p>
        </p:txBody>
      </p:sp>
      <p:sp>
        <p:nvSpPr>
          <p:cNvPr id="15" name="TextBox 14"/>
          <p:cNvSpPr txBox="1"/>
          <p:nvPr/>
        </p:nvSpPr>
        <p:spPr>
          <a:xfrm>
            <a:off x="5074920" y="3511296"/>
            <a:ext cx="6035040" cy="594360"/>
          </a:xfrm>
          <a:prstGeom prst="rect">
            <a:avLst/>
          </a:prstGeom>
          <a:noFill/>
        </p:spPr>
        <p:txBody>
          <a:bodyPr wrap="square">
            <a:spAutoFit/>
          </a:bodyPr>
          <a:lstStyle/>
          <a:p>
            <a:pPr algn="l">
              <a:defRPr sz="1250" b="0">
                <a:solidFill>
                  <a:srgbClr val="2D3238"/>
                </a:solidFill>
                <a:latin typeface="Aptos"/>
              </a:defRPr>
            </a:pPr>
            <a:r>
              <a:t>Use significance tests, confidence intervals and sample-size checks.</a:t>
            </a:r>
          </a:p>
        </p:txBody>
      </p:sp>
      <p:sp>
        <p:nvSpPr>
          <p:cNvPr id="16" name="Oval 15"/>
          <p:cNvSpPr/>
          <p:nvPr/>
        </p:nvSpPr>
        <p:spPr>
          <a:xfrm>
            <a:off x="777240" y="4617720"/>
            <a:ext cx="475488" cy="475488"/>
          </a:xfrm>
          <a:prstGeom prst="ellipse">
            <a:avLst/>
          </a:prstGeom>
          <a:solidFill>
            <a:srgbClr val="34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6112" y="4681728"/>
            <a:ext cx="228600" cy="228600"/>
          </a:xfrm>
          <a:prstGeom prst="rect">
            <a:avLst/>
          </a:prstGeom>
          <a:noFill/>
        </p:spPr>
        <p:txBody>
          <a:bodyPr wrap="square">
            <a:spAutoFit/>
          </a:bodyPr>
          <a:lstStyle/>
          <a:p>
            <a:pPr algn="ctr">
              <a:defRPr sz="1100" b="1">
                <a:solidFill>
                  <a:srgbClr val="FFFFFF"/>
                </a:solidFill>
                <a:latin typeface="Aptos"/>
              </a:defRPr>
            </a:pPr>
            <a:r>
              <a:t>4</a:t>
            </a:r>
          </a:p>
        </p:txBody>
      </p:sp>
      <p:sp>
        <p:nvSpPr>
          <p:cNvPr id="18" name="TextBox 17"/>
          <p:cNvSpPr txBox="1"/>
          <p:nvPr/>
        </p:nvSpPr>
        <p:spPr>
          <a:xfrm>
            <a:off x="1463040" y="4608576"/>
            <a:ext cx="3749039" cy="274320"/>
          </a:xfrm>
          <a:prstGeom prst="rect">
            <a:avLst/>
          </a:prstGeom>
          <a:noFill/>
        </p:spPr>
        <p:txBody>
          <a:bodyPr wrap="square">
            <a:spAutoFit/>
          </a:bodyPr>
          <a:lstStyle/>
          <a:p>
            <a:pPr algn="l">
              <a:defRPr sz="1500" b="1">
                <a:solidFill>
                  <a:srgbClr val="1F3448"/>
                </a:solidFill>
                <a:latin typeface="Aptos"/>
              </a:defRPr>
            </a:pPr>
            <a:r>
              <a:t>Segment by day</a:t>
            </a:r>
          </a:p>
        </p:txBody>
      </p:sp>
      <p:sp>
        <p:nvSpPr>
          <p:cNvPr id="19" name="TextBox 18"/>
          <p:cNvSpPr txBox="1"/>
          <p:nvPr/>
        </p:nvSpPr>
        <p:spPr>
          <a:xfrm>
            <a:off x="5074920" y="4608576"/>
            <a:ext cx="6035040" cy="594360"/>
          </a:xfrm>
          <a:prstGeom prst="rect">
            <a:avLst/>
          </a:prstGeom>
          <a:noFill/>
        </p:spPr>
        <p:txBody>
          <a:bodyPr wrap="square">
            <a:spAutoFit/>
          </a:bodyPr>
          <a:lstStyle/>
          <a:p>
            <a:pPr algn="l">
              <a:defRPr sz="1250" b="0">
                <a:solidFill>
                  <a:srgbClr val="2D3238"/>
                </a:solidFill>
                <a:latin typeface="Aptos"/>
              </a:defRPr>
            </a:pPr>
            <a:r>
              <a:t>Test whether the stronger Monday/Tuesday pattern persists.</a:t>
            </a:r>
          </a:p>
        </p:txBody>
      </p:sp>
      <p:sp>
        <p:nvSpPr>
          <p:cNvPr id="20" name="Rectangle 19"/>
          <p:cNvSpPr/>
          <p:nvPr/>
        </p:nvSpPr>
        <p:spPr>
          <a:xfrm>
            <a:off x="411480" y="6428232"/>
            <a:ext cx="11338560" cy="10972"/>
          </a:xfrm>
          <a:prstGeom prst="rect">
            <a:avLst/>
          </a:prstGeom>
          <a:solidFill>
            <a:srgbClr val="34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19" y="6473952"/>
            <a:ext cx="12087013" cy="223138"/>
          </a:xfrm>
          <a:prstGeom prst="rect">
            <a:avLst/>
          </a:prstGeom>
          <a:noFill/>
        </p:spPr>
        <p:txBody>
          <a:bodyPr wrap="square">
            <a:spAutoFit/>
          </a:bodyPr>
          <a:lstStyle/>
          <a:p>
            <a:pPr algn="l">
              <a:defRPr sz="850" b="0">
                <a:solidFill>
                  <a:srgbClr val="69717A"/>
                </a:solidFill>
                <a:latin typeface="Aptos"/>
              </a:defRPr>
            </a:pPr>
            <a:r>
              <a:rPr dirty="0"/>
              <a:t>Author: Teresa Mendes Coelho                                                </a:t>
            </a:r>
            <a:r>
              <a:rPr lang="pt-PT" dirty="0"/>
              <a:t>                                                                                                                                                                                                                                                                                    </a:t>
            </a:r>
            <a:r>
              <a:rPr dirty="0"/>
              <a:t>    </a:t>
            </a:r>
            <a:r>
              <a:rPr dirty="0" err="1"/>
              <a:t>Ironhack</a:t>
            </a:r>
            <a:r>
              <a:rPr dirty="0"/>
              <a:t> bootcamp Data Analytics 2026</a:t>
            </a:r>
          </a:p>
        </p:txBody>
      </p:sp>
      <p:pic>
        <p:nvPicPr>
          <p:cNvPr id="22" name="Picture 21" descr="3e6d4280-1049-4738-ab33-95281aa5f1cd.png"/>
          <p:cNvPicPr>
            <a:picLocks noChangeAspect="1"/>
          </p:cNvPicPr>
          <p:nvPr/>
        </p:nvPicPr>
        <p:blipFill>
          <a:blip r:embed="rId2"/>
          <a:stretch>
            <a:fillRect/>
          </a:stretch>
        </p:blipFill>
        <p:spPr>
          <a:xfrm>
            <a:off x="11440753" y="6473952"/>
            <a:ext cx="253746" cy="2743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10972800" cy="502920"/>
          </a:xfrm>
          <a:prstGeom prst="rect">
            <a:avLst/>
          </a:prstGeom>
          <a:noFill/>
        </p:spPr>
        <p:txBody>
          <a:bodyPr wrap="square">
            <a:spAutoFit/>
          </a:bodyPr>
          <a:lstStyle/>
          <a:p>
            <a:pPr algn="l">
              <a:defRPr sz="2800" b="1">
                <a:solidFill>
                  <a:srgbClr val="1F3448"/>
                </a:solidFill>
                <a:latin typeface="Aptos"/>
              </a:defRPr>
            </a:pPr>
            <a:r>
              <a:t>10. Tableau Deliverables</a:t>
            </a:r>
          </a:p>
        </p:txBody>
      </p:sp>
      <p:sp>
        <p:nvSpPr>
          <p:cNvPr id="3" name="TextBox 2"/>
          <p:cNvSpPr txBox="1"/>
          <p:nvPr/>
        </p:nvSpPr>
        <p:spPr>
          <a:xfrm>
            <a:off x="621792" y="896112"/>
            <a:ext cx="10789920" cy="347472"/>
          </a:xfrm>
          <a:prstGeom prst="rect">
            <a:avLst/>
          </a:prstGeom>
          <a:noFill/>
        </p:spPr>
        <p:txBody>
          <a:bodyPr wrap="square">
            <a:spAutoFit/>
          </a:bodyPr>
          <a:lstStyle/>
          <a:p>
            <a:pPr algn="l">
              <a:defRPr sz="1250" b="0">
                <a:solidFill>
                  <a:srgbClr val="69717A"/>
                </a:solidFill>
                <a:latin typeface="Aptos"/>
              </a:defRPr>
            </a:pPr>
            <a:r>
              <a:t>Three dashboards designed for different analytical questions</a:t>
            </a:r>
          </a:p>
        </p:txBody>
      </p:sp>
      <p:sp>
        <p:nvSpPr>
          <p:cNvPr id="4" name="Rounded Rectangle 3"/>
          <p:cNvSpPr/>
          <p:nvPr/>
        </p:nvSpPr>
        <p:spPr>
          <a:xfrm>
            <a:off x="685800" y="1417320"/>
            <a:ext cx="3337560" cy="3429000"/>
          </a:xfrm>
          <a:prstGeom prst="roundRect">
            <a:avLst/>
          </a:prstGeom>
          <a:solidFill>
            <a:srgbClr val="F2F5F7"/>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83080"/>
            <a:ext cx="2834640" cy="685800"/>
          </a:xfrm>
          <a:prstGeom prst="rect">
            <a:avLst/>
          </a:prstGeom>
          <a:noFill/>
        </p:spPr>
        <p:txBody>
          <a:bodyPr wrap="square">
            <a:spAutoFit/>
          </a:bodyPr>
          <a:lstStyle/>
          <a:p>
            <a:pPr algn="l">
              <a:defRPr sz="1700" b="1">
                <a:solidFill>
                  <a:srgbClr val="1F3448"/>
                </a:solidFill>
                <a:latin typeface="Aptos"/>
              </a:defRPr>
            </a:pPr>
            <a:r>
              <a:rPr dirty="0"/>
              <a:t>Marketing A/B Test Performance</a:t>
            </a:r>
          </a:p>
        </p:txBody>
      </p:sp>
      <p:sp>
        <p:nvSpPr>
          <p:cNvPr id="6" name="TextBox 5"/>
          <p:cNvSpPr txBox="1"/>
          <p:nvPr/>
        </p:nvSpPr>
        <p:spPr>
          <a:xfrm>
            <a:off x="914400" y="2651760"/>
            <a:ext cx="2834640" cy="274320"/>
          </a:xfrm>
          <a:prstGeom prst="rect">
            <a:avLst/>
          </a:prstGeom>
          <a:noFill/>
        </p:spPr>
        <p:txBody>
          <a:bodyPr wrap="square">
            <a:spAutoFit/>
          </a:bodyPr>
          <a:lstStyle/>
          <a:p>
            <a:pPr algn="l">
              <a:defRPr sz="1100" b="1">
                <a:solidFill>
                  <a:srgbClr val="3C78AA"/>
                </a:solidFill>
                <a:latin typeface="Aptos"/>
              </a:defRPr>
            </a:pPr>
            <a:r>
              <a:t>Executive view</a:t>
            </a:r>
          </a:p>
        </p:txBody>
      </p:sp>
      <p:sp>
        <p:nvSpPr>
          <p:cNvPr id="7" name="TextBox 6"/>
          <p:cNvSpPr txBox="1"/>
          <p:nvPr/>
        </p:nvSpPr>
        <p:spPr>
          <a:xfrm>
            <a:off x="914400" y="3108960"/>
            <a:ext cx="2788920" cy="1005840"/>
          </a:xfrm>
          <a:prstGeom prst="rect">
            <a:avLst/>
          </a:prstGeom>
          <a:noFill/>
        </p:spPr>
        <p:txBody>
          <a:bodyPr wrap="square">
            <a:spAutoFit/>
          </a:bodyPr>
          <a:lstStyle/>
          <a:p>
            <a:pPr algn="l">
              <a:defRPr sz="1300" b="0">
                <a:solidFill>
                  <a:srgbClr val="2D3238"/>
                </a:solidFill>
                <a:latin typeface="Aptos"/>
              </a:defRPr>
            </a:pPr>
            <a:r>
              <a:rPr dirty="0"/>
              <a:t>KPIs + group comparison + day pattern</a:t>
            </a:r>
          </a:p>
        </p:txBody>
      </p:sp>
      <p:sp>
        <p:nvSpPr>
          <p:cNvPr id="8" name="Rounded Rectangle 7"/>
          <p:cNvSpPr/>
          <p:nvPr/>
        </p:nvSpPr>
        <p:spPr>
          <a:xfrm>
            <a:off x="4389120" y="1417320"/>
            <a:ext cx="3337560" cy="3429000"/>
          </a:xfrm>
          <a:prstGeom prst="roundRect">
            <a:avLst/>
          </a:prstGeom>
          <a:solidFill>
            <a:srgbClr val="F2F5F7"/>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17720" y="1783080"/>
            <a:ext cx="2834640" cy="685800"/>
          </a:xfrm>
          <a:prstGeom prst="rect">
            <a:avLst/>
          </a:prstGeom>
          <a:noFill/>
        </p:spPr>
        <p:txBody>
          <a:bodyPr wrap="square">
            <a:spAutoFit/>
          </a:bodyPr>
          <a:lstStyle/>
          <a:p>
            <a:pPr algn="l">
              <a:defRPr sz="1700" b="1">
                <a:solidFill>
                  <a:srgbClr val="1F3448"/>
                </a:solidFill>
                <a:latin typeface="Aptos"/>
              </a:defRPr>
            </a:pPr>
            <a:r>
              <a:t>Advertising Performance by Hour</a:t>
            </a:r>
          </a:p>
        </p:txBody>
      </p:sp>
      <p:sp>
        <p:nvSpPr>
          <p:cNvPr id="10" name="TextBox 9"/>
          <p:cNvSpPr txBox="1"/>
          <p:nvPr/>
        </p:nvSpPr>
        <p:spPr>
          <a:xfrm>
            <a:off x="4617720" y="2651760"/>
            <a:ext cx="2834640" cy="274320"/>
          </a:xfrm>
          <a:prstGeom prst="rect">
            <a:avLst/>
          </a:prstGeom>
          <a:noFill/>
        </p:spPr>
        <p:txBody>
          <a:bodyPr wrap="square">
            <a:spAutoFit/>
          </a:bodyPr>
          <a:lstStyle/>
          <a:p>
            <a:pPr algn="l">
              <a:defRPr sz="1100" b="1">
                <a:solidFill>
                  <a:srgbClr val="3C915F"/>
                </a:solidFill>
                <a:latin typeface="Aptos"/>
              </a:defRPr>
            </a:pPr>
            <a:r>
              <a:t>Timing view</a:t>
            </a:r>
          </a:p>
        </p:txBody>
      </p:sp>
      <p:sp>
        <p:nvSpPr>
          <p:cNvPr id="11" name="TextBox 10"/>
          <p:cNvSpPr txBox="1"/>
          <p:nvPr/>
        </p:nvSpPr>
        <p:spPr>
          <a:xfrm>
            <a:off x="4617720" y="3108960"/>
            <a:ext cx="2788920" cy="1005840"/>
          </a:xfrm>
          <a:prstGeom prst="rect">
            <a:avLst/>
          </a:prstGeom>
          <a:noFill/>
        </p:spPr>
        <p:txBody>
          <a:bodyPr wrap="square">
            <a:spAutoFit/>
          </a:bodyPr>
          <a:lstStyle/>
          <a:p>
            <a:pPr algn="l">
              <a:defRPr sz="1300" b="0">
                <a:solidFill>
                  <a:srgbClr val="2D3238"/>
                </a:solidFill>
                <a:latin typeface="Aptos"/>
              </a:defRPr>
            </a:pPr>
            <a:r>
              <a:t>Ad volume + conversion + difference + improvement</a:t>
            </a:r>
          </a:p>
        </p:txBody>
      </p:sp>
      <p:sp>
        <p:nvSpPr>
          <p:cNvPr id="12" name="Rounded Rectangle 11"/>
          <p:cNvSpPr/>
          <p:nvPr/>
        </p:nvSpPr>
        <p:spPr>
          <a:xfrm>
            <a:off x="8092440" y="1417320"/>
            <a:ext cx="3337560" cy="3429000"/>
          </a:xfrm>
          <a:prstGeom prst="roundRect">
            <a:avLst/>
          </a:prstGeom>
          <a:solidFill>
            <a:srgbClr val="F2F5F7"/>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1040" y="1783080"/>
            <a:ext cx="2834640" cy="685800"/>
          </a:xfrm>
          <a:prstGeom prst="rect">
            <a:avLst/>
          </a:prstGeom>
          <a:noFill/>
        </p:spPr>
        <p:txBody>
          <a:bodyPr wrap="square">
            <a:spAutoFit/>
          </a:bodyPr>
          <a:lstStyle/>
          <a:p>
            <a:pPr algn="l">
              <a:defRPr sz="1700" b="1">
                <a:solidFill>
                  <a:srgbClr val="1F3448"/>
                </a:solidFill>
                <a:latin typeface="Aptos"/>
              </a:defRPr>
            </a:pPr>
            <a:r>
              <a:t>A/B Test Group Performance</a:t>
            </a:r>
          </a:p>
        </p:txBody>
      </p:sp>
      <p:sp>
        <p:nvSpPr>
          <p:cNvPr id="14" name="TextBox 13"/>
          <p:cNvSpPr txBox="1"/>
          <p:nvPr/>
        </p:nvSpPr>
        <p:spPr>
          <a:xfrm>
            <a:off x="8321040" y="2651760"/>
            <a:ext cx="2834640" cy="274320"/>
          </a:xfrm>
          <a:prstGeom prst="rect">
            <a:avLst/>
          </a:prstGeom>
          <a:noFill/>
        </p:spPr>
        <p:txBody>
          <a:bodyPr wrap="square">
            <a:spAutoFit/>
          </a:bodyPr>
          <a:lstStyle/>
          <a:p>
            <a:pPr algn="l">
              <a:defRPr sz="1100" b="1">
                <a:solidFill>
                  <a:srgbClr val="E19137"/>
                </a:solidFill>
                <a:latin typeface="Aptos"/>
              </a:defRPr>
            </a:pPr>
            <a:r>
              <a:t>Experiment view</a:t>
            </a:r>
          </a:p>
        </p:txBody>
      </p:sp>
      <p:sp>
        <p:nvSpPr>
          <p:cNvPr id="15" name="TextBox 14"/>
          <p:cNvSpPr txBox="1"/>
          <p:nvPr/>
        </p:nvSpPr>
        <p:spPr>
          <a:xfrm>
            <a:off x="8321040" y="3108960"/>
            <a:ext cx="2788920" cy="1005840"/>
          </a:xfrm>
          <a:prstGeom prst="rect">
            <a:avLst/>
          </a:prstGeom>
          <a:noFill/>
        </p:spPr>
        <p:txBody>
          <a:bodyPr wrap="square">
            <a:spAutoFit/>
          </a:bodyPr>
          <a:lstStyle/>
          <a:p>
            <a:pPr algn="l">
              <a:defRPr sz="1300" b="0">
                <a:solidFill>
                  <a:srgbClr val="2D3238"/>
                </a:solidFill>
                <a:latin typeface="Aptos"/>
              </a:defRPr>
            </a:pPr>
            <a:r>
              <a:t>Conversion + difference + relative improvement + total ads</a:t>
            </a:r>
          </a:p>
        </p:txBody>
      </p:sp>
      <p:sp>
        <p:nvSpPr>
          <p:cNvPr id="16" name="TextBox 15"/>
          <p:cNvSpPr txBox="1"/>
          <p:nvPr/>
        </p:nvSpPr>
        <p:spPr>
          <a:xfrm>
            <a:off x="731520" y="5257800"/>
            <a:ext cx="10607040" cy="411480"/>
          </a:xfrm>
          <a:prstGeom prst="rect">
            <a:avLst/>
          </a:prstGeom>
          <a:noFill/>
        </p:spPr>
        <p:txBody>
          <a:bodyPr wrap="square">
            <a:spAutoFit/>
          </a:bodyPr>
          <a:lstStyle/>
          <a:p>
            <a:pPr algn="ctr">
              <a:defRPr sz="1500" b="1">
                <a:solidFill>
                  <a:srgbClr val="1F3448"/>
                </a:solidFill>
                <a:latin typeface="Aptos"/>
              </a:defRPr>
            </a:pPr>
            <a:r>
              <a:t>Together: executive summary → timing analysis → experiment-level comparison.</a:t>
            </a:r>
          </a:p>
        </p:txBody>
      </p:sp>
      <p:sp>
        <p:nvSpPr>
          <p:cNvPr id="17" name="Rectangle 16"/>
          <p:cNvSpPr/>
          <p:nvPr/>
        </p:nvSpPr>
        <p:spPr>
          <a:xfrm>
            <a:off x="411480" y="6428232"/>
            <a:ext cx="11338560" cy="10972"/>
          </a:xfrm>
          <a:prstGeom prst="rect">
            <a:avLst/>
          </a:prstGeom>
          <a:solidFill>
            <a:srgbClr val="34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19" y="6473952"/>
            <a:ext cx="12087013" cy="223138"/>
          </a:xfrm>
          <a:prstGeom prst="rect">
            <a:avLst/>
          </a:prstGeom>
          <a:noFill/>
        </p:spPr>
        <p:txBody>
          <a:bodyPr wrap="square">
            <a:spAutoFit/>
          </a:bodyPr>
          <a:lstStyle/>
          <a:p>
            <a:pPr algn="l">
              <a:defRPr sz="850" b="0">
                <a:solidFill>
                  <a:srgbClr val="69717A"/>
                </a:solidFill>
                <a:latin typeface="Aptos"/>
              </a:defRPr>
            </a:pPr>
            <a:r>
              <a:rPr dirty="0"/>
              <a:t>Author: Teresa Mendes Coelho                                                 </a:t>
            </a:r>
            <a:r>
              <a:rPr lang="pt-PT" dirty="0"/>
              <a:t>                                                                                                                                                                                                                                                                                      </a:t>
            </a:r>
            <a:r>
              <a:rPr dirty="0"/>
              <a:t>   </a:t>
            </a:r>
            <a:r>
              <a:rPr dirty="0" err="1"/>
              <a:t>Ironhack</a:t>
            </a:r>
            <a:r>
              <a:rPr dirty="0"/>
              <a:t> bootcamp Data Analytics 2026</a:t>
            </a:r>
          </a:p>
        </p:txBody>
      </p:sp>
      <p:pic>
        <p:nvPicPr>
          <p:cNvPr id="19" name="Picture 18" descr="3e6d4280-1049-4738-ab33-95281aa5f1cd.png"/>
          <p:cNvPicPr>
            <a:picLocks noChangeAspect="1"/>
          </p:cNvPicPr>
          <p:nvPr/>
        </p:nvPicPr>
        <p:blipFill>
          <a:blip r:embed="rId2"/>
          <a:stretch>
            <a:fillRect/>
          </a:stretch>
        </p:blipFill>
        <p:spPr>
          <a:xfrm>
            <a:off x="11435334" y="6473952"/>
            <a:ext cx="253746" cy="2743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84048" y="164592"/>
            <a:ext cx="11384280" cy="438912"/>
          </a:xfrm>
          <a:prstGeom prst="rect">
            <a:avLst/>
          </a:prstGeom>
          <a:noFill/>
        </p:spPr>
        <p:txBody>
          <a:bodyPr wrap="none">
            <a:spAutoFit/>
          </a:bodyPr>
          <a:lstStyle/>
          <a:p>
            <a:pPr>
              <a:defRPr sz="2000" b="1">
                <a:solidFill>
                  <a:srgbClr val="1F3749"/>
                </a:solidFill>
                <a:latin typeface="Aptos Display"/>
              </a:defRPr>
            </a:pPr>
            <a:r>
              <a:t>Tableau Dashboard 1 — Marketing A/B Test Performance</a:t>
            </a:r>
          </a:p>
        </p:txBody>
      </p:sp>
      <p:sp>
        <p:nvSpPr>
          <p:cNvPr id="4" name="Rectangle 3"/>
          <p:cNvSpPr/>
          <p:nvPr/>
        </p:nvSpPr>
        <p:spPr>
          <a:xfrm>
            <a:off x="384048" y="6464808"/>
            <a:ext cx="11423904" cy="13716"/>
          </a:xfrm>
          <a:prstGeom prst="rect">
            <a:avLst/>
          </a:prstGeom>
          <a:solidFill>
            <a:srgbClr val="2DB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47104"/>
            <a:ext cx="8046720" cy="201168"/>
          </a:xfrm>
          <a:prstGeom prst="rect">
            <a:avLst/>
          </a:prstGeom>
          <a:noFill/>
        </p:spPr>
        <p:txBody>
          <a:bodyPr wrap="none">
            <a:spAutoFit/>
          </a:bodyPr>
          <a:lstStyle/>
          <a:p>
            <a:pPr>
              <a:defRPr sz="700">
                <a:solidFill>
                  <a:srgbClr val="5A5A5A"/>
                </a:solidFill>
                <a:latin typeface="Aptos"/>
              </a:defRPr>
            </a:pPr>
            <a:r>
              <a:t>Author: Teresa Mendes Coelho                                                    Ironhack bootcamp Data Analytics 2026</a:t>
            </a:r>
          </a:p>
        </p:txBody>
      </p:sp>
      <p:pic>
        <p:nvPicPr>
          <p:cNvPr id="6" name="Picture 5" descr="image.png"/>
          <p:cNvPicPr>
            <a:picLocks noChangeAspect="1"/>
          </p:cNvPicPr>
          <p:nvPr/>
        </p:nvPicPr>
        <p:blipFill>
          <a:blip r:embed="rId2"/>
          <a:stretch>
            <a:fillRect/>
          </a:stretch>
        </p:blipFill>
        <p:spPr>
          <a:xfrm>
            <a:off x="11401501" y="6492240"/>
            <a:ext cx="287578" cy="310896"/>
          </a:xfrm>
          <a:prstGeom prst="rect">
            <a:avLst/>
          </a:prstGeom>
        </p:spPr>
      </p:pic>
      <p:sp>
        <p:nvSpPr>
          <p:cNvPr id="8" name="CaixaDeTexto 7">
            <a:extLst>
              <a:ext uri="{FF2B5EF4-FFF2-40B4-BE49-F238E27FC236}">
                <a16:creationId xmlns:a16="http://schemas.microsoft.com/office/drawing/2014/main" id="{1A081FCE-E491-94EA-CB37-4DD5F40505A7}"/>
              </a:ext>
            </a:extLst>
          </p:cNvPr>
          <p:cNvSpPr txBox="1"/>
          <p:nvPr/>
        </p:nvSpPr>
        <p:spPr>
          <a:xfrm>
            <a:off x="7095067" y="1014333"/>
            <a:ext cx="4673262" cy="3300904"/>
          </a:xfrm>
          <a:prstGeom prst="rect">
            <a:avLst/>
          </a:prstGeom>
          <a:noFill/>
        </p:spPr>
        <p:txBody>
          <a:bodyPr wrap="square">
            <a:spAutoFit/>
          </a:bodyPr>
          <a:lstStyle/>
          <a:p>
            <a:pPr>
              <a:lnSpc>
                <a:spcPct val="150000"/>
              </a:lnSpc>
            </a:pPr>
            <a:endParaRPr lang="en-US" sz="1500" dirty="0">
              <a:latin typeface="Aptos" panose="020B0004020202020204" pitchFamily="34" charset="0"/>
            </a:endParaRPr>
          </a:p>
          <a:p>
            <a:pPr>
              <a:lnSpc>
                <a:spcPct val="150000"/>
              </a:lnSpc>
            </a:pPr>
            <a:r>
              <a:rPr lang="en-US" sz="1400" dirty="0">
                <a:latin typeface="Aptos" panose="020B0004020202020204" pitchFamily="34" charset="0"/>
              </a:rPr>
              <a:t>Key Insights:</a:t>
            </a:r>
          </a:p>
          <a:p>
            <a:pPr marL="285750" indent="-285750">
              <a:lnSpc>
                <a:spcPct val="150000"/>
              </a:lnSpc>
              <a:buFont typeface="Arial" panose="020B0604020202020204" pitchFamily="34" charset="0"/>
              <a:buChar char="•"/>
            </a:pPr>
            <a:r>
              <a:rPr lang="en-US" sz="1400" dirty="0">
                <a:latin typeface="Aptos" panose="020B0004020202020204" pitchFamily="34" charset="0"/>
              </a:rPr>
              <a:t>588,101 users were included in the A/B test.</a:t>
            </a:r>
          </a:p>
          <a:p>
            <a:pPr marL="285750" indent="-285750">
              <a:lnSpc>
                <a:spcPct val="150000"/>
              </a:lnSpc>
              <a:buFont typeface="Arial" panose="020B0604020202020204" pitchFamily="34" charset="0"/>
              <a:buChar char="•"/>
            </a:pPr>
            <a:r>
              <a:rPr lang="en-US" sz="1400" dirty="0">
                <a:latin typeface="Aptos" panose="020B0004020202020204" pitchFamily="34" charset="0"/>
              </a:rPr>
              <a:t>The Ad group achieved a 2.55% conversion rate, compared with 1.79% for PSA.</a:t>
            </a:r>
          </a:p>
          <a:p>
            <a:pPr marL="285750" indent="-285750">
              <a:lnSpc>
                <a:spcPct val="150000"/>
              </a:lnSpc>
              <a:buFont typeface="Arial" panose="020B0604020202020204" pitchFamily="34" charset="0"/>
              <a:buChar char="•"/>
            </a:pPr>
            <a:r>
              <a:rPr lang="en-US" sz="1400" dirty="0">
                <a:latin typeface="Aptos" panose="020B0004020202020204" pitchFamily="34" charset="0"/>
              </a:rPr>
              <a:t>This represents a 0.77 percentage-point conversion rate difference in </a:t>
            </a:r>
            <a:r>
              <a:rPr lang="en-US" sz="1400" dirty="0" err="1">
                <a:latin typeface="Aptos" panose="020B0004020202020204" pitchFamily="34" charset="0"/>
              </a:rPr>
              <a:t>favour</a:t>
            </a:r>
            <a:r>
              <a:rPr lang="en-US" sz="1400" dirty="0">
                <a:latin typeface="Aptos" panose="020B0004020202020204" pitchFamily="34" charset="0"/>
              </a:rPr>
              <a:t> of the Ad group.</a:t>
            </a:r>
          </a:p>
          <a:p>
            <a:pPr marL="285750" indent="-285750">
              <a:lnSpc>
                <a:spcPct val="150000"/>
              </a:lnSpc>
              <a:buFont typeface="Arial" panose="020B0604020202020204" pitchFamily="34" charset="0"/>
              <a:buChar char="•"/>
            </a:pPr>
            <a:r>
              <a:rPr lang="en-US" sz="1400" dirty="0">
                <a:latin typeface="Aptos" panose="020B0004020202020204" pitchFamily="34" charset="0"/>
              </a:rPr>
              <a:t>Monday recorded the highest conversion rate, while Saturday had the lowest.</a:t>
            </a:r>
          </a:p>
          <a:p>
            <a:pPr marL="285750" indent="-285750">
              <a:buFont typeface="Arial" panose="020B0604020202020204" pitchFamily="34" charset="0"/>
              <a:buChar char="•"/>
            </a:pPr>
            <a:endParaRPr lang="en-US" dirty="0"/>
          </a:p>
        </p:txBody>
      </p:sp>
      <p:sp>
        <p:nvSpPr>
          <p:cNvPr id="10" name="CaixaDeTexto 9">
            <a:extLst>
              <a:ext uri="{FF2B5EF4-FFF2-40B4-BE49-F238E27FC236}">
                <a16:creationId xmlns:a16="http://schemas.microsoft.com/office/drawing/2014/main" id="{06F5212C-D5FF-BAA3-4F61-73C87BE7ACAD}"/>
              </a:ext>
            </a:extLst>
          </p:cNvPr>
          <p:cNvSpPr txBox="1"/>
          <p:nvPr/>
        </p:nvSpPr>
        <p:spPr>
          <a:xfrm>
            <a:off x="6714065" y="5045224"/>
            <a:ext cx="4975013" cy="877163"/>
          </a:xfrm>
          <a:prstGeom prst="rect">
            <a:avLst/>
          </a:prstGeom>
          <a:noFill/>
        </p:spPr>
        <p:txBody>
          <a:bodyPr wrap="square">
            <a:spAutoFit/>
          </a:bodyPr>
          <a:lstStyle/>
          <a:p>
            <a:pPr algn="ctr"/>
            <a:r>
              <a:rPr lang="en-US" sz="1700" dirty="0"/>
              <a:t>The results show a clear advantage for the Ad campaign over PSA, with a higher conversion rate and a positive lift in performance.</a:t>
            </a:r>
            <a:endParaRPr lang="pt-PT" sz="1700" dirty="0"/>
          </a:p>
        </p:txBody>
      </p:sp>
      <p:pic>
        <p:nvPicPr>
          <p:cNvPr id="14" name="Imagem 13">
            <a:extLst>
              <a:ext uri="{FF2B5EF4-FFF2-40B4-BE49-F238E27FC236}">
                <a16:creationId xmlns:a16="http://schemas.microsoft.com/office/drawing/2014/main" id="{6CDC8944-9FDC-71D6-2154-15BAEBCA51F1}"/>
              </a:ext>
            </a:extLst>
          </p:cNvPr>
          <p:cNvPicPr>
            <a:picLocks noChangeAspect="1"/>
          </p:cNvPicPr>
          <p:nvPr/>
        </p:nvPicPr>
        <p:blipFill>
          <a:blip r:embed="rId3"/>
          <a:stretch>
            <a:fillRect/>
          </a:stretch>
        </p:blipFill>
        <p:spPr>
          <a:xfrm>
            <a:off x="502920" y="1014333"/>
            <a:ext cx="6051721" cy="48293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84048" y="164592"/>
            <a:ext cx="11384280" cy="438912"/>
          </a:xfrm>
          <a:prstGeom prst="rect">
            <a:avLst/>
          </a:prstGeom>
          <a:noFill/>
        </p:spPr>
        <p:txBody>
          <a:bodyPr wrap="none">
            <a:spAutoFit/>
          </a:bodyPr>
          <a:lstStyle/>
          <a:p>
            <a:pPr>
              <a:defRPr sz="2000" b="1">
                <a:solidFill>
                  <a:srgbClr val="1F3749"/>
                </a:solidFill>
                <a:latin typeface="Aptos Display"/>
              </a:defRPr>
            </a:pPr>
            <a:r>
              <a:t>Tableau Dashboard 2 — Advertising Performance by Hour</a:t>
            </a:r>
          </a:p>
        </p:txBody>
      </p:sp>
      <p:pic>
        <p:nvPicPr>
          <p:cNvPr id="3" name="Picture 2" descr="a262ad3b-a776-4586-adad-e1b5be5436e6.png"/>
          <p:cNvPicPr>
            <a:picLocks noChangeAspect="1"/>
          </p:cNvPicPr>
          <p:nvPr/>
        </p:nvPicPr>
        <p:blipFill>
          <a:blip r:embed="rId2"/>
          <a:srcRect l="33190" t="10966" r="13102" b="10960"/>
          <a:stretch>
            <a:fillRect/>
          </a:stretch>
        </p:blipFill>
        <p:spPr>
          <a:xfrm>
            <a:off x="384048" y="790383"/>
            <a:ext cx="6778326" cy="5491884"/>
          </a:xfrm>
          <a:prstGeom prst="rect">
            <a:avLst/>
          </a:prstGeom>
        </p:spPr>
      </p:pic>
      <p:sp>
        <p:nvSpPr>
          <p:cNvPr id="4" name="Rectangle 3"/>
          <p:cNvSpPr/>
          <p:nvPr/>
        </p:nvSpPr>
        <p:spPr>
          <a:xfrm>
            <a:off x="384048" y="6464808"/>
            <a:ext cx="11423904" cy="13716"/>
          </a:xfrm>
          <a:prstGeom prst="rect">
            <a:avLst/>
          </a:prstGeom>
          <a:solidFill>
            <a:srgbClr val="2DB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47104"/>
            <a:ext cx="8046720" cy="201168"/>
          </a:xfrm>
          <a:prstGeom prst="rect">
            <a:avLst/>
          </a:prstGeom>
          <a:noFill/>
        </p:spPr>
        <p:txBody>
          <a:bodyPr wrap="none">
            <a:spAutoFit/>
          </a:bodyPr>
          <a:lstStyle/>
          <a:p>
            <a:pPr>
              <a:defRPr sz="700">
                <a:solidFill>
                  <a:srgbClr val="5A5A5A"/>
                </a:solidFill>
                <a:latin typeface="Aptos"/>
              </a:defRPr>
            </a:pPr>
            <a:r>
              <a:t>Author: Teresa Mendes Coelho                                                    Ironhack bootcamp Data Analytics 2026</a:t>
            </a:r>
          </a:p>
        </p:txBody>
      </p:sp>
      <p:pic>
        <p:nvPicPr>
          <p:cNvPr id="6" name="Picture 5" descr="image.png"/>
          <p:cNvPicPr>
            <a:picLocks noChangeAspect="1"/>
          </p:cNvPicPr>
          <p:nvPr/>
        </p:nvPicPr>
        <p:blipFill>
          <a:blip r:embed="rId3"/>
          <a:stretch>
            <a:fillRect/>
          </a:stretch>
        </p:blipFill>
        <p:spPr>
          <a:xfrm>
            <a:off x="11401501" y="6492240"/>
            <a:ext cx="287578" cy="310896"/>
          </a:xfrm>
          <a:prstGeom prst="rect">
            <a:avLst/>
          </a:prstGeom>
        </p:spPr>
      </p:pic>
      <p:sp>
        <p:nvSpPr>
          <p:cNvPr id="8" name="CaixaDeTexto 7">
            <a:extLst>
              <a:ext uri="{FF2B5EF4-FFF2-40B4-BE49-F238E27FC236}">
                <a16:creationId xmlns:a16="http://schemas.microsoft.com/office/drawing/2014/main" id="{5454EB67-0326-2006-946B-40AE56624C53}"/>
              </a:ext>
            </a:extLst>
          </p:cNvPr>
          <p:cNvSpPr txBox="1"/>
          <p:nvPr/>
        </p:nvSpPr>
        <p:spPr>
          <a:xfrm>
            <a:off x="7252886" y="1038980"/>
            <a:ext cx="4727109" cy="3696525"/>
          </a:xfrm>
          <a:prstGeom prst="rect">
            <a:avLst/>
          </a:prstGeom>
          <a:noFill/>
        </p:spPr>
        <p:txBody>
          <a:bodyPr wrap="square">
            <a:spAutoFit/>
          </a:bodyPr>
          <a:lstStyle/>
          <a:p>
            <a:pPr>
              <a:lnSpc>
                <a:spcPct val="150000"/>
              </a:lnSpc>
            </a:pPr>
            <a:r>
              <a:rPr lang="en-US" sz="1400" dirty="0">
                <a:latin typeface="Aptos" panose="020B0004020202020204" pitchFamily="34" charset="0"/>
              </a:rPr>
              <a:t>Key Insights:</a:t>
            </a:r>
          </a:p>
          <a:p>
            <a:pPr marL="285750" indent="-285750">
              <a:lnSpc>
                <a:spcPct val="150000"/>
              </a:lnSpc>
              <a:buFont typeface="Arial" panose="020B0604020202020204" pitchFamily="34" charset="0"/>
              <a:buChar char="•"/>
            </a:pPr>
            <a:r>
              <a:rPr lang="en-US" sz="1400" dirty="0">
                <a:latin typeface="Aptos" panose="020B0004020202020204" pitchFamily="34" charset="0"/>
              </a:rPr>
              <a:t>Advertising volume increases significantly during the late morning and afternoon.</a:t>
            </a:r>
          </a:p>
          <a:p>
            <a:pPr marL="285750" indent="-285750">
              <a:lnSpc>
                <a:spcPct val="150000"/>
              </a:lnSpc>
              <a:buFont typeface="Arial" panose="020B0604020202020204" pitchFamily="34" charset="0"/>
              <a:buChar char="•"/>
            </a:pPr>
            <a:r>
              <a:rPr lang="en-US" sz="1400" dirty="0">
                <a:latin typeface="Aptos" panose="020B0004020202020204" pitchFamily="34" charset="0"/>
              </a:rPr>
              <a:t>The highest advertising volume occurs around 12:00–13:00.</a:t>
            </a:r>
          </a:p>
          <a:p>
            <a:pPr marL="285750" indent="-285750">
              <a:lnSpc>
                <a:spcPct val="150000"/>
              </a:lnSpc>
              <a:buFont typeface="Arial" panose="020B0604020202020204" pitchFamily="34" charset="0"/>
              <a:buChar char="•"/>
            </a:pPr>
            <a:r>
              <a:rPr lang="en-US" sz="1400" dirty="0">
                <a:latin typeface="Aptos" panose="020B0004020202020204" pitchFamily="34" charset="0"/>
              </a:rPr>
              <a:t>Conversion rates peak around 16:00, reaching approximately 3.1%.</a:t>
            </a:r>
          </a:p>
          <a:p>
            <a:pPr marL="285750" indent="-285750">
              <a:lnSpc>
                <a:spcPct val="150000"/>
              </a:lnSpc>
              <a:buFont typeface="Arial" panose="020B0604020202020204" pitchFamily="34" charset="0"/>
              <a:buChar char="•"/>
            </a:pPr>
            <a:r>
              <a:rPr lang="en-US" sz="1400" dirty="0">
                <a:latin typeface="Aptos" panose="020B0004020202020204" pitchFamily="34" charset="0"/>
              </a:rPr>
              <a:t>The strongest relative improvement is observed around 07:00, suggesting that some lower-volume hours can still generate strong performance.</a:t>
            </a:r>
          </a:p>
          <a:p>
            <a:pPr marL="285750" indent="-285750">
              <a:lnSpc>
                <a:spcPct val="150000"/>
              </a:lnSpc>
              <a:buFont typeface="Arial" panose="020B0604020202020204" pitchFamily="34" charset="0"/>
              <a:buChar char="•"/>
            </a:pPr>
            <a:endParaRPr lang="pt-PT" dirty="0"/>
          </a:p>
        </p:txBody>
      </p:sp>
      <p:sp>
        <p:nvSpPr>
          <p:cNvPr id="10" name="CaixaDeTexto 9">
            <a:extLst>
              <a:ext uri="{FF2B5EF4-FFF2-40B4-BE49-F238E27FC236}">
                <a16:creationId xmlns:a16="http://schemas.microsoft.com/office/drawing/2014/main" id="{641D1CE2-C1CD-739F-80DE-0D73E3F1726B}"/>
              </a:ext>
            </a:extLst>
          </p:cNvPr>
          <p:cNvSpPr txBox="1"/>
          <p:nvPr/>
        </p:nvSpPr>
        <p:spPr>
          <a:xfrm>
            <a:off x="7193193" y="4845145"/>
            <a:ext cx="4727109" cy="1400383"/>
          </a:xfrm>
          <a:prstGeom prst="rect">
            <a:avLst/>
          </a:prstGeom>
          <a:noFill/>
        </p:spPr>
        <p:txBody>
          <a:bodyPr wrap="square">
            <a:spAutoFit/>
          </a:bodyPr>
          <a:lstStyle/>
          <a:p>
            <a:pPr algn="ctr"/>
            <a:r>
              <a:rPr lang="en-US" sz="1700" dirty="0"/>
              <a:t>The analysis shows that advertising volume and conversion efficiency do not necessarily peak at the same time. This suggests an opportunity to optimize ad scheduling rather than simply increasing spend during the busiest hours.</a:t>
            </a:r>
            <a:endParaRPr lang="pt-PT"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84048" y="164592"/>
            <a:ext cx="11384280" cy="438912"/>
          </a:xfrm>
          <a:prstGeom prst="rect">
            <a:avLst/>
          </a:prstGeom>
          <a:noFill/>
        </p:spPr>
        <p:txBody>
          <a:bodyPr wrap="none">
            <a:spAutoFit/>
          </a:bodyPr>
          <a:lstStyle/>
          <a:p>
            <a:pPr>
              <a:defRPr sz="2000" b="1">
                <a:solidFill>
                  <a:srgbClr val="1F3749"/>
                </a:solidFill>
                <a:latin typeface="Aptos Display"/>
              </a:defRPr>
            </a:pPr>
            <a:r>
              <a:t>Tableau Dashboard 3 — A/B Test Group Performance</a:t>
            </a:r>
          </a:p>
        </p:txBody>
      </p:sp>
      <p:pic>
        <p:nvPicPr>
          <p:cNvPr id="3" name="Picture 2" descr="c188292a-b3a0-4053-9e4f-04a03c0f2ea3.png"/>
          <p:cNvPicPr>
            <a:picLocks noChangeAspect="1"/>
          </p:cNvPicPr>
          <p:nvPr/>
        </p:nvPicPr>
        <p:blipFill>
          <a:blip r:embed="rId3"/>
          <a:srcRect l="18804" t="9453" r="9891" b="13424"/>
          <a:stretch>
            <a:fillRect/>
          </a:stretch>
        </p:blipFill>
        <p:spPr>
          <a:xfrm>
            <a:off x="502920" y="1057202"/>
            <a:ext cx="6255368" cy="5126795"/>
          </a:xfrm>
          <a:prstGeom prst="rect">
            <a:avLst/>
          </a:prstGeom>
        </p:spPr>
      </p:pic>
      <p:sp>
        <p:nvSpPr>
          <p:cNvPr id="4" name="Rectangle 3"/>
          <p:cNvSpPr/>
          <p:nvPr/>
        </p:nvSpPr>
        <p:spPr>
          <a:xfrm>
            <a:off x="384048" y="6464808"/>
            <a:ext cx="11423904" cy="13716"/>
          </a:xfrm>
          <a:prstGeom prst="rect">
            <a:avLst/>
          </a:prstGeom>
          <a:solidFill>
            <a:srgbClr val="2DB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47104"/>
            <a:ext cx="8046720" cy="201168"/>
          </a:xfrm>
          <a:prstGeom prst="rect">
            <a:avLst/>
          </a:prstGeom>
          <a:noFill/>
        </p:spPr>
        <p:txBody>
          <a:bodyPr wrap="none">
            <a:spAutoFit/>
          </a:bodyPr>
          <a:lstStyle/>
          <a:p>
            <a:pPr>
              <a:defRPr sz="700">
                <a:solidFill>
                  <a:srgbClr val="5A5A5A"/>
                </a:solidFill>
                <a:latin typeface="Aptos"/>
              </a:defRPr>
            </a:pPr>
            <a:r>
              <a:t>Author: Teresa Mendes Coelho                                                    Ironhack bootcamp Data Analytics 2026</a:t>
            </a:r>
          </a:p>
        </p:txBody>
      </p:sp>
      <p:pic>
        <p:nvPicPr>
          <p:cNvPr id="6" name="Picture 5" descr="image.png"/>
          <p:cNvPicPr>
            <a:picLocks noChangeAspect="1"/>
          </p:cNvPicPr>
          <p:nvPr/>
        </p:nvPicPr>
        <p:blipFill>
          <a:blip r:embed="rId4"/>
          <a:stretch>
            <a:fillRect/>
          </a:stretch>
        </p:blipFill>
        <p:spPr>
          <a:xfrm>
            <a:off x="11401501" y="6492240"/>
            <a:ext cx="287578" cy="310896"/>
          </a:xfrm>
          <a:prstGeom prst="rect">
            <a:avLst/>
          </a:prstGeom>
        </p:spPr>
      </p:pic>
      <p:sp>
        <p:nvSpPr>
          <p:cNvPr id="8" name="CaixaDeTexto 7">
            <a:extLst>
              <a:ext uri="{FF2B5EF4-FFF2-40B4-BE49-F238E27FC236}">
                <a16:creationId xmlns:a16="http://schemas.microsoft.com/office/drawing/2014/main" id="{45A738B2-4077-D3D4-5BF9-77C660788F19}"/>
              </a:ext>
            </a:extLst>
          </p:cNvPr>
          <p:cNvSpPr txBox="1"/>
          <p:nvPr/>
        </p:nvSpPr>
        <p:spPr>
          <a:xfrm>
            <a:off x="7095066" y="797257"/>
            <a:ext cx="4673262" cy="3961854"/>
          </a:xfrm>
          <a:prstGeom prst="rect">
            <a:avLst/>
          </a:prstGeom>
          <a:noFill/>
        </p:spPr>
        <p:txBody>
          <a:bodyPr wrap="square">
            <a:spAutoFit/>
          </a:bodyPr>
          <a:lstStyle/>
          <a:p>
            <a:pPr>
              <a:lnSpc>
                <a:spcPct val="150000"/>
              </a:lnSpc>
            </a:pPr>
            <a:endParaRPr lang="en-US" sz="1500" dirty="0">
              <a:latin typeface="Aptos" panose="020B0004020202020204" pitchFamily="34" charset="0"/>
            </a:endParaRPr>
          </a:p>
          <a:p>
            <a:pPr>
              <a:lnSpc>
                <a:spcPct val="150000"/>
              </a:lnSpc>
            </a:pPr>
            <a:r>
              <a:rPr lang="en-US" sz="1400" dirty="0">
                <a:latin typeface="Aptos" panose="020B0004020202020204" pitchFamily="34" charset="0"/>
              </a:rPr>
              <a:t>Key Insights:</a:t>
            </a:r>
          </a:p>
          <a:p>
            <a:pPr marL="285750" indent="-285750">
              <a:lnSpc>
                <a:spcPct val="150000"/>
              </a:lnSpc>
              <a:buFont typeface="Arial" panose="020B0604020202020204" pitchFamily="34" charset="0"/>
              <a:buChar char="•"/>
            </a:pPr>
            <a:r>
              <a:rPr lang="en-US" sz="1400" dirty="0">
                <a:latin typeface="Aptos" panose="020B0004020202020204" pitchFamily="34" charset="0"/>
              </a:rPr>
              <a:t>The Ad group generated a substantially higher conversion rate than PSA.</a:t>
            </a:r>
          </a:p>
          <a:p>
            <a:pPr marL="285750" indent="-285750">
              <a:lnSpc>
                <a:spcPct val="150000"/>
              </a:lnSpc>
              <a:buFont typeface="Arial" panose="020B0604020202020204" pitchFamily="34" charset="0"/>
              <a:buChar char="•"/>
            </a:pPr>
            <a:r>
              <a:rPr lang="en-US" sz="1400" dirty="0">
                <a:latin typeface="Aptos" panose="020B0004020202020204" pitchFamily="34" charset="0"/>
              </a:rPr>
              <a:t>The conversion rate difference is approximately 0.77 percentage points.</a:t>
            </a:r>
          </a:p>
          <a:p>
            <a:pPr marL="285750" indent="-285750">
              <a:lnSpc>
                <a:spcPct val="150000"/>
              </a:lnSpc>
              <a:buFont typeface="Arial" panose="020B0604020202020204" pitchFamily="34" charset="0"/>
              <a:buChar char="•"/>
            </a:pPr>
            <a:r>
              <a:rPr lang="en-US" sz="1400" dirty="0">
                <a:latin typeface="Aptos" panose="020B0004020202020204" pitchFamily="34" charset="0"/>
              </a:rPr>
              <a:t>Relative improvement is approximately 43%, indicating a meaningful performance advantage for the Ad campaign.</a:t>
            </a:r>
          </a:p>
          <a:p>
            <a:pPr marL="285750" indent="-285750">
              <a:lnSpc>
                <a:spcPct val="150000"/>
              </a:lnSpc>
              <a:buFont typeface="Arial" panose="020B0604020202020204" pitchFamily="34" charset="0"/>
              <a:buChar char="•"/>
            </a:pPr>
            <a:r>
              <a:rPr lang="en-US" sz="1400" dirty="0">
                <a:latin typeface="Aptos" panose="020B0004020202020204" pitchFamily="34" charset="0"/>
              </a:rPr>
              <a:t>Total advertising exposure was much higher for the Ad group, so the conversion-rate comparison should remain the primary performance metric.</a:t>
            </a:r>
            <a:endParaRPr lang="en-US" dirty="0"/>
          </a:p>
        </p:txBody>
      </p:sp>
      <p:sp>
        <p:nvSpPr>
          <p:cNvPr id="10" name="CaixaDeTexto 9">
            <a:extLst>
              <a:ext uri="{FF2B5EF4-FFF2-40B4-BE49-F238E27FC236}">
                <a16:creationId xmlns:a16="http://schemas.microsoft.com/office/drawing/2014/main" id="{27C8DCE1-F40B-3073-E844-3C6CDF1630C2}"/>
              </a:ext>
            </a:extLst>
          </p:cNvPr>
          <p:cNvSpPr txBox="1"/>
          <p:nvPr/>
        </p:nvSpPr>
        <p:spPr>
          <a:xfrm>
            <a:off x="6944190" y="5045224"/>
            <a:ext cx="4975013" cy="1138773"/>
          </a:xfrm>
          <a:prstGeom prst="rect">
            <a:avLst/>
          </a:prstGeom>
          <a:noFill/>
        </p:spPr>
        <p:txBody>
          <a:bodyPr wrap="square">
            <a:spAutoFit/>
          </a:bodyPr>
          <a:lstStyle/>
          <a:p>
            <a:pPr algn="ctr"/>
            <a:r>
              <a:rPr lang="en-US" sz="1700" dirty="0"/>
              <a:t>Overall, the Ad campaign outperformed PSA, both in conversion rate and relative improvement, supporting the hypothesis that the advertising treatment was more effective.</a:t>
            </a:r>
            <a:endParaRPr lang="pt-PT"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F3448"/>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502920"/>
          </a:xfrm>
          <a:prstGeom prst="rect">
            <a:avLst/>
          </a:prstGeom>
          <a:noFill/>
        </p:spPr>
        <p:txBody>
          <a:bodyPr wrap="square">
            <a:spAutoFit/>
          </a:bodyPr>
          <a:lstStyle/>
          <a:p>
            <a:pPr algn="l">
              <a:defRPr sz="2800" b="1">
                <a:solidFill>
                  <a:srgbClr val="FFFFFF"/>
                </a:solidFill>
                <a:latin typeface="Aptos"/>
              </a:defRPr>
            </a:pPr>
            <a:r>
              <a:t>11. Conclusion</a:t>
            </a:r>
          </a:p>
        </p:txBody>
      </p:sp>
      <p:sp>
        <p:nvSpPr>
          <p:cNvPr id="3" name="TextBox 2"/>
          <p:cNvSpPr txBox="1"/>
          <p:nvPr/>
        </p:nvSpPr>
        <p:spPr>
          <a:xfrm>
            <a:off x="621792" y="896112"/>
            <a:ext cx="10789920" cy="347472"/>
          </a:xfrm>
          <a:prstGeom prst="rect">
            <a:avLst/>
          </a:prstGeom>
          <a:noFill/>
        </p:spPr>
        <p:txBody>
          <a:bodyPr wrap="square">
            <a:spAutoFit/>
          </a:bodyPr>
          <a:lstStyle/>
          <a:p>
            <a:pPr algn="l">
              <a:defRPr sz="1250" b="0">
                <a:solidFill>
                  <a:srgbClr val="CDDCE8"/>
                </a:solidFill>
                <a:latin typeface="Aptos"/>
              </a:defRPr>
            </a:pPr>
            <a:r>
              <a:t>The experiment points to a promising performance advantage for AD</a:t>
            </a:r>
          </a:p>
        </p:txBody>
      </p:sp>
      <p:sp>
        <p:nvSpPr>
          <p:cNvPr id="4" name="TextBox 3"/>
          <p:cNvSpPr txBox="1"/>
          <p:nvPr/>
        </p:nvSpPr>
        <p:spPr>
          <a:xfrm>
            <a:off x="731520" y="1554480"/>
            <a:ext cx="10698480" cy="960120"/>
          </a:xfrm>
          <a:prstGeom prst="rect">
            <a:avLst/>
          </a:prstGeom>
          <a:noFill/>
        </p:spPr>
        <p:txBody>
          <a:bodyPr wrap="square">
            <a:spAutoFit/>
          </a:bodyPr>
          <a:lstStyle/>
          <a:p>
            <a:pPr algn="l">
              <a:defRPr sz="1800" b="0">
                <a:solidFill>
                  <a:srgbClr val="FFFFFF"/>
                </a:solidFill>
                <a:latin typeface="Aptos"/>
              </a:defRPr>
            </a:pPr>
            <a:r>
              <a:t>AD has a higher observed conversion rate than PSA, with an observed uplift of approximately 43%. Hourly analysis also shows that the best conversion periods are not necessarily the periods with the highest advertising volume.</a:t>
            </a:r>
          </a:p>
        </p:txBody>
      </p:sp>
      <p:sp>
        <p:nvSpPr>
          <p:cNvPr id="5" name="Rounded Rectangle 4"/>
          <p:cNvSpPr/>
          <p:nvPr/>
        </p:nvSpPr>
        <p:spPr>
          <a:xfrm>
            <a:off x="731520" y="3246120"/>
            <a:ext cx="3337560" cy="1234440"/>
          </a:xfrm>
          <a:prstGeom prst="roundRect">
            <a:avLst/>
          </a:prstGeom>
          <a:solidFill>
            <a:srgbClr val="29455E"/>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3246120"/>
            <a:ext cx="64008" cy="1234440"/>
          </a:xfrm>
          <a:prstGeom prst="rect">
            <a:avLst/>
          </a:prstGeom>
          <a:solidFill>
            <a:srgbClr val="34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401568"/>
            <a:ext cx="3017520" cy="253916"/>
          </a:xfrm>
          <a:prstGeom prst="rect">
            <a:avLst/>
          </a:prstGeom>
          <a:noFill/>
        </p:spPr>
        <p:txBody>
          <a:bodyPr wrap="square">
            <a:spAutoFit/>
          </a:bodyPr>
          <a:lstStyle/>
          <a:p>
            <a:pPr algn="l">
              <a:defRPr sz="1050" b="1">
                <a:solidFill>
                  <a:srgbClr val="69717A"/>
                </a:solidFill>
                <a:latin typeface="Aptos"/>
              </a:defRPr>
            </a:pPr>
            <a:r>
              <a:rPr dirty="0">
                <a:solidFill>
                  <a:schemeClr val="bg1"/>
                </a:solidFill>
              </a:rPr>
              <a:t>GROUP RESULT</a:t>
            </a:r>
          </a:p>
        </p:txBody>
      </p:sp>
      <p:sp>
        <p:nvSpPr>
          <p:cNvPr id="8" name="TextBox 7"/>
          <p:cNvSpPr txBox="1"/>
          <p:nvPr/>
        </p:nvSpPr>
        <p:spPr>
          <a:xfrm>
            <a:off x="914400" y="3749039"/>
            <a:ext cx="3017520" cy="430887"/>
          </a:xfrm>
          <a:prstGeom prst="rect">
            <a:avLst/>
          </a:prstGeom>
          <a:noFill/>
        </p:spPr>
        <p:txBody>
          <a:bodyPr wrap="square">
            <a:spAutoFit/>
          </a:bodyPr>
          <a:lstStyle/>
          <a:p>
            <a:pPr algn="l">
              <a:defRPr sz="2200" b="1">
                <a:solidFill>
                  <a:srgbClr val="1F3448"/>
                </a:solidFill>
                <a:latin typeface="Aptos"/>
              </a:defRPr>
            </a:pPr>
            <a:r>
              <a:rPr dirty="0">
                <a:solidFill>
                  <a:schemeClr val="bg1"/>
                </a:solidFill>
              </a:rPr>
              <a:t>2.55% vs 1.79%</a:t>
            </a:r>
          </a:p>
        </p:txBody>
      </p:sp>
      <p:sp>
        <p:nvSpPr>
          <p:cNvPr id="9" name="TextBox 8"/>
          <p:cNvSpPr txBox="1"/>
          <p:nvPr/>
        </p:nvSpPr>
        <p:spPr>
          <a:xfrm>
            <a:off x="914400" y="4233672"/>
            <a:ext cx="3017520" cy="253916"/>
          </a:xfrm>
          <a:prstGeom prst="rect">
            <a:avLst/>
          </a:prstGeom>
          <a:noFill/>
        </p:spPr>
        <p:txBody>
          <a:bodyPr wrap="square">
            <a:spAutoFit/>
          </a:bodyPr>
          <a:lstStyle/>
          <a:p>
            <a:pPr algn="l">
              <a:defRPr sz="1050" b="0">
                <a:solidFill>
                  <a:srgbClr val="69717A"/>
                </a:solidFill>
                <a:latin typeface="Aptos"/>
              </a:defRPr>
            </a:pPr>
            <a:r>
              <a:rPr dirty="0">
                <a:solidFill>
                  <a:schemeClr val="bg1"/>
                </a:solidFill>
              </a:rPr>
              <a:t>Observed dashboard result</a:t>
            </a:r>
          </a:p>
        </p:txBody>
      </p:sp>
      <p:sp>
        <p:nvSpPr>
          <p:cNvPr id="10" name="Rounded Rectangle 9"/>
          <p:cNvSpPr/>
          <p:nvPr/>
        </p:nvSpPr>
        <p:spPr>
          <a:xfrm>
            <a:off x="4434840" y="3246120"/>
            <a:ext cx="3337560" cy="1234440"/>
          </a:xfrm>
          <a:prstGeom prst="roundRect">
            <a:avLst/>
          </a:prstGeom>
          <a:solidFill>
            <a:srgbClr val="29455E"/>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34840" y="3246120"/>
            <a:ext cx="64008" cy="1234440"/>
          </a:xfrm>
          <a:prstGeom prst="rect">
            <a:avLst/>
          </a:prstGeom>
          <a:solidFill>
            <a:srgbClr val="3C91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17720" y="3401568"/>
            <a:ext cx="3017520" cy="253916"/>
          </a:xfrm>
          <a:prstGeom prst="rect">
            <a:avLst/>
          </a:prstGeom>
          <a:noFill/>
        </p:spPr>
        <p:txBody>
          <a:bodyPr wrap="square">
            <a:spAutoFit/>
          </a:bodyPr>
          <a:lstStyle/>
          <a:p>
            <a:pPr algn="l">
              <a:defRPr sz="1050" b="1">
                <a:solidFill>
                  <a:srgbClr val="69717A"/>
                </a:solidFill>
                <a:latin typeface="Aptos"/>
              </a:defRPr>
            </a:pPr>
            <a:r>
              <a:rPr dirty="0">
                <a:solidFill>
                  <a:schemeClr val="bg1"/>
                </a:solidFill>
              </a:rPr>
              <a:t>OBSERVED UPLIFT</a:t>
            </a:r>
          </a:p>
        </p:txBody>
      </p:sp>
      <p:sp>
        <p:nvSpPr>
          <p:cNvPr id="13" name="TextBox 12"/>
          <p:cNvSpPr txBox="1"/>
          <p:nvPr/>
        </p:nvSpPr>
        <p:spPr>
          <a:xfrm>
            <a:off x="4617720" y="3749039"/>
            <a:ext cx="3017520" cy="430887"/>
          </a:xfrm>
          <a:prstGeom prst="rect">
            <a:avLst/>
          </a:prstGeom>
          <a:noFill/>
        </p:spPr>
        <p:txBody>
          <a:bodyPr wrap="square">
            <a:spAutoFit/>
          </a:bodyPr>
          <a:lstStyle/>
          <a:p>
            <a:pPr algn="l">
              <a:defRPr sz="2200" b="1">
                <a:solidFill>
                  <a:srgbClr val="1F3448"/>
                </a:solidFill>
                <a:latin typeface="Aptos"/>
              </a:defRPr>
            </a:pPr>
            <a:r>
              <a:rPr dirty="0">
                <a:solidFill>
                  <a:schemeClr val="bg1"/>
                </a:solidFill>
              </a:rPr>
              <a:t>≈43%</a:t>
            </a:r>
          </a:p>
        </p:txBody>
      </p:sp>
      <p:sp>
        <p:nvSpPr>
          <p:cNvPr id="14" name="TextBox 13"/>
          <p:cNvSpPr txBox="1"/>
          <p:nvPr/>
        </p:nvSpPr>
        <p:spPr>
          <a:xfrm>
            <a:off x="4617720" y="4233672"/>
            <a:ext cx="3017520" cy="253916"/>
          </a:xfrm>
          <a:prstGeom prst="rect">
            <a:avLst/>
          </a:prstGeom>
          <a:noFill/>
        </p:spPr>
        <p:txBody>
          <a:bodyPr wrap="square">
            <a:spAutoFit/>
          </a:bodyPr>
          <a:lstStyle/>
          <a:p>
            <a:pPr algn="l">
              <a:defRPr sz="1050" b="0">
                <a:solidFill>
                  <a:srgbClr val="69717A"/>
                </a:solidFill>
                <a:latin typeface="Aptos"/>
              </a:defRPr>
            </a:pPr>
            <a:r>
              <a:rPr dirty="0">
                <a:solidFill>
                  <a:schemeClr val="bg1"/>
                </a:solidFill>
              </a:rPr>
              <a:t>Relative improvement</a:t>
            </a:r>
          </a:p>
        </p:txBody>
      </p:sp>
      <p:sp>
        <p:nvSpPr>
          <p:cNvPr id="15" name="Rounded Rectangle 14"/>
          <p:cNvSpPr/>
          <p:nvPr/>
        </p:nvSpPr>
        <p:spPr>
          <a:xfrm>
            <a:off x="8138160" y="3246120"/>
            <a:ext cx="3337560" cy="1234440"/>
          </a:xfrm>
          <a:prstGeom prst="roundRect">
            <a:avLst/>
          </a:prstGeom>
          <a:solidFill>
            <a:srgbClr val="29455E"/>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3246120"/>
            <a:ext cx="64008" cy="1234440"/>
          </a:xfrm>
          <a:prstGeom prst="rect">
            <a:avLst/>
          </a:prstGeom>
          <a:solidFill>
            <a:srgbClr val="E19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3401568"/>
            <a:ext cx="3017520" cy="253916"/>
          </a:xfrm>
          <a:prstGeom prst="rect">
            <a:avLst/>
          </a:prstGeom>
          <a:noFill/>
        </p:spPr>
        <p:txBody>
          <a:bodyPr wrap="square">
            <a:spAutoFit/>
          </a:bodyPr>
          <a:lstStyle/>
          <a:p>
            <a:pPr algn="l">
              <a:defRPr sz="1050" b="1">
                <a:solidFill>
                  <a:srgbClr val="69717A"/>
                </a:solidFill>
                <a:latin typeface="Aptos"/>
              </a:defRPr>
            </a:pPr>
            <a:r>
              <a:rPr dirty="0">
                <a:solidFill>
                  <a:schemeClr val="bg1"/>
                </a:solidFill>
              </a:rPr>
              <a:t>BEST HOURLY RATE</a:t>
            </a:r>
          </a:p>
        </p:txBody>
      </p:sp>
      <p:sp>
        <p:nvSpPr>
          <p:cNvPr id="18" name="TextBox 17"/>
          <p:cNvSpPr txBox="1"/>
          <p:nvPr/>
        </p:nvSpPr>
        <p:spPr>
          <a:xfrm>
            <a:off x="8321040" y="3749039"/>
            <a:ext cx="3017520" cy="430887"/>
          </a:xfrm>
          <a:prstGeom prst="rect">
            <a:avLst/>
          </a:prstGeom>
          <a:noFill/>
        </p:spPr>
        <p:txBody>
          <a:bodyPr wrap="square">
            <a:spAutoFit/>
          </a:bodyPr>
          <a:lstStyle/>
          <a:p>
            <a:pPr algn="l">
              <a:defRPr sz="2200" b="1">
                <a:solidFill>
                  <a:srgbClr val="1F3448"/>
                </a:solidFill>
                <a:latin typeface="Aptos"/>
              </a:defRPr>
            </a:pPr>
            <a:r>
              <a:rPr dirty="0">
                <a:solidFill>
                  <a:schemeClr val="bg1"/>
                </a:solidFill>
              </a:rPr>
              <a:t>≈3.1% at 16h</a:t>
            </a:r>
          </a:p>
        </p:txBody>
      </p:sp>
      <p:sp>
        <p:nvSpPr>
          <p:cNvPr id="19" name="TextBox 18"/>
          <p:cNvSpPr txBox="1"/>
          <p:nvPr/>
        </p:nvSpPr>
        <p:spPr>
          <a:xfrm>
            <a:off x="8321040" y="4233672"/>
            <a:ext cx="3017520" cy="253916"/>
          </a:xfrm>
          <a:prstGeom prst="rect">
            <a:avLst/>
          </a:prstGeom>
          <a:noFill/>
        </p:spPr>
        <p:txBody>
          <a:bodyPr wrap="square">
            <a:spAutoFit/>
          </a:bodyPr>
          <a:lstStyle/>
          <a:p>
            <a:pPr algn="l">
              <a:defRPr sz="1050" b="0">
                <a:solidFill>
                  <a:srgbClr val="69717A"/>
                </a:solidFill>
                <a:latin typeface="Aptos"/>
              </a:defRPr>
            </a:pPr>
            <a:r>
              <a:rPr dirty="0">
                <a:solidFill>
                  <a:schemeClr val="bg1"/>
                </a:solidFill>
              </a:rPr>
              <a:t>Observed hourly peak</a:t>
            </a:r>
          </a:p>
        </p:txBody>
      </p:sp>
      <p:sp>
        <p:nvSpPr>
          <p:cNvPr id="20" name="TextBox 19"/>
          <p:cNvSpPr txBox="1"/>
          <p:nvPr/>
        </p:nvSpPr>
        <p:spPr>
          <a:xfrm>
            <a:off x="749808" y="4983480"/>
            <a:ext cx="10515600" cy="685800"/>
          </a:xfrm>
          <a:prstGeom prst="rect">
            <a:avLst/>
          </a:prstGeom>
          <a:noFill/>
        </p:spPr>
        <p:txBody>
          <a:bodyPr wrap="square">
            <a:spAutoFit/>
          </a:bodyPr>
          <a:lstStyle/>
          <a:p>
            <a:pPr algn="l">
              <a:defRPr sz="1500" b="1">
                <a:solidFill>
                  <a:srgbClr val="CDDCE8"/>
                </a:solidFill>
                <a:latin typeface="Aptos"/>
              </a:defRPr>
            </a:pPr>
            <a:r>
              <a:t>Next step: validate statistical significance and sample-size robustness, then use the findings to design the next A/B test.</a:t>
            </a:r>
          </a:p>
        </p:txBody>
      </p:sp>
      <p:sp>
        <p:nvSpPr>
          <p:cNvPr id="21" name="Rectangle 20"/>
          <p:cNvSpPr/>
          <p:nvPr/>
        </p:nvSpPr>
        <p:spPr>
          <a:xfrm>
            <a:off x="411480" y="6428232"/>
            <a:ext cx="11338560" cy="10972"/>
          </a:xfrm>
          <a:prstGeom prst="rect">
            <a:avLst/>
          </a:prstGeom>
          <a:solidFill>
            <a:srgbClr val="34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19" y="6473952"/>
            <a:ext cx="11756813" cy="223138"/>
          </a:xfrm>
          <a:prstGeom prst="rect">
            <a:avLst/>
          </a:prstGeom>
          <a:noFill/>
        </p:spPr>
        <p:txBody>
          <a:bodyPr wrap="square">
            <a:spAutoFit/>
          </a:bodyPr>
          <a:lstStyle/>
          <a:p>
            <a:pPr algn="l">
              <a:defRPr sz="850" b="0">
                <a:solidFill>
                  <a:srgbClr val="FFFFFF"/>
                </a:solidFill>
                <a:latin typeface="Aptos"/>
              </a:defRPr>
            </a:pPr>
            <a:r>
              <a:rPr dirty="0"/>
              <a:t>Author: Teresa Mendes Coelho                                                  </a:t>
            </a:r>
            <a:r>
              <a:rPr lang="pt-PT" dirty="0"/>
              <a:t>                                                                                                                                                                                                                                                                                  </a:t>
            </a:r>
            <a:r>
              <a:rPr dirty="0"/>
              <a:t>  </a:t>
            </a:r>
            <a:r>
              <a:rPr dirty="0" err="1"/>
              <a:t>Ironhack</a:t>
            </a:r>
            <a:r>
              <a:rPr dirty="0"/>
              <a:t> bootcamp Data Analytics 2026</a:t>
            </a:r>
          </a:p>
        </p:txBody>
      </p:sp>
      <p:pic>
        <p:nvPicPr>
          <p:cNvPr id="23" name="Picture 22" descr="3e6d4280-1049-4738-ab33-95281aa5f1cd.png"/>
          <p:cNvPicPr>
            <a:picLocks noChangeAspect="1"/>
          </p:cNvPicPr>
          <p:nvPr/>
        </p:nvPicPr>
        <p:blipFill>
          <a:blip r:embed="rId2"/>
          <a:stretch>
            <a:fillRect/>
          </a:stretch>
        </p:blipFill>
        <p:spPr>
          <a:xfrm>
            <a:off x="11391138" y="6473952"/>
            <a:ext cx="253746" cy="2743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1301</Words>
  <Application>Microsoft Office PowerPoint</Application>
  <PresentationFormat>Ecrã Panorâmico</PresentationFormat>
  <Paragraphs>245</Paragraphs>
  <Slides>15</Slides>
  <Notes>1</Notes>
  <HiddenSlides>0</HiddenSlides>
  <MMClips>0</MMClips>
  <ScaleCrop>false</ScaleCrop>
  <HeadingPairs>
    <vt:vector size="6" baseType="variant">
      <vt:variant>
        <vt:lpstr>Tipos de letra usados</vt:lpstr>
      </vt:variant>
      <vt:variant>
        <vt:i4>3</vt:i4>
      </vt:variant>
      <vt:variant>
        <vt:lpstr>Tema</vt:lpstr>
      </vt:variant>
      <vt:variant>
        <vt:i4>1</vt:i4>
      </vt:variant>
      <vt:variant>
        <vt:lpstr>Títulos dos diapositivos</vt:lpstr>
      </vt:variant>
      <vt:variant>
        <vt:i4>15</vt:i4>
      </vt:variant>
    </vt:vector>
  </HeadingPairs>
  <TitlesOfParts>
    <vt:vector size="19" baseType="lpstr">
      <vt:lpstr>Aptos</vt:lpstr>
      <vt:lpstr>Arial</vt:lpstr>
      <vt:lpstr>Calibri</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Teresa Mendes Coelho</dc:creator>
  <cp:keywords/>
  <dc:description>generated using python-pptx</dc:description>
  <cp:lastModifiedBy>Teresa Mendes Coelho</cp:lastModifiedBy>
  <cp:revision>2</cp:revision>
  <dcterms:created xsi:type="dcterms:W3CDTF">2013-01-27T09:14:16Z</dcterms:created>
  <dcterms:modified xsi:type="dcterms:W3CDTF">2026-08-21T16:01:59Z</dcterms:modified>
  <cp:category/>
</cp:coreProperties>
</file>